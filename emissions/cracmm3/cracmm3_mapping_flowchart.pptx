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57" r:id="rId2"/>
    <p:sldId id="262" r:id="rId3"/>
    <p:sldId id="261" r:id="rId4"/>
    <p:sldId id="260" r:id="rId5"/>
    <p:sldId id="259" r:id="rId6"/>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04" autoAdjust="0"/>
    <p:restoredTop sz="95909" autoAdjust="0"/>
  </p:normalViewPr>
  <p:slideViewPr>
    <p:cSldViewPr snapToGrid="0">
      <p:cViewPr varScale="1">
        <p:scale>
          <a:sx n="103" d="100"/>
          <a:sy n="103" d="100"/>
        </p:scale>
        <p:origin x="190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ye, Havala" userId="9f81b1e5-bd31-4f40-9666-9c20bcecc960" providerId="ADAL" clId="{7A832CE9-27DF-4B19-888A-571C8A750C2B}"/>
    <pc:docChg chg="undo custSel modSld">
      <pc:chgData name="Pye, Havala" userId="9f81b1e5-bd31-4f40-9666-9c20bcecc960" providerId="ADAL" clId="{7A832CE9-27DF-4B19-888A-571C8A750C2B}" dt="2026-06-08T19:22:19.961" v="829" actId="20577"/>
      <pc:docMkLst>
        <pc:docMk/>
      </pc:docMkLst>
      <pc:sldChg chg="modSp mod">
        <pc:chgData name="Pye, Havala" userId="9f81b1e5-bd31-4f40-9666-9c20bcecc960" providerId="ADAL" clId="{7A832CE9-27DF-4B19-888A-571C8A750C2B}" dt="2026-06-08T19:22:19.961" v="829" actId="20577"/>
        <pc:sldMkLst>
          <pc:docMk/>
          <pc:sldMk cId="3878932210" sldId="257"/>
        </pc:sldMkLst>
        <pc:spChg chg="mod">
          <ac:chgData name="Pye, Havala" userId="9f81b1e5-bd31-4f40-9666-9c20bcecc960" providerId="ADAL" clId="{7A832CE9-27DF-4B19-888A-571C8A750C2B}" dt="2026-06-08T18:23:27.280" v="7" actId="20577"/>
          <ac:spMkLst>
            <pc:docMk/>
            <pc:sldMk cId="3878932210" sldId="257"/>
            <ac:spMk id="2" creationId="{1E7BE3CC-8050-479F-9182-D706A236E89F}"/>
          </ac:spMkLst>
        </pc:spChg>
        <pc:spChg chg="mod">
          <ac:chgData name="Pye, Havala" userId="9f81b1e5-bd31-4f40-9666-9c20bcecc960" providerId="ADAL" clId="{7A832CE9-27DF-4B19-888A-571C8A750C2B}" dt="2026-06-08T18:59:51.327" v="190" actId="13926"/>
          <ac:spMkLst>
            <pc:docMk/>
            <pc:sldMk cId="3878932210" sldId="257"/>
            <ac:spMk id="6" creationId="{F9FE6041-6FA8-4DAB-8021-2875BF3BDA83}"/>
          </ac:spMkLst>
        </pc:spChg>
        <pc:spChg chg="mod">
          <ac:chgData name="Pye, Havala" userId="9f81b1e5-bd31-4f40-9666-9c20bcecc960" providerId="ADAL" clId="{7A832CE9-27DF-4B19-888A-571C8A750C2B}" dt="2026-06-08T18:23:54.810" v="12" actId="13926"/>
          <ac:spMkLst>
            <pc:docMk/>
            <pc:sldMk cId="3878932210" sldId="257"/>
            <ac:spMk id="9" creationId="{CBB361B8-0B0F-918B-1BD4-07774491D1E7}"/>
          </ac:spMkLst>
        </pc:spChg>
        <pc:spChg chg="mod">
          <ac:chgData name="Pye, Havala" userId="9f81b1e5-bd31-4f40-9666-9c20bcecc960" providerId="ADAL" clId="{7A832CE9-27DF-4B19-888A-571C8A750C2B}" dt="2026-06-08T19:03:10.959" v="363" actId="13926"/>
          <ac:spMkLst>
            <pc:docMk/>
            <pc:sldMk cId="3878932210" sldId="257"/>
            <ac:spMk id="12" creationId="{B134A385-0077-4E09-AC14-F79C9371AE13}"/>
          </ac:spMkLst>
        </pc:spChg>
        <pc:spChg chg="mod">
          <ac:chgData name="Pye, Havala" userId="9f81b1e5-bd31-4f40-9666-9c20bcecc960" providerId="ADAL" clId="{7A832CE9-27DF-4B19-888A-571C8A750C2B}" dt="2026-06-08T19:03:21.765" v="376" actId="1036"/>
          <ac:spMkLst>
            <pc:docMk/>
            <pc:sldMk cId="3878932210" sldId="257"/>
            <ac:spMk id="31" creationId="{96D1F944-1D86-EA56-79F1-5A066E59FE44}"/>
          </ac:spMkLst>
        </pc:spChg>
        <pc:spChg chg="mod">
          <ac:chgData name="Pye, Havala" userId="9f81b1e5-bd31-4f40-9666-9c20bcecc960" providerId="ADAL" clId="{7A832CE9-27DF-4B19-888A-571C8A750C2B}" dt="2026-06-08T19:22:19.961" v="829" actId="20577"/>
          <ac:spMkLst>
            <pc:docMk/>
            <pc:sldMk cId="3878932210" sldId="257"/>
            <ac:spMk id="36" creationId="{E7A28258-D196-3BB9-DE97-1C352065C580}"/>
          </ac:spMkLst>
        </pc:spChg>
        <pc:spChg chg="mod">
          <ac:chgData name="Pye, Havala" userId="9f81b1e5-bd31-4f40-9666-9c20bcecc960" providerId="ADAL" clId="{7A832CE9-27DF-4B19-888A-571C8A750C2B}" dt="2026-06-08T19:03:21.765" v="376" actId="1036"/>
          <ac:spMkLst>
            <pc:docMk/>
            <pc:sldMk cId="3878932210" sldId="257"/>
            <ac:spMk id="65" creationId="{B6CADC06-D83A-4F4C-8B8C-93BEDF8E81F0}"/>
          </ac:spMkLst>
        </pc:spChg>
        <pc:spChg chg="mod">
          <ac:chgData name="Pye, Havala" userId="9f81b1e5-bd31-4f40-9666-9c20bcecc960" providerId="ADAL" clId="{7A832CE9-27DF-4B19-888A-571C8A750C2B}" dt="2026-06-08T19:03:21.765" v="376" actId="1036"/>
          <ac:spMkLst>
            <pc:docMk/>
            <pc:sldMk cId="3878932210" sldId="257"/>
            <ac:spMk id="69" creationId="{9082DD5F-B1A0-4992-A3FE-20E3F35470A6}"/>
          </ac:spMkLst>
        </pc:spChg>
        <pc:spChg chg="mod">
          <ac:chgData name="Pye, Havala" userId="9f81b1e5-bd31-4f40-9666-9c20bcecc960" providerId="ADAL" clId="{7A832CE9-27DF-4B19-888A-571C8A750C2B}" dt="2026-06-08T18:23:34.300" v="8" actId="13926"/>
          <ac:spMkLst>
            <pc:docMk/>
            <pc:sldMk cId="3878932210" sldId="257"/>
            <ac:spMk id="76" creationId="{4DBBE78B-4BE3-462A-85F0-3FBF360C0F41}"/>
          </ac:spMkLst>
        </pc:spChg>
        <pc:spChg chg="mod">
          <ac:chgData name="Pye, Havala" userId="9f81b1e5-bd31-4f40-9666-9c20bcecc960" providerId="ADAL" clId="{7A832CE9-27DF-4B19-888A-571C8A750C2B}" dt="2026-06-08T19:03:21.765" v="376" actId="1036"/>
          <ac:spMkLst>
            <pc:docMk/>
            <pc:sldMk cId="3878932210" sldId="257"/>
            <ac:spMk id="84" creationId="{5BA76B4C-22C2-4C47-BB51-EEF528DF3EE2}"/>
          </ac:spMkLst>
        </pc:spChg>
        <pc:spChg chg="mod">
          <ac:chgData name="Pye, Havala" userId="9f81b1e5-bd31-4f40-9666-9c20bcecc960" providerId="ADAL" clId="{7A832CE9-27DF-4B19-888A-571C8A750C2B}" dt="2026-06-08T19:03:21.765" v="376" actId="1036"/>
          <ac:spMkLst>
            <pc:docMk/>
            <pc:sldMk cId="3878932210" sldId="257"/>
            <ac:spMk id="96" creationId="{B6F0A292-28C3-462D-9B36-84C162AFF9D6}"/>
          </ac:spMkLst>
        </pc:spChg>
        <pc:spChg chg="mod">
          <ac:chgData name="Pye, Havala" userId="9f81b1e5-bd31-4f40-9666-9c20bcecc960" providerId="ADAL" clId="{7A832CE9-27DF-4B19-888A-571C8A750C2B}" dt="2026-06-08T19:03:21.765" v="376" actId="1036"/>
          <ac:spMkLst>
            <pc:docMk/>
            <pc:sldMk cId="3878932210" sldId="257"/>
            <ac:spMk id="113" creationId="{2608C22F-D1E4-4DA3-9ABB-F13F65EFB657}"/>
          </ac:spMkLst>
        </pc:spChg>
        <pc:spChg chg="mod">
          <ac:chgData name="Pye, Havala" userId="9f81b1e5-bd31-4f40-9666-9c20bcecc960" providerId="ADAL" clId="{7A832CE9-27DF-4B19-888A-571C8A750C2B}" dt="2026-06-08T19:03:21.765" v="376" actId="1036"/>
          <ac:spMkLst>
            <pc:docMk/>
            <pc:sldMk cId="3878932210" sldId="257"/>
            <ac:spMk id="157" creationId="{86838DB4-EA93-499F-8EDF-62AD01890351}"/>
          </ac:spMkLst>
        </pc:spChg>
        <pc:cxnChg chg="mod">
          <ac:chgData name="Pye, Havala" userId="9f81b1e5-bd31-4f40-9666-9c20bcecc960" providerId="ADAL" clId="{7A832CE9-27DF-4B19-888A-571C8A750C2B}" dt="2026-06-08T18:59:39.291" v="173" actId="20577"/>
          <ac:cxnSpMkLst>
            <pc:docMk/>
            <pc:sldMk cId="3878932210" sldId="257"/>
            <ac:cxnSpMk id="5" creationId="{A590FECD-E1E4-4E6D-AFB1-58DEB0EF07D1}"/>
          </ac:cxnSpMkLst>
        </pc:cxnChg>
        <pc:cxnChg chg="mod">
          <ac:chgData name="Pye, Havala" userId="9f81b1e5-bd31-4f40-9666-9c20bcecc960" providerId="ADAL" clId="{7A832CE9-27DF-4B19-888A-571C8A750C2B}" dt="2026-06-08T19:02:51.588" v="330" actId="20577"/>
          <ac:cxnSpMkLst>
            <pc:docMk/>
            <pc:sldMk cId="3878932210" sldId="257"/>
            <ac:cxnSpMk id="8" creationId="{A1D87280-F935-4241-A232-6A6E7CA6E0A9}"/>
          </ac:cxnSpMkLst>
        </pc:cxnChg>
        <pc:cxnChg chg="mod">
          <ac:chgData name="Pye, Havala" userId="9f81b1e5-bd31-4f40-9666-9c20bcecc960" providerId="ADAL" clId="{7A832CE9-27DF-4B19-888A-571C8A750C2B}" dt="2026-06-08T19:03:26.430" v="377" actId="14100"/>
          <ac:cxnSpMkLst>
            <pc:docMk/>
            <pc:sldMk cId="3878932210" sldId="257"/>
            <ac:cxnSpMk id="29" creationId="{FB5CB99F-4479-1D54-1617-1771F4D92F2A}"/>
          </ac:cxnSpMkLst>
        </pc:cxnChg>
        <pc:cxnChg chg="mod">
          <ac:chgData name="Pye, Havala" userId="9f81b1e5-bd31-4f40-9666-9c20bcecc960" providerId="ADAL" clId="{7A832CE9-27DF-4B19-888A-571C8A750C2B}" dt="2026-06-08T19:03:21.765" v="376" actId="1036"/>
          <ac:cxnSpMkLst>
            <pc:docMk/>
            <pc:sldMk cId="3878932210" sldId="257"/>
            <ac:cxnSpMk id="63" creationId="{DDD3018D-F8BD-4265-87DD-CE3982476112}"/>
          </ac:cxnSpMkLst>
        </pc:cxnChg>
        <pc:cxnChg chg="mod">
          <ac:chgData name="Pye, Havala" userId="9f81b1e5-bd31-4f40-9666-9c20bcecc960" providerId="ADAL" clId="{7A832CE9-27DF-4B19-888A-571C8A750C2B}" dt="2026-06-08T19:03:21.765" v="376" actId="1036"/>
          <ac:cxnSpMkLst>
            <pc:docMk/>
            <pc:sldMk cId="3878932210" sldId="257"/>
            <ac:cxnSpMk id="105" creationId="{44F6E2BC-0265-4FEE-9E59-0D9F330C6A88}"/>
          </ac:cxnSpMkLst>
        </pc:cxnChg>
        <pc:cxnChg chg="mod">
          <ac:chgData name="Pye, Havala" userId="9f81b1e5-bd31-4f40-9666-9c20bcecc960" providerId="ADAL" clId="{7A832CE9-27DF-4B19-888A-571C8A750C2B}" dt="2026-06-08T19:03:21.765" v="376" actId="1036"/>
          <ac:cxnSpMkLst>
            <pc:docMk/>
            <pc:sldMk cId="3878932210" sldId="257"/>
            <ac:cxnSpMk id="160" creationId="{C4ADCC97-07B4-4C5A-832C-28494B17D8F9}"/>
          </ac:cxnSpMkLst>
        </pc:cxnChg>
      </pc:sldChg>
      <pc:sldChg chg="addSp delSp modSp mod">
        <pc:chgData name="Pye, Havala" userId="9f81b1e5-bd31-4f40-9666-9c20bcecc960" providerId="ADAL" clId="{7A832CE9-27DF-4B19-888A-571C8A750C2B}" dt="2026-06-08T19:21:56.312" v="777" actId="20577"/>
        <pc:sldMkLst>
          <pc:docMk/>
          <pc:sldMk cId="3929639108" sldId="259"/>
        </pc:sldMkLst>
        <pc:spChg chg="add mod">
          <ac:chgData name="Pye, Havala" userId="9f81b1e5-bd31-4f40-9666-9c20bcecc960" providerId="ADAL" clId="{7A832CE9-27DF-4B19-888A-571C8A750C2B}" dt="2026-06-08T18:24:21.094" v="20"/>
          <ac:spMkLst>
            <pc:docMk/>
            <pc:sldMk cId="3929639108" sldId="259"/>
            <ac:spMk id="4" creationId="{A2AFAF96-D961-1AE7-CEDC-E6471DD7BBEF}"/>
          </ac:spMkLst>
        </pc:spChg>
        <pc:spChg chg="mod">
          <ac:chgData name="Pye, Havala" userId="9f81b1e5-bd31-4f40-9666-9c20bcecc960" providerId="ADAL" clId="{7A832CE9-27DF-4B19-888A-571C8A750C2B}" dt="2026-06-08T19:21:56.312" v="777" actId="20577"/>
          <ac:spMkLst>
            <pc:docMk/>
            <pc:sldMk cId="3929639108" sldId="259"/>
            <ac:spMk id="43" creationId="{549DF499-EE0A-443A-8F4D-654BDCFA1EA5}"/>
          </ac:spMkLst>
        </pc:spChg>
        <pc:spChg chg="del">
          <ac:chgData name="Pye, Havala" userId="9f81b1e5-bd31-4f40-9666-9c20bcecc960" providerId="ADAL" clId="{7A832CE9-27DF-4B19-888A-571C8A750C2B}" dt="2026-06-08T18:24:12.082" v="16" actId="478"/>
          <ac:spMkLst>
            <pc:docMk/>
            <pc:sldMk cId="3929639108" sldId="259"/>
            <ac:spMk id="100" creationId="{1BED40C8-59D8-4840-BFD9-BC5B19AEB693}"/>
          </ac:spMkLst>
        </pc:spChg>
      </pc:sldChg>
      <pc:sldChg chg="addSp delSp modSp mod">
        <pc:chgData name="Pye, Havala" userId="9f81b1e5-bd31-4f40-9666-9c20bcecc960" providerId="ADAL" clId="{7A832CE9-27DF-4B19-888A-571C8A750C2B}" dt="2026-06-08T19:14:15.613" v="590" actId="13926"/>
        <pc:sldMkLst>
          <pc:docMk/>
          <pc:sldMk cId="2899913161" sldId="260"/>
        </pc:sldMkLst>
        <pc:spChg chg="mod">
          <ac:chgData name="Pye, Havala" userId="9f81b1e5-bd31-4f40-9666-9c20bcecc960" providerId="ADAL" clId="{7A832CE9-27DF-4B19-888A-571C8A750C2B}" dt="2026-06-08T18:27:35.691" v="147" actId="1036"/>
          <ac:spMkLst>
            <pc:docMk/>
            <pc:sldMk cId="2899913161" sldId="260"/>
            <ac:spMk id="2" creationId="{BA733315-A211-4535-9A96-9B7DDBCC3808}"/>
          </ac:spMkLst>
        </pc:spChg>
        <pc:spChg chg="add mod">
          <ac:chgData name="Pye, Havala" userId="9f81b1e5-bd31-4f40-9666-9c20bcecc960" providerId="ADAL" clId="{7A832CE9-27DF-4B19-888A-571C8A750C2B}" dt="2026-06-08T18:24:20.291" v="19"/>
          <ac:spMkLst>
            <pc:docMk/>
            <pc:sldMk cId="2899913161" sldId="260"/>
            <ac:spMk id="4" creationId="{43C0B034-143A-F3E7-B139-1EA286CE1874}"/>
          </ac:spMkLst>
        </pc:spChg>
        <pc:spChg chg="del">
          <ac:chgData name="Pye, Havala" userId="9f81b1e5-bd31-4f40-9666-9c20bcecc960" providerId="ADAL" clId="{7A832CE9-27DF-4B19-888A-571C8A750C2B}" dt="2026-06-08T18:24:07.936" v="15" actId="478"/>
          <ac:spMkLst>
            <pc:docMk/>
            <pc:sldMk cId="2899913161" sldId="260"/>
            <ac:spMk id="92" creationId="{BA7059F3-997A-4E58-B4F1-77E0B9F16992}"/>
          </ac:spMkLst>
        </pc:spChg>
        <pc:spChg chg="mod">
          <ac:chgData name="Pye, Havala" userId="9f81b1e5-bd31-4f40-9666-9c20bcecc960" providerId="ADAL" clId="{7A832CE9-27DF-4B19-888A-571C8A750C2B}" dt="2026-06-08T18:25:21.768" v="30" actId="13926"/>
          <ac:spMkLst>
            <pc:docMk/>
            <pc:sldMk cId="2899913161" sldId="260"/>
            <ac:spMk id="109" creationId="{BCC03AD1-4189-474D-85FD-ABBB55D15EDD}"/>
          </ac:spMkLst>
        </pc:spChg>
        <pc:spChg chg="mod">
          <ac:chgData name="Pye, Havala" userId="9f81b1e5-bd31-4f40-9666-9c20bcecc960" providerId="ADAL" clId="{7A832CE9-27DF-4B19-888A-571C8A750C2B}" dt="2026-06-08T18:25:18.967" v="29" actId="13926"/>
          <ac:spMkLst>
            <pc:docMk/>
            <pc:sldMk cId="2899913161" sldId="260"/>
            <ac:spMk id="114" creationId="{6D433110-CB8E-471F-94FF-BBBD87A3B472}"/>
          </ac:spMkLst>
        </pc:spChg>
        <pc:spChg chg="mod">
          <ac:chgData name="Pye, Havala" userId="9f81b1e5-bd31-4f40-9666-9c20bcecc960" providerId="ADAL" clId="{7A832CE9-27DF-4B19-888A-571C8A750C2B}" dt="2026-06-08T19:11:12.326" v="487" actId="1036"/>
          <ac:spMkLst>
            <pc:docMk/>
            <pc:sldMk cId="2899913161" sldId="260"/>
            <ac:spMk id="131" creationId="{27629874-E2C9-4A1B-B3C8-23FB549989B9}"/>
          </ac:spMkLst>
        </pc:spChg>
        <pc:spChg chg="mod">
          <ac:chgData name="Pye, Havala" userId="9f81b1e5-bd31-4f40-9666-9c20bcecc960" providerId="ADAL" clId="{7A832CE9-27DF-4B19-888A-571C8A750C2B}" dt="2026-06-08T19:13:24.035" v="558"/>
          <ac:spMkLst>
            <pc:docMk/>
            <pc:sldMk cId="2899913161" sldId="260"/>
            <ac:spMk id="133" creationId="{C770A8A9-87CA-451E-9C07-2439A942CE33}"/>
          </ac:spMkLst>
        </pc:spChg>
        <pc:spChg chg="mod">
          <ac:chgData name="Pye, Havala" userId="9f81b1e5-bd31-4f40-9666-9c20bcecc960" providerId="ADAL" clId="{7A832CE9-27DF-4B19-888A-571C8A750C2B}" dt="2026-06-08T19:11:12.326" v="487" actId="1036"/>
          <ac:spMkLst>
            <pc:docMk/>
            <pc:sldMk cId="2899913161" sldId="260"/>
            <ac:spMk id="134" creationId="{7D050C32-438E-48C1-96BA-A1BB03E1C0D0}"/>
          </ac:spMkLst>
        </pc:spChg>
        <pc:spChg chg="mod">
          <ac:chgData name="Pye, Havala" userId="9f81b1e5-bd31-4f40-9666-9c20bcecc960" providerId="ADAL" clId="{7A832CE9-27DF-4B19-888A-571C8A750C2B}" dt="2026-06-08T19:13:35.518" v="564"/>
          <ac:spMkLst>
            <pc:docMk/>
            <pc:sldMk cId="2899913161" sldId="260"/>
            <ac:spMk id="135" creationId="{5FD0291B-6500-476C-A8A4-5C8A9C9E6CB6}"/>
          </ac:spMkLst>
        </pc:spChg>
        <pc:spChg chg="mod">
          <ac:chgData name="Pye, Havala" userId="9f81b1e5-bd31-4f40-9666-9c20bcecc960" providerId="ADAL" clId="{7A832CE9-27DF-4B19-888A-571C8A750C2B}" dt="2026-06-08T19:13:29.469" v="563" actId="20577"/>
          <ac:spMkLst>
            <pc:docMk/>
            <pc:sldMk cId="2899913161" sldId="260"/>
            <ac:spMk id="139" creationId="{0E458E9C-13C4-41D3-946C-90483527470D}"/>
          </ac:spMkLst>
        </pc:spChg>
        <pc:spChg chg="mod">
          <ac:chgData name="Pye, Havala" userId="9f81b1e5-bd31-4f40-9666-9c20bcecc960" providerId="ADAL" clId="{7A832CE9-27DF-4B19-888A-571C8A750C2B}" dt="2026-06-08T19:11:12.326" v="487" actId="1036"/>
          <ac:spMkLst>
            <pc:docMk/>
            <pc:sldMk cId="2899913161" sldId="260"/>
            <ac:spMk id="142" creationId="{7833B6FC-FA42-431D-B20C-2B10C230213D}"/>
          </ac:spMkLst>
        </pc:spChg>
        <pc:spChg chg="mod">
          <ac:chgData name="Pye, Havala" userId="9f81b1e5-bd31-4f40-9666-9c20bcecc960" providerId="ADAL" clId="{7A832CE9-27DF-4B19-888A-571C8A750C2B}" dt="2026-06-08T19:11:12.326" v="487" actId="1036"/>
          <ac:spMkLst>
            <pc:docMk/>
            <pc:sldMk cId="2899913161" sldId="260"/>
            <ac:spMk id="143" creationId="{3EE84B19-CBE5-48E0-9728-19517185DC91}"/>
          </ac:spMkLst>
        </pc:spChg>
        <pc:spChg chg="mod">
          <ac:chgData name="Pye, Havala" userId="9f81b1e5-bd31-4f40-9666-9c20bcecc960" providerId="ADAL" clId="{7A832CE9-27DF-4B19-888A-571C8A750C2B}" dt="2026-06-08T19:11:12.326" v="487" actId="1036"/>
          <ac:spMkLst>
            <pc:docMk/>
            <pc:sldMk cId="2899913161" sldId="260"/>
            <ac:spMk id="144" creationId="{439B4FE2-FBA4-4640-BCC0-0A605F64CD4F}"/>
          </ac:spMkLst>
        </pc:spChg>
        <pc:spChg chg="mod">
          <ac:chgData name="Pye, Havala" userId="9f81b1e5-bd31-4f40-9666-9c20bcecc960" providerId="ADAL" clId="{7A832CE9-27DF-4B19-888A-571C8A750C2B}" dt="2026-06-08T18:26:55.285" v="101" actId="1076"/>
          <ac:spMkLst>
            <pc:docMk/>
            <pc:sldMk cId="2899913161" sldId="260"/>
            <ac:spMk id="145" creationId="{D732291D-34CB-4F4B-B7EF-3B13F33B1ED5}"/>
          </ac:spMkLst>
        </pc:spChg>
        <pc:spChg chg="mod">
          <ac:chgData name="Pye, Havala" userId="9f81b1e5-bd31-4f40-9666-9c20bcecc960" providerId="ADAL" clId="{7A832CE9-27DF-4B19-888A-571C8A750C2B}" dt="2026-06-08T19:11:12.326" v="487" actId="1036"/>
          <ac:spMkLst>
            <pc:docMk/>
            <pc:sldMk cId="2899913161" sldId="260"/>
            <ac:spMk id="146" creationId="{169604FE-6652-482C-8C21-31F035F64D35}"/>
          </ac:spMkLst>
        </pc:spChg>
        <pc:spChg chg="mod">
          <ac:chgData name="Pye, Havala" userId="9f81b1e5-bd31-4f40-9666-9c20bcecc960" providerId="ADAL" clId="{7A832CE9-27DF-4B19-888A-571C8A750C2B}" dt="2026-06-08T19:11:12.326" v="487" actId="1036"/>
          <ac:spMkLst>
            <pc:docMk/>
            <pc:sldMk cId="2899913161" sldId="260"/>
            <ac:spMk id="147" creationId="{D1FF55DC-12C7-4601-8510-54DA336AB880}"/>
          </ac:spMkLst>
        </pc:spChg>
        <pc:spChg chg="mod">
          <ac:chgData name="Pye, Havala" userId="9f81b1e5-bd31-4f40-9666-9c20bcecc960" providerId="ADAL" clId="{7A832CE9-27DF-4B19-888A-571C8A750C2B}" dt="2026-06-08T19:13:17.030" v="557" actId="13926"/>
          <ac:spMkLst>
            <pc:docMk/>
            <pc:sldMk cId="2899913161" sldId="260"/>
            <ac:spMk id="149" creationId="{F86D17AF-CEC4-4B36-A7D6-0F4DE24299E0}"/>
          </ac:spMkLst>
        </pc:spChg>
        <pc:spChg chg="mod">
          <ac:chgData name="Pye, Havala" userId="9f81b1e5-bd31-4f40-9666-9c20bcecc960" providerId="ADAL" clId="{7A832CE9-27DF-4B19-888A-571C8A750C2B}" dt="2026-06-08T19:11:46.612" v="491" actId="13926"/>
          <ac:spMkLst>
            <pc:docMk/>
            <pc:sldMk cId="2899913161" sldId="260"/>
            <ac:spMk id="173" creationId="{87490ACC-B1E5-4F88-A7B3-23BA463B67FB}"/>
          </ac:spMkLst>
        </pc:spChg>
        <pc:spChg chg="mod">
          <ac:chgData name="Pye, Havala" userId="9f81b1e5-bd31-4f40-9666-9c20bcecc960" providerId="ADAL" clId="{7A832CE9-27DF-4B19-888A-571C8A750C2B}" dt="2026-06-08T19:14:15.613" v="590" actId="13926"/>
          <ac:spMkLst>
            <pc:docMk/>
            <pc:sldMk cId="2899913161" sldId="260"/>
            <ac:spMk id="175" creationId="{B5C2D4FA-DCED-40C0-A30C-09F4B2DB275C}"/>
          </ac:spMkLst>
        </pc:spChg>
        <pc:spChg chg="mod">
          <ac:chgData name="Pye, Havala" userId="9f81b1e5-bd31-4f40-9666-9c20bcecc960" providerId="ADAL" clId="{7A832CE9-27DF-4B19-888A-571C8A750C2B}" dt="2026-06-08T19:11:12.326" v="487" actId="1036"/>
          <ac:spMkLst>
            <pc:docMk/>
            <pc:sldMk cId="2899913161" sldId="260"/>
            <ac:spMk id="182" creationId="{4C12A53F-3A6B-49C7-B660-8D2AEF2BF555}"/>
          </ac:spMkLst>
        </pc:spChg>
        <pc:cxnChg chg="mod">
          <ac:chgData name="Pye, Havala" userId="9f81b1e5-bd31-4f40-9666-9c20bcecc960" providerId="ADAL" clId="{7A832CE9-27DF-4B19-888A-571C8A750C2B}" dt="2026-06-08T19:12:15.776" v="495" actId="1035"/>
          <ac:cxnSpMkLst>
            <pc:docMk/>
            <pc:sldMk cId="2899913161" sldId="260"/>
            <ac:cxnSpMk id="132" creationId="{652A9D8D-C115-46CE-BB8F-E8C5A7AB1BBC}"/>
          </ac:cxnSpMkLst>
        </pc:cxnChg>
        <pc:cxnChg chg="mod">
          <ac:chgData name="Pye, Havala" userId="9f81b1e5-bd31-4f40-9666-9c20bcecc960" providerId="ADAL" clId="{7A832CE9-27DF-4B19-888A-571C8A750C2B}" dt="2026-06-08T19:12:15.776" v="495" actId="1035"/>
          <ac:cxnSpMkLst>
            <pc:docMk/>
            <pc:sldMk cId="2899913161" sldId="260"/>
            <ac:cxnSpMk id="137" creationId="{D37AE450-4CB0-430F-8D99-A99A9D87D5F1}"/>
          </ac:cxnSpMkLst>
        </pc:cxnChg>
        <pc:cxnChg chg="mod">
          <ac:chgData name="Pye, Havala" userId="9f81b1e5-bd31-4f40-9666-9c20bcecc960" providerId="ADAL" clId="{7A832CE9-27DF-4B19-888A-571C8A750C2B}" dt="2026-06-08T19:12:15.776" v="495" actId="1035"/>
          <ac:cxnSpMkLst>
            <pc:docMk/>
            <pc:sldMk cId="2899913161" sldId="260"/>
            <ac:cxnSpMk id="138" creationId="{D3079F62-EDF8-4C86-94D2-ECD16780F007}"/>
          </ac:cxnSpMkLst>
        </pc:cxnChg>
        <pc:cxnChg chg="mod">
          <ac:chgData name="Pye, Havala" userId="9f81b1e5-bd31-4f40-9666-9c20bcecc960" providerId="ADAL" clId="{7A832CE9-27DF-4B19-888A-571C8A750C2B}" dt="2026-06-08T19:12:15.776" v="495" actId="1035"/>
          <ac:cxnSpMkLst>
            <pc:docMk/>
            <pc:sldMk cId="2899913161" sldId="260"/>
            <ac:cxnSpMk id="148" creationId="{C17495B2-6D91-4FB7-B05F-497E94A0FA8B}"/>
          </ac:cxnSpMkLst>
        </pc:cxnChg>
        <pc:cxnChg chg="mod">
          <ac:chgData name="Pye, Havala" userId="9f81b1e5-bd31-4f40-9666-9c20bcecc960" providerId="ADAL" clId="{7A832CE9-27DF-4B19-888A-571C8A750C2B}" dt="2026-06-08T19:11:07.749" v="480" actId="1035"/>
          <ac:cxnSpMkLst>
            <pc:docMk/>
            <pc:sldMk cId="2899913161" sldId="260"/>
            <ac:cxnSpMk id="157" creationId="{EB301070-0359-4663-9444-31AC9A460977}"/>
          </ac:cxnSpMkLst>
        </pc:cxnChg>
        <pc:cxnChg chg="mod">
          <ac:chgData name="Pye, Havala" userId="9f81b1e5-bd31-4f40-9666-9c20bcecc960" providerId="ADAL" clId="{7A832CE9-27DF-4B19-888A-571C8A750C2B}" dt="2026-06-08T19:11:07.749" v="480" actId="1035"/>
          <ac:cxnSpMkLst>
            <pc:docMk/>
            <pc:sldMk cId="2899913161" sldId="260"/>
            <ac:cxnSpMk id="174" creationId="{2B8021E5-65B9-4892-AFCD-A3ECB6336494}"/>
          </ac:cxnSpMkLst>
        </pc:cxnChg>
        <pc:cxnChg chg="mod">
          <ac:chgData name="Pye, Havala" userId="9f81b1e5-bd31-4f40-9666-9c20bcecc960" providerId="ADAL" clId="{7A832CE9-27DF-4B19-888A-571C8A750C2B}" dt="2026-06-08T19:11:35.234" v="490" actId="14100"/>
          <ac:cxnSpMkLst>
            <pc:docMk/>
            <pc:sldMk cId="2899913161" sldId="260"/>
            <ac:cxnSpMk id="180" creationId="{53F9CF24-A850-406E-AED3-4382BD3751F2}"/>
          </ac:cxnSpMkLst>
        </pc:cxnChg>
      </pc:sldChg>
      <pc:sldChg chg="addSp delSp modSp mod">
        <pc:chgData name="Pye, Havala" userId="9f81b1e5-bd31-4f40-9666-9c20bcecc960" providerId="ADAL" clId="{7A832CE9-27DF-4B19-888A-571C8A750C2B}" dt="2026-06-08T19:07:09.774" v="443" actId="14100"/>
        <pc:sldMkLst>
          <pc:docMk/>
          <pc:sldMk cId="1988119278" sldId="261"/>
        </pc:sldMkLst>
        <pc:spChg chg="mod">
          <ac:chgData name="Pye, Havala" userId="9f81b1e5-bd31-4f40-9666-9c20bcecc960" providerId="ADAL" clId="{7A832CE9-27DF-4B19-888A-571C8A750C2B}" dt="2026-06-08T19:05:35.765" v="418" actId="1076"/>
          <ac:spMkLst>
            <pc:docMk/>
            <pc:sldMk cId="1988119278" sldId="261"/>
            <ac:spMk id="7" creationId="{3DB3018A-44EC-475A-ABF4-2901BB50A3DF}"/>
          </ac:spMkLst>
        </pc:spChg>
        <pc:spChg chg="del">
          <ac:chgData name="Pye, Havala" userId="9f81b1e5-bd31-4f40-9666-9c20bcecc960" providerId="ADAL" clId="{7A832CE9-27DF-4B19-888A-571C8A750C2B}" dt="2026-06-08T19:07:00.742" v="440" actId="478"/>
          <ac:spMkLst>
            <pc:docMk/>
            <pc:sldMk cId="1988119278" sldId="261"/>
            <ac:spMk id="10" creationId="{015EF492-BE1C-4073-AB41-376BEA4BF4A2}"/>
          </ac:spMkLst>
        </pc:spChg>
        <pc:spChg chg="del">
          <ac:chgData name="Pye, Havala" userId="9f81b1e5-bd31-4f40-9666-9c20bcecc960" providerId="ADAL" clId="{7A832CE9-27DF-4B19-888A-571C8A750C2B}" dt="2026-06-08T19:06:53.469" v="437" actId="478"/>
          <ac:spMkLst>
            <pc:docMk/>
            <pc:sldMk cId="1988119278" sldId="261"/>
            <ac:spMk id="11" creationId="{0DF8933F-0990-44FD-9E8A-B74AC1A0ECB9}"/>
          </ac:spMkLst>
        </pc:spChg>
        <pc:spChg chg="mod">
          <ac:chgData name="Pye, Havala" userId="9f81b1e5-bd31-4f40-9666-9c20bcecc960" providerId="ADAL" clId="{7A832CE9-27DF-4B19-888A-571C8A750C2B}" dt="2026-06-08T19:06:51.495" v="436" actId="1076"/>
          <ac:spMkLst>
            <pc:docMk/>
            <pc:sldMk cId="1988119278" sldId="261"/>
            <ac:spMk id="18" creationId="{3BC2B58C-74D4-4183-9EF9-EFB44AC6F35D}"/>
          </ac:spMkLst>
        </pc:spChg>
        <pc:spChg chg="add mod">
          <ac:chgData name="Pye, Havala" userId="9f81b1e5-bd31-4f40-9666-9c20bcecc960" providerId="ADAL" clId="{7A832CE9-27DF-4B19-888A-571C8A750C2B}" dt="2026-06-08T18:24:19.415" v="18"/>
          <ac:spMkLst>
            <pc:docMk/>
            <pc:sldMk cId="1988119278" sldId="261"/>
            <ac:spMk id="20" creationId="{D3E6DEAF-6FCA-91EB-D28A-33414020B2CE}"/>
          </ac:spMkLst>
        </pc:spChg>
        <pc:spChg chg="mod">
          <ac:chgData name="Pye, Havala" userId="9f81b1e5-bd31-4f40-9666-9c20bcecc960" providerId="ADAL" clId="{7A832CE9-27DF-4B19-888A-571C8A750C2B}" dt="2026-06-08T18:25:06.889" v="28" actId="13926"/>
          <ac:spMkLst>
            <pc:docMk/>
            <pc:sldMk cId="1988119278" sldId="261"/>
            <ac:spMk id="22" creationId="{8D5854FB-25E5-4E0C-A087-05A97E57790F}"/>
          </ac:spMkLst>
        </pc:spChg>
        <pc:spChg chg="mod">
          <ac:chgData name="Pye, Havala" userId="9f81b1e5-bd31-4f40-9666-9c20bcecc960" providerId="ADAL" clId="{7A832CE9-27DF-4B19-888A-571C8A750C2B}" dt="2026-06-08T18:25:04.072" v="27" actId="13926"/>
          <ac:spMkLst>
            <pc:docMk/>
            <pc:sldMk cId="1988119278" sldId="261"/>
            <ac:spMk id="23" creationId="{6D5DA3E8-49D4-4647-9713-FFFB089DBF0A}"/>
          </ac:spMkLst>
        </pc:spChg>
        <pc:spChg chg="del">
          <ac:chgData name="Pye, Havala" userId="9f81b1e5-bd31-4f40-9666-9c20bcecc960" providerId="ADAL" clId="{7A832CE9-27DF-4B19-888A-571C8A750C2B}" dt="2026-06-08T19:07:04.202" v="441" actId="478"/>
          <ac:spMkLst>
            <pc:docMk/>
            <pc:sldMk cId="1988119278" sldId="261"/>
            <ac:spMk id="38" creationId="{12F1EE56-58CB-49FB-B431-5B648F4004A9}"/>
          </ac:spMkLst>
        </pc:spChg>
        <pc:spChg chg="del">
          <ac:chgData name="Pye, Havala" userId="9f81b1e5-bd31-4f40-9666-9c20bcecc960" providerId="ADAL" clId="{7A832CE9-27DF-4B19-888A-571C8A750C2B}" dt="2026-06-08T19:06:58.473" v="439" actId="478"/>
          <ac:spMkLst>
            <pc:docMk/>
            <pc:sldMk cId="1988119278" sldId="261"/>
            <ac:spMk id="45" creationId="{C8B09F54-5F74-4788-B76E-5D0DB2A61616}"/>
          </ac:spMkLst>
        </pc:spChg>
        <pc:spChg chg="del">
          <ac:chgData name="Pye, Havala" userId="9f81b1e5-bd31-4f40-9666-9c20bcecc960" providerId="ADAL" clId="{7A832CE9-27DF-4B19-888A-571C8A750C2B}" dt="2026-06-08T18:24:05.855" v="14" actId="478"/>
          <ac:spMkLst>
            <pc:docMk/>
            <pc:sldMk cId="1988119278" sldId="261"/>
            <ac:spMk id="53" creationId="{7508A007-969C-4D57-824C-64DDEBD1E300}"/>
          </ac:spMkLst>
        </pc:spChg>
        <pc:spChg chg="mod">
          <ac:chgData name="Pye, Havala" userId="9f81b1e5-bd31-4f40-9666-9c20bcecc960" providerId="ADAL" clId="{7A832CE9-27DF-4B19-888A-571C8A750C2B}" dt="2026-06-08T19:05:11.326" v="415" actId="20577"/>
          <ac:spMkLst>
            <pc:docMk/>
            <pc:sldMk cId="1988119278" sldId="261"/>
            <ac:spMk id="55" creationId="{F0DAB689-89F9-4C66-BD77-F63D6B844A03}"/>
          </ac:spMkLst>
        </pc:spChg>
        <pc:cxnChg chg="mod">
          <ac:chgData name="Pye, Havala" userId="9f81b1e5-bd31-4f40-9666-9c20bcecc960" providerId="ADAL" clId="{7A832CE9-27DF-4B19-888A-571C8A750C2B}" dt="2026-06-08T19:05:35.765" v="418" actId="1076"/>
          <ac:cxnSpMkLst>
            <pc:docMk/>
            <pc:sldMk cId="1988119278" sldId="261"/>
            <ac:cxnSpMk id="8" creationId="{ECE36E6A-EAB5-4544-A540-4BABADFDAC26}"/>
          </ac:cxnSpMkLst>
        </pc:cxnChg>
        <pc:cxnChg chg="mod">
          <ac:chgData name="Pye, Havala" userId="9f81b1e5-bd31-4f40-9666-9c20bcecc960" providerId="ADAL" clId="{7A832CE9-27DF-4B19-888A-571C8A750C2B}" dt="2026-06-08T19:07:09.774" v="443" actId="14100"/>
          <ac:cxnSpMkLst>
            <pc:docMk/>
            <pc:sldMk cId="1988119278" sldId="261"/>
            <ac:cxnSpMk id="12" creationId="{E1C1671E-323C-46A3-89F7-C133A026E6A2}"/>
          </ac:cxnSpMkLst>
        </pc:cxnChg>
        <pc:cxnChg chg="del mod">
          <ac:chgData name="Pye, Havala" userId="9f81b1e5-bd31-4f40-9666-9c20bcecc960" providerId="ADAL" clId="{7A832CE9-27DF-4B19-888A-571C8A750C2B}" dt="2026-06-08T19:06:55.751" v="438" actId="478"/>
          <ac:cxnSpMkLst>
            <pc:docMk/>
            <pc:sldMk cId="1988119278" sldId="261"/>
            <ac:cxnSpMk id="13" creationId="{C8D3B20F-A2BC-4349-9C2C-6195E1077F41}"/>
          </ac:cxnSpMkLst>
        </pc:cxnChg>
        <pc:cxnChg chg="mod">
          <ac:chgData name="Pye, Havala" userId="9f81b1e5-bd31-4f40-9666-9c20bcecc960" providerId="ADAL" clId="{7A832CE9-27DF-4B19-888A-571C8A750C2B}" dt="2026-06-08T19:05:35.765" v="418" actId="1076"/>
          <ac:cxnSpMkLst>
            <pc:docMk/>
            <pc:sldMk cId="1988119278" sldId="261"/>
            <ac:cxnSpMk id="14" creationId="{82BA3C54-4EAB-49AC-A642-D14FBD874A3B}"/>
          </ac:cxnSpMkLst>
        </pc:cxnChg>
        <pc:cxnChg chg="del mod">
          <ac:chgData name="Pye, Havala" userId="9f81b1e5-bd31-4f40-9666-9c20bcecc960" providerId="ADAL" clId="{7A832CE9-27DF-4B19-888A-571C8A750C2B}" dt="2026-06-08T19:07:06.263" v="442" actId="478"/>
          <ac:cxnSpMkLst>
            <pc:docMk/>
            <pc:sldMk cId="1988119278" sldId="261"/>
            <ac:cxnSpMk id="15" creationId="{F1E42C4E-A95E-404E-A727-7D77807DEB2F}"/>
          </ac:cxnSpMkLst>
        </pc:cxnChg>
        <pc:cxnChg chg="mod">
          <ac:chgData name="Pye, Havala" userId="9f81b1e5-bd31-4f40-9666-9c20bcecc960" providerId="ADAL" clId="{7A832CE9-27DF-4B19-888A-571C8A750C2B}" dt="2026-06-08T19:06:51.495" v="436" actId="1076"/>
          <ac:cxnSpMkLst>
            <pc:docMk/>
            <pc:sldMk cId="1988119278" sldId="261"/>
            <ac:cxnSpMk id="16" creationId="{DDF91821-3B95-4E0F-98CC-96B68262FF39}"/>
          </ac:cxnSpMkLst>
        </pc:cxnChg>
        <pc:cxnChg chg="mod">
          <ac:chgData name="Pye, Havala" userId="9f81b1e5-bd31-4f40-9666-9c20bcecc960" providerId="ADAL" clId="{7A832CE9-27DF-4B19-888A-571C8A750C2B}" dt="2026-06-08T19:06:51.495" v="436" actId="1076"/>
          <ac:cxnSpMkLst>
            <pc:docMk/>
            <pc:sldMk cId="1988119278" sldId="261"/>
            <ac:cxnSpMk id="19" creationId="{08C991E4-14D1-4050-976A-59CFF5DE3158}"/>
          </ac:cxnSpMkLst>
        </pc:cxnChg>
      </pc:sldChg>
      <pc:sldChg chg="addSp delSp modSp mod">
        <pc:chgData name="Pye, Havala" userId="9f81b1e5-bd31-4f40-9666-9c20bcecc960" providerId="ADAL" clId="{7A832CE9-27DF-4B19-888A-571C8A750C2B}" dt="2026-06-08T19:04:39.118" v="412" actId="1036"/>
        <pc:sldMkLst>
          <pc:docMk/>
          <pc:sldMk cId="1907792009" sldId="262"/>
        </pc:sldMkLst>
        <pc:spChg chg="add mod">
          <ac:chgData name="Pye, Havala" userId="9f81b1e5-bd31-4f40-9666-9c20bcecc960" providerId="ADAL" clId="{7A832CE9-27DF-4B19-888A-571C8A750C2B}" dt="2026-06-08T18:24:18.291" v="17"/>
          <ac:spMkLst>
            <pc:docMk/>
            <pc:sldMk cId="1907792009" sldId="262"/>
            <ac:spMk id="2" creationId="{E14D467D-F6CC-035F-2835-C97CEF5733E0}"/>
          </ac:spMkLst>
        </pc:spChg>
        <pc:spChg chg="del">
          <ac:chgData name="Pye, Havala" userId="9f81b1e5-bd31-4f40-9666-9c20bcecc960" providerId="ADAL" clId="{7A832CE9-27DF-4B19-888A-571C8A750C2B}" dt="2026-06-08T18:24:03.767" v="13" actId="478"/>
          <ac:spMkLst>
            <pc:docMk/>
            <pc:sldMk cId="1907792009" sldId="262"/>
            <ac:spMk id="7" creationId="{BDD9A8CE-2DAE-B68B-8CA1-0140537632FE}"/>
          </ac:spMkLst>
        </pc:spChg>
        <pc:spChg chg="mod">
          <ac:chgData name="Pye, Havala" userId="9f81b1e5-bd31-4f40-9666-9c20bcecc960" providerId="ADAL" clId="{7A832CE9-27DF-4B19-888A-571C8A750C2B}" dt="2026-06-08T18:24:59.828" v="26" actId="13926"/>
          <ac:spMkLst>
            <pc:docMk/>
            <pc:sldMk cId="1907792009" sldId="262"/>
            <ac:spMk id="10" creationId="{235FB63A-CBF4-3EA0-6AC1-FB4BBE0D4B36}"/>
          </ac:spMkLst>
        </pc:spChg>
        <pc:spChg chg="del">
          <ac:chgData name="Pye, Havala" userId="9f81b1e5-bd31-4f40-9666-9c20bcecc960" providerId="ADAL" clId="{7A832CE9-27DF-4B19-888A-571C8A750C2B}" dt="2026-06-08T19:04:06.486" v="378" actId="478"/>
          <ac:spMkLst>
            <pc:docMk/>
            <pc:sldMk cId="1907792009" sldId="262"/>
            <ac:spMk id="51" creationId="{64AF9942-2AB9-4438-A902-64F7AA7525DA}"/>
          </ac:spMkLst>
        </pc:spChg>
        <pc:spChg chg="mod">
          <ac:chgData name="Pye, Havala" userId="9f81b1e5-bd31-4f40-9666-9c20bcecc960" providerId="ADAL" clId="{7A832CE9-27DF-4B19-888A-571C8A750C2B}" dt="2026-06-08T18:24:41.411" v="22" actId="13926"/>
          <ac:spMkLst>
            <pc:docMk/>
            <pc:sldMk cId="1907792009" sldId="262"/>
            <ac:spMk id="121" creationId="{E9E57323-E43A-42DD-A27E-04825B074F92}"/>
          </ac:spMkLst>
        </pc:spChg>
        <pc:spChg chg="del">
          <ac:chgData name="Pye, Havala" userId="9f81b1e5-bd31-4f40-9666-9c20bcecc960" providerId="ADAL" clId="{7A832CE9-27DF-4B19-888A-571C8A750C2B}" dt="2026-06-08T19:04:14.612" v="381" actId="478"/>
          <ac:spMkLst>
            <pc:docMk/>
            <pc:sldMk cId="1907792009" sldId="262"/>
            <ac:spMk id="122" creationId="{633776D2-B5C4-4A41-986E-C1CE89A8B99E}"/>
          </ac:spMkLst>
        </pc:spChg>
        <pc:spChg chg="mod">
          <ac:chgData name="Pye, Havala" userId="9f81b1e5-bd31-4f40-9666-9c20bcecc960" providerId="ADAL" clId="{7A832CE9-27DF-4B19-888A-571C8A750C2B}" dt="2026-06-08T18:24:52.897" v="24" actId="13926"/>
          <ac:spMkLst>
            <pc:docMk/>
            <pc:sldMk cId="1907792009" sldId="262"/>
            <ac:spMk id="124" creationId="{AB891C43-12FD-42E1-89C1-E459030DFF1C}"/>
          </ac:spMkLst>
        </pc:spChg>
        <pc:spChg chg="mod">
          <ac:chgData name="Pye, Havala" userId="9f81b1e5-bd31-4f40-9666-9c20bcecc960" providerId="ADAL" clId="{7A832CE9-27DF-4B19-888A-571C8A750C2B}" dt="2026-06-08T18:24:49.273" v="23" actId="13926"/>
          <ac:spMkLst>
            <pc:docMk/>
            <pc:sldMk cId="1907792009" sldId="262"/>
            <ac:spMk id="128" creationId="{9CD03E42-A8A2-4FF6-A306-923D07266925}"/>
          </ac:spMkLst>
        </pc:spChg>
        <pc:spChg chg="mod">
          <ac:chgData name="Pye, Havala" userId="9f81b1e5-bd31-4f40-9666-9c20bcecc960" providerId="ADAL" clId="{7A832CE9-27DF-4B19-888A-571C8A750C2B}" dt="2026-06-08T18:24:55.657" v="25" actId="13926"/>
          <ac:spMkLst>
            <pc:docMk/>
            <pc:sldMk cId="1907792009" sldId="262"/>
            <ac:spMk id="139" creationId="{51C2C85A-6F87-4646-8059-2FA2E039BD54}"/>
          </ac:spMkLst>
        </pc:spChg>
        <pc:spChg chg="del">
          <ac:chgData name="Pye, Havala" userId="9f81b1e5-bd31-4f40-9666-9c20bcecc960" providerId="ADAL" clId="{7A832CE9-27DF-4B19-888A-571C8A750C2B}" dt="2026-06-08T19:04:16.693" v="382" actId="478"/>
          <ac:spMkLst>
            <pc:docMk/>
            <pc:sldMk cId="1907792009" sldId="262"/>
            <ac:spMk id="366" creationId="{ABFF8FCA-6415-4592-ACBE-7BF3E578350F}"/>
          </ac:spMkLst>
        </pc:spChg>
        <pc:spChg chg="del">
          <ac:chgData name="Pye, Havala" userId="9f81b1e5-bd31-4f40-9666-9c20bcecc960" providerId="ADAL" clId="{7A832CE9-27DF-4B19-888A-571C8A750C2B}" dt="2026-06-08T19:04:08.679" v="379" actId="478"/>
          <ac:spMkLst>
            <pc:docMk/>
            <pc:sldMk cId="1907792009" sldId="262"/>
            <ac:spMk id="389" creationId="{38A8BDE3-76CB-4F5B-9F8D-BC0F3530FD2B}"/>
          </ac:spMkLst>
        </pc:spChg>
        <pc:spChg chg="mod">
          <ac:chgData name="Pye, Havala" userId="9f81b1e5-bd31-4f40-9666-9c20bcecc960" providerId="ADAL" clId="{7A832CE9-27DF-4B19-888A-571C8A750C2B}" dt="2026-06-08T19:04:39.118" v="412" actId="1036"/>
          <ac:spMkLst>
            <pc:docMk/>
            <pc:sldMk cId="1907792009" sldId="262"/>
            <ac:spMk id="400" creationId="{5A5F5827-38DB-409D-9AC6-6CA4A8378867}"/>
          </ac:spMkLst>
        </pc:spChg>
        <pc:cxnChg chg="del">
          <ac:chgData name="Pye, Havala" userId="9f81b1e5-bd31-4f40-9666-9c20bcecc960" providerId="ADAL" clId="{7A832CE9-27DF-4B19-888A-571C8A750C2B}" dt="2026-06-08T19:04:14.612" v="381" actId="478"/>
          <ac:cxnSpMkLst>
            <pc:docMk/>
            <pc:sldMk cId="1907792009" sldId="262"/>
            <ac:cxnSpMk id="22" creationId="{BCB1C5BB-46D5-15B6-A127-8802649B6869}"/>
          </ac:cxnSpMkLst>
        </pc:cxnChg>
        <pc:cxnChg chg="del mod">
          <ac:chgData name="Pye, Havala" userId="9f81b1e5-bd31-4f40-9666-9c20bcecc960" providerId="ADAL" clId="{7A832CE9-27DF-4B19-888A-571C8A750C2B}" dt="2026-06-08T19:04:09.479" v="380" actId="478"/>
          <ac:cxnSpMkLst>
            <pc:docMk/>
            <pc:sldMk cId="1907792009" sldId="262"/>
            <ac:cxnSpMk id="52" creationId="{3F96D4AE-F320-4136-8258-C45C9A05D94C}"/>
          </ac:cxnSpMkLst>
        </pc:cxnChg>
        <pc:cxnChg chg="mod">
          <ac:chgData name="Pye, Havala" userId="9f81b1e5-bd31-4f40-9666-9c20bcecc960" providerId="ADAL" clId="{7A832CE9-27DF-4B19-888A-571C8A750C2B}" dt="2026-06-08T19:04:14.612" v="381" actId="478"/>
          <ac:cxnSpMkLst>
            <pc:docMk/>
            <pc:sldMk cId="1907792009" sldId="262"/>
            <ac:cxnSpMk id="93" creationId="{D1AAD109-B565-4660-89EC-4E551C6CE57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A7243-1FA1-483C-BA20-2D9FA9DC3ABB}" type="datetimeFigureOut">
              <a:rPr lang="en-US" smtClean="0"/>
              <a:t>6/8/2026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729916-9709-445A-9000-2C7B4C888A9F}" type="slidenum">
              <a:rPr lang="en-US" smtClean="0"/>
              <a:t>‹#›</a:t>
            </a:fld>
            <a:endParaRPr lang="en-US"/>
          </a:p>
        </p:txBody>
      </p:sp>
    </p:spTree>
    <p:extLst>
      <p:ext uri="{BB962C8B-B14F-4D97-AF65-F5344CB8AC3E}">
        <p14:creationId xmlns:p14="http://schemas.microsoft.com/office/powerpoint/2010/main" val="771051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729916-9709-445A-9000-2C7B4C888A9F}" type="slidenum">
              <a:rPr lang="en-US" smtClean="0"/>
              <a:t>4</a:t>
            </a:fld>
            <a:endParaRPr lang="en-US"/>
          </a:p>
        </p:txBody>
      </p:sp>
    </p:spTree>
    <p:extLst>
      <p:ext uri="{BB962C8B-B14F-4D97-AF65-F5344CB8AC3E}">
        <p14:creationId xmlns:p14="http://schemas.microsoft.com/office/powerpoint/2010/main" val="4188272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E30C93-4B20-4EFC-B02E-120040A64C3C}"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3520788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D89151-1724-4836-A740-D9D67CBB5AA7}"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122006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9D872-93D7-4E5D-91D1-5F6A6D9C625D}"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153318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345A1E-10AE-4913-A72F-2F670C46574D}"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1158126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587420-D649-40E6-8761-11729FAFBC41}" type="datetime1">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2707295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2B2126-6334-414F-B2F8-974AA6395A63}" type="datetime1">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3713818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13108A-03EB-4DC2-A2DF-2E751CCC3873}" type="datetime1">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4113244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A114EE1D-FC3D-403D-9527-5F204D0E186E}"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2684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E4D9653A-C1A5-4812-80AD-E49EB931D31C}"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3886610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F14BE-3ED6-4F0B-917B-03F856576146}"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488086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22673-FFF9-4B4D-8E37-134AA9E0C663}"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DF90-292E-431C-AB59-D6C96D26AA84}" type="slidenum">
              <a:rPr lang="en-US" smtClean="0"/>
              <a:t>‹#›</a:t>
            </a:fld>
            <a:endParaRPr lang="en-US"/>
          </a:p>
        </p:txBody>
      </p:sp>
    </p:spTree>
    <p:extLst>
      <p:ext uri="{BB962C8B-B14F-4D97-AF65-F5344CB8AC3E}">
        <p14:creationId xmlns:p14="http://schemas.microsoft.com/office/powerpoint/2010/main" val="2989514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B8095175-3549-4A86-B9D4-B2B7B4543B24}" type="datetime1">
              <a:rPr lang="en-US" smtClean="0"/>
              <a:t>6/8/2026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F63DDF90-292E-431C-AB59-D6C96D26AA84}" type="slidenum">
              <a:rPr lang="en-US" smtClean="0"/>
              <a:t>‹#›</a:t>
            </a:fld>
            <a:endParaRPr lang="en-US"/>
          </a:p>
        </p:txBody>
      </p:sp>
    </p:spTree>
    <p:extLst>
      <p:ext uri="{BB962C8B-B14F-4D97-AF65-F5344CB8AC3E}">
        <p14:creationId xmlns:p14="http://schemas.microsoft.com/office/powerpoint/2010/main" val="13390953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5194/acp-23-5043-2023" TargetMode="External"/><Relationship Id="rId2" Type="http://schemas.openxmlformats.org/officeDocument/2006/relationships/hyperlink" Target="https://doi.org/10.5194/acp-24-12903-2024" TargetMode="External"/><Relationship Id="rId1" Type="http://schemas.openxmlformats.org/officeDocument/2006/relationships/slideLayout" Target="../slideLayouts/slideLayout2.xml"/><Relationship Id="rId5" Type="http://schemas.openxmlformats.org/officeDocument/2006/relationships/hyperlink" Target="https://ars.els-cdn.com/content/image/1-s2.0-S1352231012011065-mmc1.pdf" TargetMode="External"/><Relationship Id="rId4" Type="http://schemas.openxmlformats.org/officeDocument/2006/relationships/hyperlink" Target="https://doi.org/10.5194/acp-23-9173-202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Box 154">
            <a:extLst>
              <a:ext uri="{FF2B5EF4-FFF2-40B4-BE49-F238E27FC236}">
                <a16:creationId xmlns:a16="http://schemas.microsoft.com/office/drawing/2014/main" id="{1C9688CD-C890-4906-8497-F069873230E2}"/>
              </a:ext>
            </a:extLst>
          </p:cNvPr>
          <p:cNvSpPr txBox="1"/>
          <p:nvPr/>
        </p:nvSpPr>
        <p:spPr>
          <a:xfrm>
            <a:off x="828740" y="4592449"/>
            <a:ext cx="2011680" cy="400110"/>
          </a:xfrm>
          <a:prstGeom prst="rect">
            <a:avLst/>
          </a:prstGeom>
          <a:noFill/>
          <a:ln>
            <a:solidFill>
              <a:schemeClr val="tx1"/>
            </a:solidFill>
          </a:ln>
        </p:spPr>
        <p:txBody>
          <a:bodyPr wrap="square" rtlCol="0">
            <a:spAutoFit/>
          </a:bodyPr>
          <a:lstStyle/>
          <a:p>
            <a:pPr algn="ctr"/>
            <a:r>
              <a:rPr lang="en-US" sz="1000" dirty="0"/>
              <a:t>Is the compound a sesquiterpene (</a:t>
            </a:r>
            <a:r>
              <a:rPr lang="en-US" sz="1000" dirty="0" err="1"/>
              <a:t>n</a:t>
            </a:r>
            <a:r>
              <a:rPr lang="en-US" sz="1000" baseline="-25000" dirty="0" err="1"/>
              <a:t>C</a:t>
            </a:r>
            <a:r>
              <a:rPr lang="en-US" sz="1000" dirty="0"/>
              <a:t>=15, </a:t>
            </a:r>
            <a:r>
              <a:rPr lang="en-US" sz="1000" dirty="0" err="1"/>
              <a:t>n</a:t>
            </a:r>
            <a:r>
              <a:rPr lang="en-US" sz="1000" baseline="-25000" dirty="0" err="1"/>
              <a:t>H</a:t>
            </a:r>
            <a:r>
              <a:rPr lang="en-US" sz="1000" dirty="0"/>
              <a:t>=24, </a:t>
            </a:r>
            <a:r>
              <a:rPr lang="en-US" sz="1000" dirty="0" err="1"/>
              <a:t>n</a:t>
            </a:r>
            <a:r>
              <a:rPr lang="en-US" sz="1000" baseline="-25000" dirty="0" err="1"/>
              <a:t>C</a:t>
            </a:r>
            <a:r>
              <a:rPr lang="en-US" sz="1000" baseline="-25000" dirty="0"/>
              <a:t>=C</a:t>
            </a:r>
            <a:r>
              <a:rPr lang="en-US" sz="1000" dirty="0"/>
              <a:t>&gt;=1)?</a:t>
            </a:r>
          </a:p>
        </p:txBody>
      </p:sp>
      <p:cxnSp>
        <p:nvCxnSpPr>
          <p:cNvPr id="5" name="Straight Arrow Connector 4">
            <a:extLst>
              <a:ext uri="{FF2B5EF4-FFF2-40B4-BE49-F238E27FC236}">
                <a16:creationId xmlns:a16="http://schemas.microsoft.com/office/drawing/2014/main" id="{A590FECD-E1E4-4E6D-AFB1-58DEB0EF07D1}"/>
              </a:ext>
            </a:extLst>
          </p:cNvPr>
          <p:cNvCxnSpPr>
            <a:cxnSpLocks/>
            <a:stCxn id="6" idx="2"/>
            <a:endCxn id="71" idx="0"/>
          </p:cNvCxnSpPr>
          <p:nvPr/>
        </p:nvCxnSpPr>
        <p:spPr>
          <a:xfrm>
            <a:off x="1834016" y="1438775"/>
            <a:ext cx="564" cy="825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9FE6041-6FA8-4DAB-8021-2875BF3BDA83}"/>
              </a:ext>
            </a:extLst>
          </p:cNvPr>
          <p:cNvSpPr txBox="1"/>
          <p:nvPr/>
        </p:nvSpPr>
        <p:spPr>
          <a:xfrm>
            <a:off x="455855" y="1007888"/>
            <a:ext cx="2756322" cy="430887"/>
          </a:xfrm>
          <a:prstGeom prst="rect">
            <a:avLst/>
          </a:prstGeom>
          <a:noFill/>
        </p:spPr>
        <p:txBody>
          <a:bodyPr wrap="square" rtlCol="0">
            <a:spAutoFit/>
          </a:bodyPr>
          <a:lstStyle/>
          <a:p>
            <a:pPr algn="ctr"/>
            <a:r>
              <a:rPr lang="en-US" sz="1100" dirty="0"/>
              <a:t>Compound with metadata (SMILES, </a:t>
            </a:r>
            <a:r>
              <a:rPr lang="en-US" sz="1100" dirty="0" err="1"/>
              <a:t>k</a:t>
            </a:r>
            <a:r>
              <a:rPr lang="en-US" sz="1100" baseline="-25000" dirty="0" err="1"/>
              <a:t>OH</a:t>
            </a:r>
            <a:r>
              <a:rPr lang="en-US" sz="1100" dirty="0"/>
              <a:t>, C*) </a:t>
            </a:r>
            <a:r>
              <a:rPr lang="en-US" sz="1100" dirty="0">
                <a:highlight>
                  <a:srgbClr val="FFFF00"/>
                </a:highlight>
              </a:rPr>
              <a:t>and mechanism name</a:t>
            </a:r>
          </a:p>
        </p:txBody>
      </p:sp>
      <p:sp>
        <p:nvSpPr>
          <p:cNvPr id="7" name="TextBox 6">
            <a:extLst>
              <a:ext uri="{FF2B5EF4-FFF2-40B4-BE49-F238E27FC236}">
                <a16:creationId xmlns:a16="http://schemas.microsoft.com/office/drawing/2014/main" id="{01091E27-F04A-43C5-921F-330E34F9F891}"/>
              </a:ext>
            </a:extLst>
          </p:cNvPr>
          <p:cNvSpPr txBox="1"/>
          <p:nvPr/>
        </p:nvSpPr>
        <p:spPr>
          <a:xfrm>
            <a:off x="828740" y="1981681"/>
            <a:ext cx="2011680" cy="553998"/>
          </a:xfrm>
          <a:prstGeom prst="rect">
            <a:avLst/>
          </a:prstGeom>
          <a:noFill/>
          <a:ln>
            <a:solidFill>
              <a:schemeClr val="tx1"/>
            </a:solidFill>
          </a:ln>
        </p:spPr>
        <p:txBody>
          <a:bodyPr wrap="square" rtlCol="0">
            <a:spAutoFit/>
          </a:bodyPr>
          <a:lstStyle/>
          <a:p>
            <a:pPr algn="ctr"/>
            <a:r>
              <a:rPr lang="en-US" sz="1000" dirty="0"/>
              <a:t>Is the compound explicit in CRACMM? (identified w/ canonical SMILES or info from SMILES)</a:t>
            </a:r>
          </a:p>
        </p:txBody>
      </p:sp>
      <p:cxnSp>
        <p:nvCxnSpPr>
          <p:cNvPr id="8" name="Straight Arrow Connector 7">
            <a:extLst>
              <a:ext uri="{FF2B5EF4-FFF2-40B4-BE49-F238E27FC236}">
                <a16:creationId xmlns:a16="http://schemas.microsoft.com/office/drawing/2014/main" id="{A1D87280-F935-4241-A232-6A6E7CA6E0A9}"/>
              </a:ext>
            </a:extLst>
          </p:cNvPr>
          <p:cNvCxnSpPr>
            <a:cxnSpLocks/>
            <a:stCxn id="7" idx="3"/>
            <a:endCxn id="12" idx="1"/>
          </p:cNvCxnSpPr>
          <p:nvPr/>
        </p:nvCxnSpPr>
        <p:spPr>
          <a:xfrm>
            <a:off x="2840420" y="2258680"/>
            <a:ext cx="925705" cy="1355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0A113D2-A1DF-4E5F-B577-FB92EBE44F3D}"/>
              </a:ext>
            </a:extLst>
          </p:cNvPr>
          <p:cNvSpPr txBox="1"/>
          <p:nvPr/>
        </p:nvSpPr>
        <p:spPr>
          <a:xfrm>
            <a:off x="3073474" y="2017864"/>
            <a:ext cx="441358" cy="246221"/>
          </a:xfrm>
          <a:prstGeom prst="rect">
            <a:avLst/>
          </a:prstGeom>
          <a:noFill/>
        </p:spPr>
        <p:txBody>
          <a:bodyPr wrap="square" rtlCol="0">
            <a:spAutoFit/>
          </a:bodyPr>
          <a:lstStyle/>
          <a:p>
            <a:pPr algn="ctr"/>
            <a:r>
              <a:rPr lang="en-US" sz="1000" dirty="0"/>
              <a:t>yes</a:t>
            </a:r>
          </a:p>
        </p:txBody>
      </p:sp>
      <p:cxnSp>
        <p:nvCxnSpPr>
          <p:cNvPr id="35" name="Straight Arrow Connector 34">
            <a:extLst>
              <a:ext uri="{FF2B5EF4-FFF2-40B4-BE49-F238E27FC236}">
                <a16:creationId xmlns:a16="http://schemas.microsoft.com/office/drawing/2014/main" id="{858760DD-3CDA-426D-B25F-B1F377366FE9}"/>
              </a:ext>
            </a:extLst>
          </p:cNvPr>
          <p:cNvCxnSpPr>
            <a:cxnSpLocks/>
            <a:stCxn id="7" idx="2"/>
            <a:endCxn id="83" idx="0"/>
          </p:cNvCxnSpPr>
          <p:nvPr/>
        </p:nvCxnSpPr>
        <p:spPr>
          <a:xfrm>
            <a:off x="1834580" y="2535679"/>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42F368D-93C4-4B1D-8611-C212F4B318A1}"/>
              </a:ext>
            </a:extLst>
          </p:cNvPr>
          <p:cNvSpPr txBox="1"/>
          <p:nvPr/>
        </p:nvSpPr>
        <p:spPr>
          <a:xfrm>
            <a:off x="828740" y="5206669"/>
            <a:ext cx="2011680" cy="400110"/>
          </a:xfrm>
          <a:prstGeom prst="rect">
            <a:avLst/>
          </a:prstGeom>
          <a:noFill/>
          <a:ln>
            <a:solidFill>
              <a:schemeClr val="tx1"/>
            </a:solidFill>
          </a:ln>
        </p:spPr>
        <p:txBody>
          <a:bodyPr wrap="square" rtlCol="0">
            <a:spAutoFit/>
          </a:bodyPr>
          <a:lstStyle/>
          <a:p>
            <a:pPr algn="ctr"/>
            <a:r>
              <a:rPr lang="en-US" sz="1000" dirty="0"/>
              <a:t>Is the compound [(C</a:t>
            </a:r>
            <a:r>
              <a:rPr lang="en-US" sz="1000" baseline="-25000" dirty="0"/>
              <a:t>10</a:t>
            </a:r>
            <a:r>
              <a:rPr lang="en-US" sz="1000" dirty="0"/>
              <a:t>H</a:t>
            </a:r>
            <a:r>
              <a:rPr lang="en-US" sz="1000" baseline="-25000" dirty="0"/>
              <a:t>16</a:t>
            </a:r>
            <a:r>
              <a:rPr lang="en-US" sz="1000" dirty="0"/>
              <a:t>) or (C</a:t>
            </a:r>
            <a:r>
              <a:rPr lang="en-US" sz="1000" baseline="-25000" dirty="0"/>
              <a:t>10</a:t>
            </a:r>
            <a:r>
              <a:rPr lang="en-US" sz="1000" dirty="0"/>
              <a:t>H</a:t>
            </a:r>
            <a:r>
              <a:rPr lang="en-US" sz="1000" baseline="-25000" dirty="0"/>
              <a:t>18</a:t>
            </a:r>
            <a:r>
              <a:rPr lang="en-US" sz="1000" dirty="0"/>
              <a:t>O</a:t>
            </a:r>
            <a:r>
              <a:rPr lang="en-US" sz="1000" baseline="-25000" dirty="0"/>
              <a:t>1</a:t>
            </a:r>
            <a:r>
              <a:rPr lang="en-US" sz="1000" dirty="0"/>
              <a:t>)] and </a:t>
            </a:r>
            <a:r>
              <a:rPr lang="en-US" sz="1000" dirty="0" err="1"/>
              <a:t>n</a:t>
            </a:r>
            <a:r>
              <a:rPr lang="en-US" sz="1000" baseline="-25000" dirty="0" err="1"/>
              <a:t>C</a:t>
            </a:r>
            <a:r>
              <a:rPr lang="en-US" sz="1000" baseline="-25000" dirty="0"/>
              <a:t>=C </a:t>
            </a:r>
            <a:r>
              <a:rPr lang="en-US" sz="1000" dirty="0"/>
              <a:t>=1?</a:t>
            </a:r>
          </a:p>
        </p:txBody>
      </p:sp>
      <p:cxnSp>
        <p:nvCxnSpPr>
          <p:cNvPr id="63" name="Straight Arrow Connector 62">
            <a:extLst>
              <a:ext uri="{FF2B5EF4-FFF2-40B4-BE49-F238E27FC236}">
                <a16:creationId xmlns:a16="http://schemas.microsoft.com/office/drawing/2014/main" id="{DDD3018D-F8BD-4265-87DD-CE3982476112}"/>
              </a:ext>
            </a:extLst>
          </p:cNvPr>
          <p:cNvCxnSpPr>
            <a:cxnSpLocks/>
            <a:stCxn id="43" idx="3"/>
            <a:endCxn id="65" idx="1"/>
          </p:cNvCxnSpPr>
          <p:nvPr/>
        </p:nvCxnSpPr>
        <p:spPr>
          <a:xfrm>
            <a:off x="2840420" y="5406724"/>
            <a:ext cx="925908" cy="4241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B6CADC06-D83A-4F4C-8B8C-93BEDF8E81F0}"/>
              </a:ext>
            </a:extLst>
          </p:cNvPr>
          <p:cNvSpPr txBox="1"/>
          <p:nvPr/>
        </p:nvSpPr>
        <p:spPr>
          <a:xfrm>
            <a:off x="3766328" y="5630864"/>
            <a:ext cx="3601877"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l-GR" sz="1000" dirty="0"/>
              <a:t>α</a:t>
            </a:r>
            <a:r>
              <a:rPr lang="en-US" sz="1000" dirty="0"/>
              <a:t>-pinene and other terpenes with one double bond (</a:t>
            </a:r>
            <a:r>
              <a:rPr lang="en-US" sz="1000" dirty="0" err="1"/>
              <a:t>n</a:t>
            </a:r>
            <a:r>
              <a:rPr lang="en-US" sz="1000" baseline="-25000" dirty="0" err="1"/>
              <a:t>C</a:t>
            </a:r>
            <a:r>
              <a:rPr lang="en-US" sz="1000" baseline="-25000" dirty="0"/>
              <a:t>=C</a:t>
            </a:r>
            <a:r>
              <a:rPr lang="en-US" sz="1000" dirty="0"/>
              <a:t>) (API)</a:t>
            </a:r>
          </a:p>
        </p:txBody>
      </p:sp>
      <p:sp>
        <p:nvSpPr>
          <p:cNvPr id="66" name="TextBox 65">
            <a:extLst>
              <a:ext uri="{FF2B5EF4-FFF2-40B4-BE49-F238E27FC236}">
                <a16:creationId xmlns:a16="http://schemas.microsoft.com/office/drawing/2014/main" id="{AC81997B-C90C-4BCD-8B24-B36C8CE7960B}"/>
              </a:ext>
            </a:extLst>
          </p:cNvPr>
          <p:cNvSpPr txBox="1"/>
          <p:nvPr/>
        </p:nvSpPr>
        <p:spPr>
          <a:xfrm>
            <a:off x="828740" y="5820889"/>
            <a:ext cx="2011680" cy="400110"/>
          </a:xfrm>
          <a:prstGeom prst="rect">
            <a:avLst/>
          </a:prstGeom>
          <a:noFill/>
          <a:ln>
            <a:solidFill>
              <a:schemeClr val="tx1"/>
            </a:solidFill>
          </a:ln>
        </p:spPr>
        <p:txBody>
          <a:bodyPr wrap="square" rtlCol="0">
            <a:spAutoFit/>
          </a:bodyPr>
          <a:lstStyle/>
          <a:p>
            <a:pPr algn="ctr"/>
            <a:r>
              <a:rPr lang="en-US" sz="1000" dirty="0"/>
              <a:t>Is the compound [(C</a:t>
            </a:r>
            <a:r>
              <a:rPr lang="en-US" sz="1000" baseline="-25000" dirty="0"/>
              <a:t>10</a:t>
            </a:r>
            <a:r>
              <a:rPr lang="en-US" sz="1000" dirty="0"/>
              <a:t>H</a:t>
            </a:r>
            <a:r>
              <a:rPr lang="en-US" sz="1000" baseline="-25000" dirty="0"/>
              <a:t>16</a:t>
            </a:r>
            <a:r>
              <a:rPr lang="en-US" sz="1000" dirty="0"/>
              <a:t>) or (C</a:t>
            </a:r>
            <a:r>
              <a:rPr lang="en-US" sz="1000" baseline="-25000" dirty="0"/>
              <a:t>10</a:t>
            </a:r>
            <a:r>
              <a:rPr lang="en-US" sz="1000" dirty="0"/>
              <a:t>H</a:t>
            </a:r>
            <a:r>
              <a:rPr lang="en-US" sz="1000" baseline="-25000" dirty="0"/>
              <a:t>18</a:t>
            </a:r>
            <a:r>
              <a:rPr lang="en-US" sz="1000" dirty="0"/>
              <a:t>O</a:t>
            </a:r>
            <a:r>
              <a:rPr lang="en-US" sz="1000" baseline="-25000" dirty="0"/>
              <a:t>1</a:t>
            </a:r>
            <a:r>
              <a:rPr lang="en-US" sz="1000" dirty="0"/>
              <a:t>)] and </a:t>
            </a:r>
            <a:r>
              <a:rPr lang="en-US" sz="1000" dirty="0" err="1"/>
              <a:t>n</a:t>
            </a:r>
            <a:r>
              <a:rPr lang="en-US" sz="1000" baseline="-25000" dirty="0" err="1"/>
              <a:t>C</a:t>
            </a:r>
            <a:r>
              <a:rPr lang="en-US" sz="1000" baseline="-25000" dirty="0"/>
              <a:t>=C </a:t>
            </a:r>
            <a:r>
              <a:rPr lang="en-US" sz="1000" dirty="0"/>
              <a:t>&gt;=2?</a:t>
            </a:r>
          </a:p>
        </p:txBody>
      </p:sp>
      <p:cxnSp>
        <p:nvCxnSpPr>
          <p:cNvPr id="67" name="Straight Arrow Connector 66">
            <a:extLst>
              <a:ext uri="{FF2B5EF4-FFF2-40B4-BE49-F238E27FC236}">
                <a16:creationId xmlns:a16="http://schemas.microsoft.com/office/drawing/2014/main" id="{A37CD802-77C0-4112-AF97-A33E7C03F516}"/>
              </a:ext>
            </a:extLst>
          </p:cNvPr>
          <p:cNvCxnSpPr>
            <a:cxnSpLocks/>
            <a:stCxn id="66" idx="3"/>
            <a:endCxn id="69" idx="1"/>
          </p:cNvCxnSpPr>
          <p:nvPr/>
        </p:nvCxnSpPr>
        <p:spPr>
          <a:xfrm>
            <a:off x="2840420" y="6020944"/>
            <a:ext cx="925908" cy="3424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9082DD5F-B1A0-4992-A3FE-20E3F35470A6}"/>
              </a:ext>
            </a:extLst>
          </p:cNvPr>
          <p:cNvSpPr txBox="1"/>
          <p:nvPr/>
        </p:nvSpPr>
        <p:spPr>
          <a:xfrm>
            <a:off x="3766328" y="6163292"/>
            <a:ext cx="3601877"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l-GR" sz="1000" dirty="0"/>
              <a:t>δ</a:t>
            </a:r>
            <a:r>
              <a:rPr lang="en-US" sz="1000" dirty="0"/>
              <a:t>-limonene and other diene-terpenes (LIM)</a:t>
            </a:r>
          </a:p>
        </p:txBody>
      </p:sp>
      <p:cxnSp>
        <p:nvCxnSpPr>
          <p:cNvPr id="86" name="Straight Arrow Connector 85">
            <a:extLst>
              <a:ext uri="{FF2B5EF4-FFF2-40B4-BE49-F238E27FC236}">
                <a16:creationId xmlns:a16="http://schemas.microsoft.com/office/drawing/2014/main" id="{EA036F65-856D-431A-B4C3-EFAA945ABFC4}"/>
              </a:ext>
            </a:extLst>
          </p:cNvPr>
          <p:cNvCxnSpPr>
            <a:cxnSpLocks/>
            <a:stCxn id="43" idx="2"/>
            <a:endCxn id="66" idx="0"/>
          </p:cNvCxnSpPr>
          <p:nvPr/>
        </p:nvCxnSpPr>
        <p:spPr>
          <a:xfrm>
            <a:off x="1834580" y="5606779"/>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2DA8ABEA-F912-44BA-A48F-31123CFC888D}"/>
              </a:ext>
            </a:extLst>
          </p:cNvPr>
          <p:cNvCxnSpPr>
            <a:cxnSpLocks/>
            <a:stCxn id="66" idx="2"/>
            <a:endCxn id="9" idx="0"/>
          </p:cNvCxnSpPr>
          <p:nvPr/>
        </p:nvCxnSpPr>
        <p:spPr>
          <a:xfrm flipH="1">
            <a:off x="1834016" y="6220999"/>
            <a:ext cx="564" cy="2141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86838DB4-EA93-499F-8EDF-62AD01890351}"/>
              </a:ext>
            </a:extLst>
          </p:cNvPr>
          <p:cNvSpPr txBox="1"/>
          <p:nvPr/>
        </p:nvSpPr>
        <p:spPr>
          <a:xfrm>
            <a:off x="3766328" y="5128551"/>
            <a:ext cx="3601877"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Sesquiterpenes (SESQ)</a:t>
            </a:r>
          </a:p>
        </p:txBody>
      </p:sp>
      <p:cxnSp>
        <p:nvCxnSpPr>
          <p:cNvPr id="158" name="Straight Arrow Connector 157">
            <a:extLst>
              <a:ext uri="{FF2B5EF4-FFF2-40B4-BE49-F238E27FC236}">
                <a16:creationId xmlns:a16="http://schemas.microsoft.com/office/drawing/2014/main" id="{7292F5B3-4F8F-42D1-87F9-06FF28AA280F}"/>
              </a:ext>
            </a:extLst>
          </p:cNvPr>
          <p:cNvCxnSpPr>
            <a:cxnSpLocks/>
            <a:stCxn id="155" idx="2"/>
            <a:endCxn id="43" idx="0"/>
          </p:cNvCxnSpPr>
          <p:nvPr/>
        </p:nvCxnSpPr>
        <p:spPr>
          <a:xfrm>
            <a:off x="1834580" y="4992559"/>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36A2F452-4638-43BA-8B4D-091C13E50D11}"/>
              </a:ext>
            </a:extLst>
          </p:cNvPr>
          <p:cNvSpPr txBox="1"/>
          <p:nvPr/>
        </p:nvSpPr>
        <p:spPr>
          <a:xfrm>
            <a:off x="1401799" y="4997722"/>
            <a:ext cx="372047" cy="246221"/>
          </a:xfrm>
          <a:prstGeom prst="rect">
            <a:avLst/>
          </a:prstGeom>
          <a:noFill/>
        </p:spPr>
        <p:txBody>
          <a:bodyPr wrap="square" rtlCol="0">
            <a:spAutoFit/>
          </a:bodyPr>
          <a:lstStyle/>
          <a:p>
            <a:pPr algn="ctr"/>
            <a:r>
              <a:rPr lang="en-US" sz="1000" dirty="0"/>
              <a:t>no</a:t>
            </a:r>
          </a:p>
        </p:txBody>
      </p:sp>
      <p:cxnSp>
        <p:nvCxnSpPr>
          <p:cNvPr id="160" name="Straight Arrow Connector 159">
            <a:extLst>
              <a:ext uri="{FF2B5EF4-FFF2-40B4-BE49-F238E27FC236}">
                <a16:creationId xmlns:a16="http://schemas.microsoft.com/office/drawing/2014/main" id="{C4ADCC97-07B4-4C5A-832C-28494B17D8F9}"/>
              </a:ext>
            </a:extLst>
          </p:cNvPr>
          <p:cNvCxnSpPr>
            <a:cxnSpLocks/>
            <a:stCxn id="155" idx="3"/>
            <a:endCxn id="157" idx="1"/>
          </p:cNvCxnSpPr>
          <p:nvPr/>
        </p:nvCxnSpPr>
        <p:spPr>
          <a:xfrm>
            <a:off x="2840420" y="4792504"/>
            <a:ext cx="925908" cy="5361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C442DEA5-BED0-4758-9353-40E0B6DBD2C4}"/>
              </a:ext>
            </a:extLst>
          </p:cNvPr>
          <p:cNvSpPr txBox="1"/>
          <p:nvPr/>
        </p:nvSpPr>
        <p:spPr>
          <a:xfrm>
            <a:off x="1401799" y="2521416"/>
            <a:ext cx="372047" cy="246221"/>
          </a:xfrm>
          <a:prstGeom prst="rect">
            <a:avLst/>
          </a:prstGeom>
          <a:noFill/>
        </p:spPr>
        <p:txBody>
          <a:bodyPr wrap="square" rtlCol="0">
            <a:spAutoFit/>
          </a:bodyPr>
          <a:lstStyle/>
          <a:p>
            <a:pPr algn="ctr"/>
            <a:r>
              <a:rPr lang="en-US" sz="1000" dirty="0"/>
              <a:t>no</a:t>
            </a:r>
          </a:p>
        </p:txBody>
      </p:sp>
      <p:sp>
        <p:nvSpPr>
          <p:cNvPr id="364" name="TextBox 363">
            <a:extLst>
              <a:ext uri="{FF2B5EF4-FFF2-40B4-BE49-F238E27FC236}">
                <a16:creationId xmlns:a16="http://schemas.microsoft.com/office/drawing/2014/main" id="{D1886FB8-1BBA-44A2-A397-4A44A0E012EE}"/>
              </a:ext>
            </a:extLst>
          </p:cNvPr>
          <p:cNvSpPr txBox="1"/>
          <p:nvPr/>
        </p:nvSpPr>
        <p:spPr>
          <a:xfrm>
            <a:off x="1401799" y="5593188"/>
            <a:ext cx="372047" cy="246221"/>
          </a:xfrm>
          <a:prstGeom prst="rect">
            <a:avLst/>
          </a:prstGeom>
          <a:noFill/>
        </p:spPr>
        <p:txBody>
          <a:bodyPr wrap="square" rtlCol="0">
            <a:spAutoFit/>
          </a:bodyPr>
          <a:lstStyle/>
          <a:p>
            <a:pPr algn="ctr"/>
            <a:r>
              <a:rPr lang="en-US" sz="1000" dirty="0"/>
              <a:t>no</a:t>
            </a:r>
          </a:p>
        </p:txBody>
      </p:sp>
      <p:sp>
        <p:nvSpPr>
          <p:cNvPr id="365" name="TextBox 364">
            <a:extLst>
              <a:ext uri="{FF2B5EF4-FFF2-40B4-BE49-F238E27FC236}">
                <a16:creationId xmlns:a16="http://schemas.microsoft.com/office/drawing/2014/main" id="{2A89B8BD-3EDA-45EF-967C-940C5B89FF9E}"/>
              </a:ext>
            </a:extLst>
          </p:cNvPr>
          <p:cNvSpPr txBox="1"/>
          <p:nvPr/>
        </p:nvSpPr>
        <p:spPr>
          <a:xfrm>
            <a:off x="1401799" y="6191144"/>
            <a:ext cx="372047" cy="246221"/>
          </a:xfrm>
          <a:prstGeom prst="rect">
            <a:avLst/>
          </a:prstGeom>
          <a:noFill/>
        </p:spPr>
        <p:txBody>
          <a:bodyPr wrap="square" rtlCol="0">
            <a:spAutoFit/>
          </a:bodyPr>
          <a:lstStyle/>
          <a:p>
            <a:pPr algn="ctr"/>
            <a:r>
              <a:rPr lang="en-US" sz="1000" dirty="0"/>
              <a:t>no</a:t>
            </a:r>
          </a:p>
        </p:txBody>
      </p:sp>
      <p:sp>
        <p:nvSpPr>
          <p:cNvPr id="12" name="TextBox 11">
            <a:extLst>
              <a:ext uri="{FF2B5EF4-FFF2-40B4-BE49-F238E27FC236}">
                <a16:creationId xmlns:a16="http://schemas.microsoft.com/office/drawing/2014/main" id="{B134A385-0077-4E09-AC14-F79C9371AE13}"/>
              </a:ext>
            </a:extLst>
          </p:cNvPr>
          <p:cNvSpPr txBox="1"/>
          <p:nvPr/>
        </p:nvSpPr>
        <p:spPr>
          <a:xfrm>
            <a:off x="3766125" y="1347793"/>
            <a:ext cx="3602057" cy="2092881"/>
          </a:xfrm>
          <a:prstGeom prst="rect">
            <a:avLst/>
          </a:prstGeom>
          <a:noFill/>
          <a:ln>
            <a:solidFill>
              <a:schemeClr val="tx1"/>
            </a:solidFill>
            <a:prstDash val="dash"/>
          </a:ln>
        </p:spPr>
        <p:txBody>
          <a:bodyPr wrap="square" numCol="2" rtlCol="0">
            <a:spAutoFit/>
          </a:bodyPr>
          <a:lstStyle/>
          <a:p>
            <a:r>
              <a:rPr lang="en-US" sz="1000" u="sng" dirty="0"/>
              <a:t>Explicit Species</a:t>
            </a:r>
          </a:p>
          <a:p>
            <a:r>
              <a:rPr lang="en-US" sz="1000" dirty="0"/>
              <a:t>Acetaldehyde (ACD)</a:t>
            </a:r>
          </a:p>
          <a:p>
            <a:r>
              <a:rPr lang="en-US" sz="1000" dirty="0"/>
              <a:t>Acetylene (ACE)</a:t>
            </a:r>
          </a:p>
          <a:p>
            <a:r>
              <a:rPr lang="en-US" sz="1000" dirty="0"/>
              <a:t>Acetone (ACT)</a:t>
            </a:r>
          </a:p>
          <a:p>
            <a:r>
              <a:rPr lang="en-US" sz="1000" dirty="0"/>
              <a:t>Benzene (BEN)</a:t>
            </a:r>
          </a:p>
          <a:p>
            <a:r>
              <a:rPr lang="en-US" sz="1000" dirty="0"/>
              <a:t>Methane (ECH4)</a:t>
            </a:r>
          </a:p>
          <a:p>
            <a:r>
              <a:rPr lang="en-US" sz="1000" dirty="0"/>
              <a:t>Ethanol (EOH)</a:t>
            </a:r>
          </a:p>
          <a:p>
            <a:r>
              <a:rPr lang="en-US" sz="1000" dirty="0"/>
              <a:t>Ethene (ETE)</a:t>
            </a:r>
          </a:p>
          <a:p>
            <a:r>
              <a:rPr lang="en-US" sz="1000" dirty="0"/>
              <a:t>Ethylene glycol (ETEG)</a:t>
            </a:r>
          </a:p>
          <a:p>
            <a:r>
              <a:rPr lang="en-US" sz="1000" dirty="0"/>
              <a:t>Ethane (ETH)</a:t>
            </a:r>
          </a:p>
          <a:p>
            <a:r>
              <a:rPr lang="en-US" sz="1000" dirty="0"/>
              <a:t>Formaldehyde (HCHO)</a:t>
            </a:r>
          </a:p>
          <a:p>
            <a:r>
              <a:rPr lang="en-US" sz="1000" dirty="0"/>
              <a:t>Isoprene (ISO)</a:t>
            </a:r>
          </a:p>
          <a:p>
            <a:r>
              <a:rPr lang="en-US" sz="1000" dirty="0"/>
              <a:t>Methanol (MOH)</a:t>
            </a:r>
          </a:p>
          <a:p>
            <a:r>
              <a:rPr lang="en-US" sz="1000" dirty="0"/>
              <a:t>Formic acid (ORA1)</a:t>
            </a:r>
          </a:p>
          <a:p>
            <a:r>
              <a:rPr lang="en-US" sz="1000" dirty="0"/>
              <a:t>Methyl hydrogen peroxide (OP1)</a:t>
            </a:r>
          </a:p>
          <a:p>
            <a:r>
              <a:rPr lang="en-US" sz="1000" dirty="0"/>
              <a:t>Methyl ethyl ketone (MEK)</a:t>
            </a:r>
          </a:p>
          <a:p>
            <a:r>
              <a:rPr lang="en-US" sz="1000" dirty="0"/>
              <a:t>Methyl vinyl ketone (MVK)</a:t>
            </a:r>
          </a:p>
          <a:p>
            <a:r>
              <a:rPr lang="en-US" sz="1000" dirty="0"/>
              <a:t>Acrolein (ACRO)</a:t>
            </a:r>
          </a:p>
          <a:p>
            <a:r>
              <a:rPr lang="en-US" sz="1000" dirty="0"/>
              <a:t>1,3 butadiene (BDE13)</a:t>
            </a:r>
          </a:p>
          <a:p>
            <a:r>
              <a:rPr lang="en-US" sz="1000" dirty="0"/>
              <a:t>Toluene (TOL)</a:t>
            </a:r>
          </a:p>
          <a:p>
            <a:r>
              <a:rPr lang="en-US" sz="1000" dirty="0"/>
              <a:t>Styrene (STY)</a:t>
            </a:r>
          </a:p>
          <a:p>
            <a:r>
              <a:rPr lang="en-US" sz="1000" dirty="0"/>
              <a:t>Ethylbenzene (EBZ)</a:t>
            </a:r>
          </a:p>
          <a:p>
            <a:r>
              <a:rPr lang="en-US" sz="1000" dirty="0">
                <a:highlight>
                  <a:srgbClr val="FFFF00"/>
                </a:highlight>
              </a:rPr>
              <a:t>Naphthalene (NAPH)</a:t>
            </a:r>
          </a:p>
          <a:p>
            <a:r>
              <a:rPr lang="en-US" sz="1000" dirty="0">
                <a:highlight>
                  <a:srgbClr val="FFFF00"/>
                </a:highlight>
              </a:rPr>
              <a:t>Phenol (PHEN)</a:t>
            </a:r>
          </a:p>
          <a:p>
            <a:pPr marL="234950" indent="-234950"/>
            <a:r>
              <a:rPr lang="en-US" sz="1000" dirty="0">
                <a:highlight>
                  <a:srgbClr val="FFFF00"/>
                </a:highlight>
              </a:rPr>
              <a:t>CRACMM3M only: Methyl iodide (CH3I)</a:t>
            </a:r>
          </a:p>
        </p:txBody>
      </p:sp>
      <p:sp>
        <p:nvSpPr>
          <p:cNvPr id="386" name="TextBox 385">
            <a:extLst>
              <a:ext uri="{FF2B5EF4-FFF2-40B4-BE49-F238E27FC236}">
                <a16:creationId xmlns:a16="http://schemas.microsoft.com/office/drawing/2014/main" id="{FB329CA0-6C9D-4B93-9491-1926AF44EB13}"/>
              </a:ext>
            </a:extLst>
          </p:cNvPr>
          <p:cNvSpPr txBox="1"/>
          <p:nvPr/>
        </p:nvSpPr>
        <p:spPr>
          <a:xfrm>
            <a:off x="3073474" y="4653446"/>
            <a:ext cx="441358" cy="246221"/>
          </a:xfrm>
          <a:prstGeom prst="rect">
            <a:avLst/>
          </a:prstGeom>
          <a:noFill/>
        </p:spPr>
        <p:txBody>
          <a:bodyPr wrap="square" rtlCol="0">
            <a:spAutoFit/>
          </a:bodyPr>
          <a:lstStyle/>
          <a:p>
            <a:pPr algn="ctr"/>
            <a:r>
              <a:rPr lang="en-US" sz="1000" dirty="0"/>
              <a:t>yes</a:t>
            </a:r>
          </a:p>
        </p:txBody>
      </p:sp>
      <p:sp>
        <p:nvSpPr>
          <p:cNvPr id="387" name="TextBox 386">
            <a:extLst>
              <a:ext uri="{FF2B5EF4-FFF2-40B4-BE49-F238E27FC236}">
                <a16:creationId xmlns:a16="http://schemas.microsoft.com/office/drawing/2014/main" id="{8F037789-D384-4ADE-BD35-5D0EBC4C6F72}"/>
              </a:ext>
            </a:extLst>
          </p:cNvPr>
          <p:cNvSpPr txBox="1"/>
          <p:nvPr/>
        </p:nvSpPr>
        <p:spPr>
          <a:xfrm>
            <a:off x="3073474" y="5197809"/>
            <a:ext cx="441358" cy="246221"/>
          </a:xfrm>
          <a:prstGeom prst="rect">
            <a:avLst/>
          </a:prstGeom>
          <a:noFill/>
        </p:spPr>
        <p:txBody>
          <a:bodyPr wrap="square" rtlCol="0">
            <a:spAutoFit/>
          </a:bodyPr>
          <a:lstStyle/>
          <a:p>
            <a:pPr algn="ctr"/>
            <a:r>
              <a:rPr lang="en-US" sz="1000" dirty="0"/>
              <a:t>yes</a:t>
            </a:r>
          </a:p>
        </p:txBody>
      </p:sp>
      <p:sp>
        <p:nvSpPr>
          <p:cNvPr id="388" name="TextBox 387">
            <a:extLst>
              <a:ext uri="{FF2B5EF4-FFF2-40B4-BE49-F238E27FC236}">
                <a16:creationId xmlns:a16="http://schemas.microsoft.com/office/drawing/2014/main" id="{9869363F-3E73-449C-BF5F-E92CFE23D632}"/>
              </a:ext>
            </a:extLst>
          </p:cNvPr>
          <p:cNvSpPr txBox="1"/>
          <p:nvPr/>
        </p:nvSpPr>
        <p:spPr>
          <a:xfrm>
            <a:off x="3073474" y="5772973"/>
            <a:ext cx="441358" cy="246221"/>
          </a:xfrm>
          <a:prstGeom prst="rect">
            <a:avLst/>
          </a:prstGeom>
          <a:noFill/>
        </p:spPr>
        <p:txBody>
          <a:bodyPr wrap="square" rtlCol="0">
            <a:spAutoFit/>
          </a:bodyPr>
          <a:lstStyle/>
          <a:p>
            <a:pPr algn="ctr"/>
            <a:r>
              <a:rPr lang="en-US" sz="1000" dirty="0"/>
              <a:t>yes</a:t>
            </a:r>
          </a:p>
        </p:txBody>
      </p:sp>
      <p:sp>
        <p:nvSpPr>
          <p:cNvPr id="399" name="TextBox 398">
            <a:extLst>
              <a:ext uri="{FF2B5EF4-FFF2-40B4-BE49-F238E27FC236}">
                <a16:creationId xmlns:a16="http://schemas.microsoft.com/office/drawing/2014/main" id="{F3445A7F-8D96-40BA-B4DC-E65C48ED80B5}"/>
              </a:ext>
            </a:extLst>
          </p:cNvPr>
          <p:cNvSpPr txBox="1"/>
          <p:nvPr/>
        </p:nvSpPr>
        <p:spPr>
          <a:xfrm rot="16200000">
            <a:off x="-239443" y="5275919"/>
            <a:ext cx="1628552" cy="261612"/>
          </a:xfrm>
          <a:prstGeom prst="rect">
            <a:avLst/>
          </a:prstGeom>
          <a:solidFill>
            <a:schemeClr val="accent3">
              <a:lumMod val="20000"/>
              <a:lumOff val="80000"/>
            </a:schemeClr>
          </a:solidFill>
        </p:spPr>
        <p:txBody>
          <a:bodyPr wrap="square" rtlCol="0">
            <a:spAutoFit/>
          </a:bodyPr>
          <a:lstStyle/>
          <a:p>
            <a:pPr algn="ctr"/>
            <a:r>
              <a:rPr lang="en-US" sz="1100" dirty="0"/>
              <a:t>Terpenes</a:t>
            </a:r>
          </a:p>
        </p:txBody>
      </p:sp>
      <p:sp>
        <p:nvSpPr>
          <p:cNvPr id="112" name="TextBox 111">
            <a:extLst>
              <a:ext uri="{FF2B5EF4-FFF2-40B4-BE49-F238E27FC236}">
                <a16:creationId xmlns:a16="http://schemas.microsoft.com/office/drawing/2014/main" id="{CAEAC667-EF81-43E7-A894-8CAEB79DFFFA}"/>
              </a:ext>
            </a:extLst>
          </p:cNvPr>
          <p:cNvSpPr txBox="1"/>
          <p:nvPr/>
        </p:nvSpPr>
        <p:spPr>
          <a:xfrm>
            <a:off x="828740" y="3978229"/>
            <a:ext cx="2011680" cy="400110"/>
          </a:xfrm>
          <a:prstGeom prst="rect">
            <a:avLst/>
          </a:prstGeom>
          <a:noFill/>
          <a:ln>
            <a:solidFill>
              <a:schemeClr val="tx1"/>
            </a:solidFill>
          </a:ln>
        </p:spPr>
        <p:txBody>
          <a:bodyPr wrap="square" rtlCol="0">
            <a:spAutoFit/>
          </a:bodyPr>
          <a:lstStyle/>
          <a:p>
            <a:pPr algn="ctr"/>
            <a:r>
              <a:rPr lang="en-US" sz="1000" dirty="0"/>
              <a:t>Is the compound slow reacting (</a:t>
            </a:r>
            <a:r>
              <a:rPr lang="en-US" sz="1000" dirty="0" err="1"/>
              <a:t>k</a:t>
            </a:r>
            <a:r>
              <a:rPr lang="en-US" sz="1000" baseline="-25000" dirty="0" err="1"/>
              <a:t>OH</a:t>
            </a:r>
            <a:r>
              <a:rPr lang="en-US" sz="1000" dirty="0"/>
              <a:t>&lt;3.5×10</a:t>
            </a:r>
            <a:r>
              <a:rPr lang="en-US" sz="1000" baseline="30000" dirty="0"/>
              <a:t>-13 </a:t>
            </a:r>
            <a:r>
              <a:rPr lang="en-US" sz="1000" dirty="0"/>
              <a:t>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a:t>
            </a:r>
          </a:p>
        </p:txBody>
      </p:sp>
      <p:sp>
        <p:nvSpPr>
          <p:cNvPr id="113" name="TextBox 112">
            <a:extLst>
              <a:ext uri="{FF2B5EF4-FFF2-40B4-BE49-F238E27FC236}">
                <a16:creationId xmlns:a16="http://schemas.microsoft.com/office/drawing/2014/main" id="{2608C22F-D1E4-4DA3-9ABB-F13F65EFB657}"/>
              </a:ext>
            </a:extLst>
          </p:cNvPr>
          <p:cNvSpPr txBox="1"/>
          <p:nvPr/>
        </p:nvSpPr>
        <p:spPr>
          <a:xfrm>
            <a:off x="3766328" y="4598557"/>
            <a:ext cx="3601877"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Slow reacting species with lifetime &gt; ~1 month (SLOWROC)</a:t>
            </a:r>
          </a:p>
        </p:txBody>
      </p:sp>
      <p:cxnSp>
        <p:nvCxnSpPr>
          <p:cNvPr id="114" name="Straight Arrow Connector 113">
            <a:extLst>
              <a:ext uri="{FF2B5EF4-FFF2-40B4-BE49-F238E27FC236}">
                <a16:creationId xmlns:a16="http://schemas.microsoft.com/office/drawing/2014/main" id="{E9C2155F-A3E7-4C00-A9F0-B8F572460D22}"/>
              </a:ext>
            </a:extLst>
          </p:cNvPr>
          <p:cNvCxnSpPr>
            <a:cxnSpLocks/>
            <a:stCxn id="112" idx="3"/>
            <a:endCxn id="113" idx="1"/>
          </p:cNvCxnSpPr>
          <p:nvPr/>
        </p:nvCxnSpPr>
        <p:spPr>
          <a:xfrm>
            <a:off x="2840420" y="4178284"/>
            <a:ext cx="925908" cy="6203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30CC62F1-C375-4CB2-8A6C-28A1473890A7}"/>
              </a:ext>
            </a:extLst>
          </p:cNvPr>
          <p:cNvSpPr txBox="1"/>
          <p:nvPr/>
        </p:nvSpPr>
        <p:spPr>
          <a:xfrm>
            <a:off x="3073474" y="3491699"/>
            <a:ext cx="441358" cy="246221"/>
          </a:xfrm>
          <a:prstGeom prst="rect">
            <a:avLst/>
          </a:prstGeom>
          <a:noFill/>
        </p:spPr>
        <p:txBody>
          <a:bodyPr wrap="square" rtlCol="0">
            <a:spAutoFit/>
          </a:bodyPr>
          <a:lstStyle/>
          <a:p>
            <a:pPr algn="ctr"/>
            <a:r>
              <a:rPr lang="en-US" sz="1000" dirty="0"/>
              <a:t>yes</a:t>
            </a:r>
          </a:p>
        </p:txBody>
      </p:sp>
      <p:cxnSp>
        <p:nvCxnSpPr>
          <p:cNvPr id="117" name="Straight Arrow Connector 116">
            <a:extLst>
              <a:ext uri="{FF2B5EF4-FFF2-40B4-BE49-F238E27FC236}">
                <a16:creationId xmlns:a16="http://schemas.microsoft.com/office/drawing/2014/main" id="{9E28C977-91B5-4BB1-9195-E0D2F3D94E78}"/>
              </a:ext>
            </a:extLst>
          </p:cNvPr>
          <p:cNvCxnSpPr>
            <a:cxnSpLocks/>
            <a:stCxn id="112" idx="2"/>
            <a:endCxn id="155" idx="0"/>
          </p:cNvCxnSpPr>
          <p:nvPr/>
        </p:nvCxnSpPr>
        <p:spPr>
          <a:xfrm>
            <a:off x="1834580" y="4378339"/>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B4E520F4-F878-48C7-8DD3-5FA03B58C32D}"/>
              </a:ext>
            </a:extLst>
          </p:cNvPr>
          <p:cNvSpPr txBox="1"/>
          <p:nvPr/>
        </p:nvSpPr>
        <p:spPr>
          <a:xfrm>
            <a:off x="1401799" y="4382772"/>
            <a:ext cx="372047" cy="246221"/>
          </a:xfrm>
          <a:prstGeom prst="rect">
            <a:avLst/>
          </a:prstGeom>
          <a:noFill/>
        </p:spPr>
        <p:txBody>
          <a:bodyPr wrap="square" rtlCol="0">
            <a:spAutoFit/>
          </a:bodyPr>
          <a:lstStyle/>
          <a:p>
            <a:pPr algn="ctr"/>
            <a:r>
              <a:rPr lang="en-US" sz="1000" dirty="0"/>
              <a:t>no</a:t>
            </a:r>
          </a:p>
        </p:txBody>
      </p:sp>
      <p:sp>
        <p:nvSpPr>
          <p:cNvPr id="71" name="TextBox 70">
            <a:extLst>
              <a:ext uri="{FF2B5EF4-FFF2-40B4-BE49-F238E27FC236}">
                <a16:creationId xmlns:a16="http://schemas.microsoft.com/office/drawing/2014/main" id="{CF563C47-87D4-4CDA-8458-25C475D5A9F2}"/>
              </a:ext>
            </a:extLst>
          </p:cNvPr>
          <p:cNvSpPr txBox="1"/>
          <p:nvPr/>
        </p:nvSpPr>
        <p:spPr>
          <a:xfrm>
            <a:off x="828740" y="1521350"/>
            <a:ext cx="2011680" cy="246221"/>
          </a:xfrm>
          <a:prstGeom prst="rect">
            <a:avLst/>
          </a:prstGeom>
          <a:noFill/>
          <a:ln>
            <a:solidFill>
              <a:schemeClr val="tx1"/>
            </a:solidFill>
          </a:ln>
        </p:spPr>
        <p:txBody>
          <a:bodyPr wrap="square" rtlCol="0">
            <a:spAutoFit/>
          </a:bodyPr>
          <a:lstStyle/>
          <a:p>
            <a:pPr algn="ctr"/>
            <a:r>
              <a:rPr lang="en-US" sz="1000" dirty="0"/>
              <a:t>Is the species a ROC species?</a:t>
            </a:r>
          </a:p>
        </p:txBody>
      </p:sp>
      <p:cxnSp>
        <p:nvCxnSpPr>
          <p:cNvPr id="72" name="Straight Arrow Connector 71">
            <a:extLst>
              <a:ext uri="{FF2B5EF4-FFF2-40B4-BE49-F238E27FC236}">
                <a16:creationId xmlns:a16="http://schemas.microsoft.com/office/drawing/2014/main" id="{FE37DAD6-3696-4F0A-BC23-E239CD65830D}"/>
              </a:ext>
            </a:extLst>
          </p:cNvPr>
          <p:cNvCxnSpPr>
            <a:cxnSpLocks/>
            <a:stCxn id="71" idx="2"/>
            <a:endCxn id="7" idx="0"/>
          </p:cNvCxnSpPr>
          <p:nvPr/>
        </p:nvCxnSpPr>
        <p:spPr>
          <a:xfrm>
            <a:off x="1834580" y="1767571"/>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6F16C8AB-660D-4161-BB65-FC5FF03DA441}"/>
              </a:ext>
            </a:extLst>
          </p:cNvPr>
          <p:cNvSpPr txBox="1"/>
          <p:nvPr/>
        </p:nvSpPr>
        <p:spPr>
          <a:xfrm>
            <a:off x="1401799" y="1764773"/>
            <a:ext cx="372047" cy="246221"/>
          </a:xfrm>
          <a:prstGeom prst="rect">
            <a:avLst/>
          </a:prstGeom>
          <a:noFill/>
        </p:spPr>
        <p:txBody>
          <a:bodyPr wrap="square" rtlCol="0">
            <a:spAutoFit/>
          </a:bodyPr>
          <a:lstStyle/>
          <a:p>
            <a:pPr algn="ctr"/>
            <a:r>
              <a:rPr lang="en-US" sz="1000" dirty="0"/>
              <a:t>yes</a:t>
            </a:r>
          </a:p>
        </p:txBody>
      </p:sp>
      <p:cxnSp>
        <p:nvCxnSpPr>
          <p:cNvPr id="74" name="Straight Arrow Connector 73">
            <a:extLst>
              <a:ext uri="{FF2B5EF4-FFF2-40B4-BE49-F238E27FC236}">
                <a16:creationId xmlns:a16="http://schemas.microsoft.com/office/drawing/2014/main" id="{C217BD8C-14FA-4A1D-91BA-CD711E904755}"/>
              </a:ext>
            </a:extLst>
          </p:cNvPr>
          <p:cNvCxnSpPr>
            <a:cxnSpLocks/>
            <a:stCxn id="71" idx="3"/>
            <a:endCxn id="76" idx="1"/>
          </p:cNvCxnSpPr>
          <p:nvPr/>
        </p:nvCxnSpPr>
        <p:spPr>
          <a:xfrm flipV="1">
            <a:off x="2840420" y="1150410"/>
            <a:ext cx="925705" cy="4940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CA52F542-703E-49A4-911C-9989CE3DFD64}"/>
              </a:ext>
            </a:extLst>
          </p:cNvPr>
          <p:cNvSpPr txBox="1"/>
          <p:nvPr/>
        </p:nvSpPr>
        <p:spPr>
          <a:xfrm>
            <a:off x="3073474" y="1472891"/>
            <a:ext cx="441358" cy="246221"/>
          </a:xfrm>
          <a:prstGeom prst="rect">
            <a:avLst/>
          </a:prstGeom>
          <a:noFill/>
        </p:spPr>
        <p:txBody>
          <a:bodyPr wrap="square" rtlCol="0">
            <a:spAutoFit/>
          </a:bodyPr>
          <a:lstStyle/>
          <a:p>
            <a:pPr algn="ctr"/>
            <a:r>
              <a:rPr lang="en-US" sz="1000" dirty="0"/>
              <a:t>no</a:t>
            </a:r>
          </a:p>
        </p:txBody>
      </p:sp>
      <p:sp>
        <p:nvSpPr>
          <p:cNvPr id="76" name="TextBox 75">
            <a:extLst>
              <a:ext uri="{FF2B5EF4-FFF2-40B4-BE49-F238E27FC236}">
                <a16:creationId xmlns:a16="http://schemas.microsoft.com/office/drawing/2014/main" id="{4DBBE78B-4BE3-462A-85F0-3FBF360C0F41}"/>
              </a:ext>
            </a:extLst>
          </p:cNvPr>
          <p:cNvSpPr txBox="1"/>
          <p:nvPr/>
        </p:nvSpPr>
        <p:spPr>
          <a:xfrm>
            <a:off x="3766125" y="1027299"/>
            <a:ext cx="3602057" cy="246221"/>
          </a:xfrm>
          <a:prstGeom prst="rect">
            <a:avLst/>
          </a:prstGeom>
          <a:noFill/>
          <a:ln>
            <a:solidFill>
              <a:schemeClr val="tx1"/>
            </a:solidFill>
            <a:prstDash val="dashDot"/>
          </a:ln>
        </p:spPr>
        <p:txBody>
          <a:bodyPr wrap="square" numCol="1" rtlCol="0">
            <a:spAutoFit/>
          </a:bodyPr>
          <a:lstStyle/>
          <a:p>
            <a:r>
              <a:rPr lang="en-US" sz="1000" dirty="0"/>
              <a:t>Species is unknown (UNKSMILES) or not ROC (UNKCRACMM)</a:t>
            </a:r>
          </a:p>
        </p:txBody>
      </p:sp>
      <p:sp>
        <p:nvSpPr>
          <p:cNvPr id="83" name="TextBox 82">
            <a:extLst>
              <a:ext uri="{FF2B5EF4-FFF2-40B4-BE49-F238E27FC236}">
                <a16:creationId xmlns:a16="http://schemas.microsoft.com/office/drawing/2014/main" id="{5111F490-A97E-4928-8E0C-AFD92CEE1D80}"/>
              </a:ext>
            </a:extLst>
          </p:cNvPr>
          <p:cNvSpPr txBox="1"/>
          <p:nvPr/>
        </p:nvSpPr>
        <p:spPr>
          <a:xfrm>
            <a:off x="828740" y="2749789"/>
            <a:ext cx="2011680" cy="400110"/>
          </a:xfrm>
          <a:prstGeom prst="rect">
            <a:avLst/>
          </a:prstGeom>
          <a:noFill/>
          <a:ln>
            <a:solidFill>
              <a:schemeClr val="tx1"/>
            </a:solidFill>
          </a:ln>
        </p:spPr>
        <p:txBody>
          <a:bodyPr wrap="square" rtlCol="0">
            <a:spAutoFit/>
          </a:bodyPr>
          <a:lstStyle/>
          <a:p>
            <a:pPr algn="ctr"/>
            <a:r>
              <a:rPr lang="en-US" sz="1000" dirty="0"/>
              <a:t>Is the compound 2 carbons with more than one aldehyde?</a:t>
            </a:r>
          </a:p>
        </p:txBody>
      </p:sp>
      <p:sp>
        <p:nvSpPr>
          <p:cNvPr id="84" name="TextBox 83">
            <a:extLst>
              <a:ext uri="{FF2B5EF4-FFF2-40B4-BE49-F238E27FC236}">
                <a16:creationId xmlns:a16="http://schemas.microsoft.com/office/drawing/2014/main" id="{5BA76B4C-22C2-4C47-BB51-EEF528DF3EE2}"/>
              </a:ext>
            </a:extLst>
          </p:cNvPr>
          <p:cNvSpPr txBox="1"/>
          <p:nvPr/>
        </p:nvSpPr>
        <p:spPr>
          <a:xfrm>
            <a:off x="3766330" y="3563476"/>
            <a:ext cx="3601875"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Glyoxal and similar species like </a:t>
            </a:r>
            <a:r>
              <a:rPr lang="en-US" sz="1000" dirty="0" err="1"/>
              <a:t>glycoaldehyde</a:t>
            </a:r>
            <a:r>
              <a:rPr lang="en-US" sz="1000" dirty="0"/>
              <a:t> (GLY)</a:t>
            </a:r>
          </a:p>
        </p:txBody>
      </p:sp>
      <p:cxnSp>
        <p:nvCxnSpPr>
          <p:cNvPr id="85" name="Straight Arrow Connector 84">
            <a:extLst>
              <a:ext uri="{FF2B5EF4-FFF2-40B4-BE49-F238E27FC236}">
                <a16:creationId xmlns:a16="http://schemas.microsoft.com/office/drawing/2014/main" id="{A074F7BB-DED0-4F34-AFC5-649CD39B3B68}"/>
              </a:ext>
            </a:extLst>
          </p:cNvPr>
          <p:cNvCxnSpPr>
            <a:cxnSpLocks/>
            <a:stCxn id="83" idx="3"/>
            <a:endCxn id="84" idx="1"/>
          </p:cNvCxnSpPr>
          <p:nvPr/>
        </p:nvCxnSpPr>
        <p:spPr>
          <a:xfrm>
            <a:off x="2840420" y="2949844"/>
            <a:ext cx="925910" cy="813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2795F619-F152-4DCB-A07B-818873EEEF42}"/>
              </a:ext>
            </a:extLst>
          </p:cNvPr>
          <p:cNvSpPr txBox="1"/>
          <p:nvPr/>
        </p:nvSpPr>
        <p:spPr>
          <a:xfrm>
            <a:off x="3073474" y="2943827"/>
            <a:ext cx="441358" cy="246221"/>
          </a:xfrm>
          <a:prstGeom prst="rect">
            <a:avLst/>
          </a:prstGeom>
          <a:noFill/>
        </p:spPr>
        <p:txBody>
          <a:bodyPr wrap="square" rtlCol="0">
            <a:spAutoFit/>
          </a:bodyPr>
          <a:lstStyle/>
          <a:p>
            <a:pPr algn="ctr"/>
            <a:r>
              <a:rPr lang="en-US" sz="1000" dirty="0"/>
              <a:t>yes</a:t>
            </a:r>
          </a:p>
        </p:txBody>
      </p:sp>
      <p:cxnSp>
        <p:nvCxnSpPr>
          <p:cNvPr id="89" name="Straight Arrow Connector 88">
            <a:extLst>
              <a:ext uri="{FF2B5EF4-FFF2-40B4-BE49-F238E27FC236}">
                <a16:creationId xmlns:a16="http://schemas.microsoft.com/office/drawing/2014/main" id="{EE511E73-FF8C-48FB-96E2-FBC8254B2258}"/>
              </a:ext>
            </a:extLst>
          </p:cNvPr>
          <p:cNvCxnSpPr>
            <a:cxnSpLocks/>
            <a:stCxn id="83" idx="2"/>
            <a:endCxn id="95" idx="0"/>
          </p:cNvCxnSpPr>
          <p:nvPr/>
        </p:nvCxnSpPr>
        <p:spPr>
          <a:xfrm>
            <a:off x="1834580" y="3149899"/>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73A92DF0-5AEA-4389-B658-84C3D9452565}"/>
              </a:ext>
            </a:extLst>
          </p:cNvPr>
          <p:cNvSpPr txBox="1"/>
          <p:nvPr/>
        </p:nvSpPr>
        <p:spPr>
          <a:xfrm>
            <a:off x="1401799" y="3151078"/>
            <a:ext cx="372047" cy="246221"/>
          </a:xfrm>
          <a:prstGeom prst="rect">
            <a:avLst/>
          </a:prstGeom>
          <a:noFill/>
        </p:spPr>
        <p:txBody>
          <a:bodyPr wrap="square" rtlCol="0">
            <a:spAutoFit/>
          </a:bodyPr>
          <a:lstStyle/>
          <a:p>
            <a:pPr algn="ctr"/>
            <a:r>
              <a:rPr lang="en-US" sz="1000" dirty="0"/>
              <a:t>no</a:t>
            </a:r>
          </a:p>
        </p:txBody>
      </p:sp>
      <p:sp>
        <p:nvSpPr>
          <p:cNvPr id="95" name="TextBox 94">
            <a:extLst>
              <a:ext uri="{FF2B5EF4-FFF2-40B4-BE49-F238E27FC236}">
                <a16:creationId xmlns:a16="http://schemas.microsoft.com/office/drawing/2014/main" id="{C9001A43-1939-4A9D-9777-D8E1E3F33D01}"/>
              </a:ext>
            </a:extLst>
          </p:cNvPr>
          <p:cNvSpPr txBox="1"/>
          <p:nvPr/>
        </p:nvSpPr>
        <p:spPr>
          <a:xfrm>
            <a:off x="828740" y="3364009"/>
            <a:ext cx="2011680" cy="400110"/>
          </a:xfrm>
          <a:prstGeom prst="rect">
            <a:avLst/>
          </a:prstGeom>
          <a:noFill/>
          <a:ln>
            <a:solidFill>
              <a:schemeClr val="tx1"/>
            </a:solidFill>
          </a:ln>
        </p:spPr>
        <p:txBody>
          <a:bodyPr wrap="square" rtlCol="0">
            <a:spAutoFit/>
          </a:bodyPr>
          <a:lstStyle/>
          <a:p>
            <a:pPr algn="ctr"/>
            <a:r>
              <a:rPr lang="en-US" sz="1000" dirty="0"/>
              <a:t>Is the compound 3 carbons with 2 alcohol groups?</a:t>
            </a:r>
          </a:p>
        </p:txBody>
      </p:sp>
      <p:sp>
        <p:nvSpPr>
          <p:cNvPr id="96" name="TextBox 95">
            <a:extLst>
              <a:ext uri="{FF2B5EF4-FFF2-40B4-BE49-F238E27FC236}">
                <a16:creationId xmlns:a16="http://schemas.microsoft.com/office/drawing/2014/main" id="{B6F0A292-28C3-462D-9B36-84C162AFF9D6}"/>
              </a:ext>
            </a:extLst>
          </p:cNvPr>
          <p:cNvSpPr txBox="1"/>
          <p:nvPr/>
        </p:nvSpPr>
        <p:spPr>
          <a:xfrm>
            <a:off x="3766330" y="4092756"/>
            <a:ext cx="3601875" cy="400110"/>
          </a:xfrm>
          <a:prstGeom prst="rect">
            <a:avLst/>
          </a:prstGeom>
          <a:noFill/>
          <a:ln>
            <a:solidFill>
              <a:schemeClr val="tx1"/>
            </a:solidFill>
            <a:prstDash val="dashDot"/>
          </a:ln>
        </p:spPr>
        <p:txBody>
          <a:bodyPr wrap="square" numCol="1" rtlCol="0">
            <a:spAutoFit/>
          </a:bodyPr>
          <a:lstStyle/>
          <a:p>
            <a:r>
              <a:rPr lang="en-US" sz="1000" u="sng" dirty="0" err="1"/>
              <a:t>Semiexplicit</a:t>
            </a:r>
            <a:r>
              <a:rPr lang="en-US" sz="1000" u="sng" dirty="0"/>
              <a:t> species</a:t>
            </a:r>
          </a:p>
          <a:p>
            <a:r>
              <a:rPr lang="en-US" sz="1000" dirty="0"/>
              <a:t>Propylene glycol and other 3 carbon </a:t>
            </a:r>
            <a:r>
              <a:rPr lang="en-US" sz="1000" dirty="0" err="1"/>
              <a:t>dialcohols</a:t>
            </a:r>
            <a:r>
              <a:rPr lang="en-US" sz="1000" dirty="0"/>
              <a:t> (PROG)</a:t>
            </a:r>
          </a:p>
        </p:txBody>
      </p:sp>
      <p:sp>
        <p:nvSpPr>
          <p:cNvPr id="97" name="TextBox 96">
            <a:extLst>
              <a:ext uri="{FF2B5EF4-FFF2-40B4-BE49-F238E27FC236}">
                <a16:creationId xmlns:a16="http://schemas.microsoft.com/office/drawing/2014/main" id="{7C4036D0-D4D1-4C23-B371-6B14B6B44688}"/>
              </a:ext>
            </a:extLst>
          </p:cNvPr>
          <p:cNvSpPr txBox="1"/>
          <p:nvPr/>
        </p:nvSpPr>
        <p:spPr>
          <a:xfrm>
            <a:off x="3073474" y="4067415"/>
            <a:ext cx="441358" cy="246221"/>
          </a:xfrm>
          <a:prstGeom prst="rect">
            <a:avLst/>
          </a:prstGeom>
          <a:noFill/>
        </p:spPr>
        <p:txBody>
          <a:bodyPr wrap="square" rtlCol="0">
            <a:spAutoFit/>
          </a:bodyPr>
          <a:lstStyle/>
          <a:p>
            <a:pPr algn="ctr"/>
            <a:r>
              <a:rPr lang="en-US" sz="1000" dirty="0"/>
              <a:t>yes</a:t>
            </a:r>
          </a:p>
        </p:txBody>
      </p:sp>
      <p:cxnSp>
        <p:nvCxnSpPr>
          <p:cNvPr id="99" name="Straight Arrow Connector 98">
            <a:extLst>
              <a:ext uri="{FF2B5EF4-FFF2-40B4-BE49-F238E27FC236}">
                <a16:creationId xmlns:a16="http://schemas.microsoft.com/office/drawing/2014/main" id="{6539FF55-F984-4351-B390-67F21F08211A}"/>
              </a:ext>
            </a:extLst>
          </p:cNvPr>
          <p:cNvCxnSpPr>
            <a:cxnSpLocks/>
            <a:stCxn id="95" idx="2"/>
            <a:endCxn id="112" idx="0"/>
          </p:cNvCxnSpPr>
          <p:nvPr/>
        </p:nvCxnSpPr>
        <p:spPr>
          <a:xfrm>
            <a:off x="1834580" y="3764119"/>
            <a:ext cx="0" cy="21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8D6570BC-2DC7-4F90-9B82-B0BB142977F3}"/>
              </a:ext>
            </a:extLst>
          </p:cNvPr>
          <p:cNvSpPr txBox="1"/>
          <p:nvPr/>
        </p:nvSpPr>
        <p:spPr>
          <a:xfrm>
            <a:off x="1401799" y="3751375"/>
            <a:ext cx="372047" cy="246221"/>
          </a:xfrm>
          <a:prstGeom prst="rect">
            <a:avLst/>
          </a:prstGeom>
          <a:noFill/>
        </p:spPr>
        <p:txBody>
          <a:bodyPr wrap="square" rtlCol="0">
            <a:spAutoFit/>
          </a:bodyPr>
          <a:lstStyle/>
          <a:p>
            <a:pPr algn="ctr"/>
            <a:r>
              <a:rPr lang="en-US" sz="1000" dirty="0"/>
              <a:t>no</a:t>
            </a:r>
          </a:p>
        </p:txBody>
      </p:sp>
      <p:cxnSp>
        <p:nvCxnSpPr>
          <p:cNvPr id="105" name="Straight Arrow Connector 104">
            <a:extLst>
              <a:ext uri="{FF2B5EF4-FFF2-40B4-BE49-F238E27FC236}">
                <a16:creationId xmlns:a16="http://schemas.microsoft.com/office/drawing/2014/main" id="{44F6E2BC-0265-4FEE-9E59-0D9F330C6A88}"/>
              </a:ext>
            </a:extLst>
          </p:cNvPr>
          <p:cNvCxnSpPr>
            <a:cxnSpLocks/>
            <a:stCxn id="95" idx="3"/>
            <a:endCxn id="96" idx="1"/>
          </p:cNvCxnSpPr>
          <p:nvPr/>
        </p:nvCxnSpPr>
        <p:spPr>
          <a:xfrm>
            <a:off x="2840420" y="3564064"/>
            <a:ext cx="925910" cy="7287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E3499FF7-595E-4D50-B252-5692B1D70141}"/>
              </a:ext>
            </a:extLst>
          </p:cNvPr>
          <p:cNvSpPr txBox="1"/>
          <p:nvPr/>
        </p:nvSpPr>
        <p:spPr>
          <a:xfrm rot="16200000">
            <a:off x="-292835" y="2765647"/>
            <a:ext cx="1735337" cy="261610"/>
          </a:xfrm>
          <a:prstGeom prst="rect">
            <a:avLst/>
          </a:prstGeom>
          <a:solidFill>
            <a:schemeClr val="accent3">
              <a:lumMod val="20000"/>
              <a:lumOff val="80000"/>
            </a:schemeClr>
          </a:solidFill>
        </p:spPr>
        <p:txBody>
          <a:bodyPr wrap="square" rtlCol="0">
            <a:spAutoFit/>
          </a:bodyPr>
          <a:lstStyle/>
          <a:p>
            <a:pPr algn="ctr"/>
            <a:r>
              <a:rPr lang="en-US" sz="1100" dirty="0"/>
              <a:t>Explicit and </a:t>
            </a:r>
            <a:r>
              <a:rPr lang="en-US" sz="1100" dirty="0" err="1"/>
              <a:t>Semiexplicit</a:t>
            </a:r>
            <a:endParaRPr lang="en-US" sz="1100" dirty="0"/>
          </a:p>
        </p:txBody>
      </p:sp>
      <p:sp>
        <p:nvSpPr>
          <p:cNvPr id="2" name="TextBox 1">
            <a:extLst>
              <a:ext uri="{FF2B5EF4-FFF2-40B4-BE49-F238E27FC236}">
                <a16:creationId xmlns:a16="http://schemas.microsoft.com/office/drawing/2014/main" id="{1E7BE3CC-8050-479F-9182-D706A236E89F}"/>
              </a:ext>
            </a:extLst>
          </p:cNvPr>
          <p:cNvSpPr txBox="1"/>
          <p:nvPr/>
        </p:nvSpPr>
        <p:spPr>
          <a:xfrm>
            <a:off x="1209312" y="57345"/>
            <a:ext cx="5379227" cy="369332"/>
          </a:xfrm>
          <a:prstGeom prst="rect">
            <a:avLst/>
          </a:prstGeom>
          <a:noFill/>
        </p:spPr>
        <p:txBody>
          <a:bodyPr wrap="square" rtlCol="0">
            <a:spAutoFit/>
          </a:bodyPr>
          <a:lstStyle/>
          <a:p>
            <a:pPr algn="ctr"/>
            <a:r>
              <a:rPr lang="en-US" dirty="0"/>
              <a:t>CRACMMv3.0 Emissions Mapping, Updated 6/8/2026</a:t>
            </a:r>
          </a:p>
        </p:txBody>
      </p:sp>
      <p:sp>
        <p:nvSpPr>
          <p:cNvPr id="3" name="Slide Number Placeholder 2">
            <a:extLst>
              <a:ext uri="{FF2B5EF4-FFF2-40B4-BE49-F238E27FC236}">
                <a16:creationId xmlns:a16="http://schemas.microsoft.com/office/drawing/2014/main" id="{CCB28B61-3667-4CA2-8698-9C93DBAF2AC7}"/>
              </a:ext>
            </a:extLst>
          </p:cNvPr>
          <p:cNvSpPr>
            <a:spLocks noGrp="1"/>
          </p:cNvSpPr>
          <p:nvPr>
            <p:ph type="sldNum" sz="quarter" idx="12"/>
          </p:nvPr>
        </p:nvSpPr>
        <p:spPr>
          <a:xfrm>
            <a:off x="5895658" y="9529954"/>
            <a:ext cx="1748790" cy="535517"/>
          </a:xfrm>
        </p:spPr>
        <p:txBody>
          <a:bodyPr/>
          <a:lstStyle/>
          <a:p>
            <a:fld id="{F63DDF90-292E-431C-AB59-D6C96D26AA84}" type="slidenum">
              <a:rPr lang="en-US" smtClean="0"/>
              <a:t>1</a:t>
            </a:fld>
            <a:endParaRPr lang="en-US" dirty="0"/>
          </a:p>
        </p:txBody>
      </p:sp>
      <p:sp>
        <p:nvSpPr>
          <p:cNvPr id="9" name="TextBox 8">
            <a:extLst>
              <a:ext uri="{FF2B5EF4-FFF2-40B4-BE49-F238E27FC236}">
                <a16:creationId xmlns:a16="http://schemas.microsoft.com/office/drawing/2014/main" id="{CBB361B8-0B0F-918B-1BD4-07774491D1E7}"/>
              </a:ext>
            </a:extLst>
          </p:cNvPr>
          <p:cNvSpPr txBox="1"/>
          <p:nvPr/>
        </p:nvSpPr>
        <p:spPr>
          <a:xfrm>
            <a:off x="828176" y="6435107"/>
            <a:ext cx="2011680" cy="246221"/>
          </a:xfrm>
          <a:prstGeom prst="rect">
            <a:avLst/>
          </a:prstGeom>
          <a:noFill/>
          <a:ln>
            <a:solidFill>
              <a:schemeClr val="tx1"/>
            </a:solidFill>
          </a:ln>
        </p:spPr>
        <p:txBody>
          <a:bodyPr wrap="square" rtlCol="0">
            <a:spAutoFit/>
          </a:bodyPr>
          <a:lstStyle/>
          <a:p>
            <a:pPr algn="ctr"/>
            <a:r>
              <a:rPr lang="en-US" sz="1000" dirty="0"/>
              <a:t>Is the compound a furan?</a:t>
            </a:r>
          </a:p>
        </p:txBody>
      </p:sp>
      <p:cxnSp>
        <p:nvCxnSpPr>
          <p:cNvPr id="10" name="Straight Arrow Connector 9">
            <a:extLst>
              <a:ext uri="{FF2B5EF4-FFF2-40B4-BE49-F238E27FC236}">
                <a16:creationId xmlns:a16="http://schemas.microsoft.com/office/drawing/2014/main" id="{E975E5BA-87EE-A6A2-9E0A-D4AD111AD2A9}"/>
              </a:ext>
            </a:extLst>
          </p:cNvPr>
          <p:cNvCxnSpPr>
            <a:cxnSpLocks/>
            <a:stCxn id="9" idx="2"/>
            <a:endCxn id="33" idx="0"/>
          </p:cNvCxnSpPr>
          <p:nvPr/>
        </p:nvCxnSpPr>
        <p:spPr>
          <a:xfrm>
            <a:off x="1834016" y="6681328"/>
            <a:ext cx="3" cy="289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B5CB99F-4479-1D54-1617-1771F4D92F2A}"/>
              </a:ext>
            </a:extLst>
          </p:cNvPr>
          <p:cNvCxnSpPr>
            <a:cxnSpLocks/>
            <a:endCxn id="31" idx="1"/>
          </p:cNvCxnSpPr>
          <p:nvPr/>
        </p:nvCxnSpPr>
        <p:spPr>
          <a:xfrm>
            <a:off x="2840420" y="6480710"/>
            <a:ext cx="907466" cy="4716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BA49291-97D7-C9CF-EA89-5912B3D8C9FC}"/>
              </a:ext>
            </a:extLst>
          </p:cNvPr>
          <p:cNvSpPr txBox="1"/>
          <p:nvPr/>
        </p:nvSpPr>
        <p:spPr>
          <a:xfrm>
            <a:off x="3073474" y="6269541"/>
            <a:ext cx="441358" cy="246221"/>
          </a:xfrm>
          <a:prstGeom prst="rect">
            <a:avLst/>
          </a:prstGeom>
          <a:noFill/>
        </p:spPr>
        <p:txBody>
          <a:bodyPr wrap="square" rtlCol="0">
            <a:spAutoFit/>
          </a:bodyPr>
          <a:lstStyle/>
          <a:p>
            <a:pPr algn="ctr"/>
            <a:r>
              <a:rPr lang="en-US" sz="1000" dirty="0"/>
              <a:t>yes</a:t>
            </a:r>
          </a:p>
        </p:txBody>
      </p:sp>
      <p:sp>
        <p:nvSpPr>
          <p:cNvPr id="31" name="TextBox 30">
            <a:extLst>
              <a:ext uri="{FF2B5EF4-FFF2-40B4-BE49-F238E27FC236}">
                <a16:creationId xmlns:a16="http://schemas.microsoft.com/office/drawing/2014/main" id="{96D1F944-1D86-EA56-79F1-5A066E59FE44}"/>
              </a:ext>
            </a:extLst>
          </p:cNvPr>
          <p:cNvSpPr txBox="1"/>
          <p:nvPr/>
        </p:nvSpPr>
        <p:spPr>
          <a:xfrm>
            <a:off x="3747886" y="6752286"/>
            <a:ext cx="3601877"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Furans and other dienes (FURAN)</a:t>
            </a:r>
          </a:p>
        </p:txBody>
      </p:sp>
      <p:sp>
        <p:nvSpPr>
          <p:cNvPr id="32" name="TextBox 31">
            <a:extLst>
              <a:ext uri="{FF2B5EF4-FFF2-40B4-BE49-F238E27FC236}">
                <a16:creationId xmlns:a16="http://schemas.microsoft.com/office/drawing/2014/main" id="{1C099246-DF0C-952B-2A04-FDD135F0D3A9}"/>
              </a:ext>
            </a:extLst>
          </p:cNvPr>
          <p:cNvSpPr txBox="1"/>
          <p:nvPr/>
        </p:nvSpPr>
        <p:spPr>
          <a:xfrm>
            <a:off x="1401799" y="6685914"/>
            <a:ext cx="372047" cy="246221"/>
          </a:xfrm>
          <a:prstGeom prst="rect">
            <a:avLst/>
          </a:prstGeom>
          <a:noFill/>
        </p:spPr>
        <p:txBody>
          <a:bodyPr wrap="square" rtlCol="0">
            <a:spAutoFit/>
          </a:bodyPr>
          <a:lstStyle/>
          <a:p>
            <a:pPr algn="ctr"/>
            <a:r>
              <a:rPr lang="en-US" sz="1000" dirty="0"/>
              <a:t>no</a:t>
            </a:r>
          </a:p>
        </p:txBody>
      </p:sp>
      <p:sp>
        <p:nvSpPr>
          <p:cNvPr id="33" name="TextBox 32">
            <a:extLst>
              <a:ext uri="{FF2B5EF4-FFF2-40B4-BE49-F238E27FC236}">
                <a16:creationId xmlns:a16="http://schemas.microsoft.com/office/drawing/2014/main" id="{B35529AE-4B2F-5137-5151-5AE6AEFEB311}"/>
              </a:ext>
            </a:extLst>
          </p:cNvPr>
          <p:cNvSpPr txBox="1"/>
          <p:nvPr/>
        </p:nvSpPr>
        <p:spPr>
          <a:xfrm>
            <a:off x="828181" y="6970544"/>
            <a:ext cx="2011675" cy="246221"/>
          </a:xfrm>
          <a:prstGeom prst="rect">
            <a:avLst/>
          </a:prstGeom>
          <a:solidFill>
            <a:schemeClr val="bg2"/>
          </a:solidFill>
          <a:ln w="9525">
            <a:solidFill>
              <a:schemeClr val="tx1"/>
            </a:solidFill>
            <a:prstDash val="solid"/>
          </a:ln>
        </p:spPr>
        <p:txBody>
          <a:bodyPr wrap="square" numCol="1" rtlCol="0">
            <a:spAutoFit/>
          </a:bodyPr>
          <a:lstStyle/>
          <a:p>
            <a:pPr algn="ctr"/>
            <a:r>
              <a:rPr lang="en-US" sz="1000" dirty="0"/>
              <a:t>Continue to Schematic A</a:t>
            </a:r>
          </a:p>
        </p:txBody>
      </p:sp>
      <p:sp>
        <p:nvSpPr>
          <p:cNvPr id="36" name="TextBox 35">
            <a:extLst>
              <a:ext uri="{FF2B5EF4-FFF2-40B4-BE49-F238E27FC236}">
                <a16:creationId xmlns:a16="http://schemas.microsoft.com/office/drawing/2014/main" id="{E7A28258-D196-3BB9-DE97-1C352065C580}"/>
              </a:ext>
            </a:extLst>
          </p:cNvPr>
          <p:cNvSpPr txBox="1"/>
          <p:nvPr/>
        </p:nvSpPr>
        <p:spPr>
          <a:xfrm>
            <a:off x="271775" y="9250955"/>
            <a:ext cx="7372673" cy="769441"/>
          </a:xfrm>
          <a:prstGeom prst="rect">
            <a:avLst/>
          </a:prstGeom>
          <a:noFill/>
        </p:spPr>
        <p:txBody>
          <a:bodyPr wrap="square" rtlCol="0">
            <a:spAutoFit/>
          </a:bodyPr>
          <a:lstStyle/>
          <a:p>
            <a:r>
              <a:rPr lang="en-US" sz="1100" dirty="0">
                <a:highlight>
                  <a:srgbClr val="FFFF00"/>
                </a:highlight>
              </a:rPr>
              <a:t>Functional updates to the </a:t>
            </a:r>
            <a:r>
              <a:rPr lang="en-US" sz="1100" dirty="0" err="1">
                <a:highlight>
                  <a:srgbClr val="FFFF00"/>
                </a:highlight>
              </a:rPr>
              <a:t>cracmm</a:t>
            </a:r>
            <a:r>
              <a:rPr lang="en-US" sz="1100" dirty="0">
                <a:highlight>
                  <a:srgbClr val="FFFF00"/>
                </a:highlight>
              </a:rPr>
              <a:t> mapper for CRACMM3 highlighted in yellow. </a:t>
            </a:r>
          </a:p>
          <a:p>
            <a:r>
              <a:rPr lang="en-US" sz="1100" dirty="0">
                <a:highlight>
                  <a:srgbClr val="FFFF00"/>
                </a:highlight>
              </a:rPr>
              <a:t>The mapper can map to CRACMM3 or CRACMM3M. The only difference in CRACMM3M is explicit CH3I.</a:t>
            </a:r>
          </a:p>
          <a:p>
            <a:endParaRPr lang="en-US" sz="1100" dirty="0"/>
          </a:p>
          <a:p>
            <a:endParaRPr lang="en-US" sz="1100" dirty="0">
              <a:highlight>
                <a:srgbClr val="FFFF00"/>
              </a:highlight>
            </a:endParaRPr>
          </a:p>
        </p:txBody>
      </p:sp>
    </p:spTree>
    <p:extLst>
      <p:ext uri="{BB962C8B-B14F-4D97-AF65-F5344CB8AC3E}">
        <p14:creationId xmlns:p14="http://schemas.microsoft.com/office/powerpoint/2010/main" val="3878932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C1F666-BD36-1B5D-736C-5C162E7C9FB8}"/>
              </a:ext>
            </a:extLst>
          </p:cNvPr>
          <p:cNvSpPr>
            <a:spLocks noGrp="1"/>
          </p:cNvSpPr>
          <p:nvPr>
            <p:ph type="sldNum" sz="quarter" idx="12"/>
          </p:nvPr>
        </p:nvSpPr>
        <p:spPr/>
        <p:txBody>
          <a:bodyPr/>
          <a:lstStyle/>
          <a:p>
            <a:fld id="{F63DDF90-292E-431C-AB59-D6C96D26AA84}" type="slidenum">
              <a:rPr lang="en-US" smtClean="0"/>
              <a:t>2</a:t>
            </a:fld>
            <a:endParaRPr lang="en-US"/>
          </a:p>
        </p:txBody>
      </p:sp>
      <p:sp>
        <p:nvSpPr>
          <p:cNvPr id="50" name="TextBox 49">
            <a:extLst>
              <a:ext uri="{FF2B5EF4-FFF2-40B4-BE49-F238E27FC236}">
                <a16:creationId xmlns:a16="http://schemas.microsoft.com/office/drawing/2014/main" id="{8F703E31-5F21-4E9E-9D89-3412F1A5A6D8}"/>
              </a:ext>
            </a:extLst>
          </p:cNvPr>
          <p:cNvSpPr txBox="1"/>
          <p:nvPr/>
        </p:nvSpPr>
        <p:spPr>
          <a:xfrm>
            <a:off x="698581" y="6247415"/>
            <a:ext cx="2011680" cy="400110"/>
          </a:xfrm>
          <a:prstGeom prst="rect">
            <a:avLst/>
          </a:prstGeom>
          <a:noFill/>
          <a:ln>
            <a:solidFill>
              <a:schemeClr val="tx1"/>
            </a:solidFill>
          </a:ln>
        </p:spPr>
        <p:txBody>
          <a:bodyPr wrap="square" rtlCol="0">
            <a:spAutoFit/>
          </a:bodyPr>
          <a:lstStyle/>
          <a:p>
            <a:pPr algn="ctr"/>
            <a:r>
              <a:rPr lang="en-US" sz="1000" dirty="0"/>
              <a:t>Does the compound have 1 aromatic benzene ring?</a:t>
            </a:r>
          </a:p>
        </p:txBody>
      </p:sp>
      <p:cxnSp>
        <p:nvCxnSpPr>
          <p:cNvPr id="60" name="Straight Arrow Connector 59">
            <a:extLst>
              <a:ext uri="{FF2B5EF4-FFF2-40B4-BE49-F238E27FC236}">
                <a16:creationId xmlns:a16="http://schemas.microsoft.com/office/drawing/2014/main" id="{3991C7C5-3191-4D3A-A3B7-42433969CA38}"/>
              </a:ext>
            </a:extLst>
          </p:cNvPr>
          <p:cNvCxnSpPr>
            <a:cxnSpLocks/>
            <a:stCxn id="138" idx="2"/>
            <a:endCxn id="50" idx="0"/>
          </p:cNvCxnSpPr>
          <p:nvPr/>
        </p:nvCxnSpPr>
        <p:spPr>
          <a:xfrm>
            <a:off x="1704421" y="5816164"/>
            <a:ext cx="0" cy="431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DB9B4BE-5016-4A71-BD67-673375A962C6}"/>
              </a:ext>
            </a:extLst>
          </p:cNvPr>
          <p:cNvCxnSpPr>
            <a:cxnSpLocks/>
            <a:stCxn id="50" idx="3"/>
            <a:endCxn id="82" idx="1"/>
          </p:cNvCxnSpPr>
          <p:nvPr/>
        </p:nvCxnSpPr>
        <p:spPr>
          <a:xfrm>
            <a:off x="2710261" y="6447470"/>
            <a:ext cx="925908" cy="2063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82107F94-478A-4424-9AB5-B8A681994968}"/>
              </a:ext>
            </a:extLst>
          </p:cNvPr>
          <p:cNvSpPr txBox="1"/>
          <p:nvPr/>
        </p:nvSpPr>
        <p:spPr>
          <a:xfrm>
            <a:off x="3636169" y="6529872"/>
            <a:ext cx="3601877" cy="247863"/>
          </a:xfrm>
          <a:prstGeom prst="rect">
            <a:avLst/>
          </a:prstGeom>
          <a:solidFill>
            <a:schemeClr val="accent6">
              <a:lumMod val="20000"/>
              <a:lumOff val="80000"/>
            </a:schemeClr>
          </a:solidFill>
          <a:ln w="9525">
            <a:solidFill>
              <a:schemeClr val="tx1"/>
            </a:solidFill>
            <a:prstDash val="solid"/>
          </a:ln>
        </p:spPr>
        <p:txBody>
          <a:bodyPr wrap="square" numCol="1" rtlCol="0">
            <a:spAutoFit/>
          </a:bodyPr>
          <a:lstStyle/>
          <a:p>
            <a:pPr algn="ctr"/>
            <a:r>
              <a:rPr lang="en-US" sz="1000" dirty="0"/>
              <a:t>Go to schematic C for species without aromatic rings </a:t>
            </a:r>
          </a:p>
        </p:txBody>
      </p:sp>
      <p:cxnSp>
        <p:nvCxnSpPr>
          <p:cNvPr id="93" name="Straight Arrow Connector 92">
            <a:extLst>
              <a:ext uri="{FF2B5EF4-FFF2-40B4-BE49-F238E27FC236}">
                <a16:creationId xmlns:a16="http://schemas.microsoft.com/office/drawing/2014/main" id="{D1AAD109-B565-4660-89EC-4E551C6CE57B}"/>
              </a:ext>
            </a:extLst>
          </p:cNvPr>
          <p:cNvCxnSpPr>
            <a:cxnSpLocks/>
            <a:endCxn id="8" idx="0"/>
          </p:cNvCxnSpPr>
          <p:nvPr/>
        </p:nvCxnSpPr>
        <p:spPr>
          <a:xfrm>
            <a:off x="1704421" y="1659362"/>
            <a:ext cx="0" cy="431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7" name="TextBox 366">
            <a:extLst>
              <a:ext uri="{FF2B5EF4-FFF2-40B4-BE49-F238E27FC236}">
                <a16:creationId xmlns:a16="http://schemas.microsoft.com/office/drawing/2014/main" id="{17D5DB22-D766-4D4A-B19C-4A6799CC1FE7}"/>
              </a:ext>
            </a:extLst>
          </p:cNvPr>
          <p:cNvSpPr txBox="1"/>
          <p:nvPr/>
        </p:nvSpPr>
        <p:spPr>
          <a:xfrm>
            <a:off x="1271076" y="5844451"/>
            <a:ext cx="372047" cy="246221"/>
          </a:xfrm>
          <a:prstGeom prst="rect">
            <a:avLst/>
          </a:prstGeom>
          <a:noFill/>
        </p:spPr>
        <p:txBody>
          <a:bodyPr wrap="square" rtlCol="0">
            <a:spAutoFit/>
          </a:bodyPr>
          <a:lstStyle/>
          <a:p>
            <a:pPr algn="ctr"/>
            <a:r>
              <a:rPr lang="en-US" sz="1000" dirty="0"/>
              <a:t>no</a:t>
            </a:r>
          </a:p>
        </p:txBody>
      </p:sp>
      <p:sp>
        <p:nvSpPr>
          <p:cNvPr id="385" name="TextBox 384">
            <a:extLst>
              <a:ext uri="{FF2B5EF4-FFF2-40B4-BE49-F238E27FC236}">
                <a16:creationId xmlns:a16="http://schemas.microsoft.com/office/drawing/2014/main" id="{C6E21808-F605-430D-8F42-5B4799C0DE92}"/>
              </a:ext>
            </a:extLst>
          </p:cNvPr>
          <p:cNvSpPr txBox="1"/>
          <p:nvPr/>
        </p:nvSpPr>
        <p:spPr>
          <a:xfrm>
            <a:off x="2982885" y="6610982"/>
            <a:ext cx="372047" cy="246221"/>
          </a:xfrm>
          <a:prstGeom prst="rect">
            <a:avLst/>
          </a:prstGeom>
          <a:noFill/>
        </p:spPr>
        <p:txBody>
          <a:bodyPr wrap="square" rtlCol="0">
            <a:spAutoFit/>
          </a:bodyPr>
          <a:lstStyle/>
          <a:p>
            <a:pPr algn="ctr"/>
            <a:r>
              <a:rPr lang="en-US" sz="1000" dirty="0"/>
              <a:t>no</a:t>
            </a:r>
          </a:p>
        </p:txBody>
      </p:sp>
      <p:sp>
        <p:nvSpPr>
          <p:cNvPr id="400" name="TextBox 399">
            <a:extLst>
              <a:ext uri="{FF2B5EF4-FFF2-40B4-BE49-F238E27FC236}">
                <a16:creationId xmlns:a16="http://schemas.microsoft.com/office/drawing/2014/main" id="{5A5F5827-38DB-409D-9AC6-6CA4A8378867}"/>
              </a:ext>
            </a:extLst>
          </p:cNvPr>
          <p:cNvSpPr txBox="1"/>
          <p:nvPr/>
        </p:nvSpPr>
        <p:spPr>
          <a:xfrm rot="16200000">
            <a:off x="-1923037" y="4244361"/>
            <a:ext cx="4710802" cy="261610"/>
          </a:xfrm>
          <a:prstGeom prst="rect">
            <a:avLst/>
          </a:prstGeom>
          <a:solidFill>
            <a:schemeClr val="accent3">
              <a:lumMod val="20000"/>
              <a:lumOff val="80000"/>
            </a:schemeClr>
          </a:solidFill>
        </p:spPr>
        <p:txBody>
          <a:bodyPr wrap="square" rtlCol="0">
            <a:spAutoFit/>
          </a:bodyPr>
          <a:lstStyle/>
          <a:p>
            <a:pPr algn="ctr"/>
            <a:r>
              <a:rPr lang="en-US" sz="1100" dirty="0"/>
              <a:t>SVOC of various O:C and lower volatility aromatic species</a:t>
            </a:r>
          </a:p>
        </p:txBody>
      </p:sp>
      <p:sp>
        <p:nvSpPr>
          <p:cNvPr id="134" name="TextBox 133">
            <a:extLst>
              <a:ext uri="{FF2B5EF4-FFF2-40B4-BE49-F238E27FC236}">
                <a16:creationId xmlns:a16="http://schemas.microsoft.com/office/drawing/2014/main" id="{94019BF8-6337-486A-8145-0936086D00FD}"/>
              </a:ext>
            </a:extLst>
          </p:cNvPr>
          <p:cNvSpPr txBox="1"/>
          <p:nvPr/>
        </p:nvSpPr>
        <p:spPr>
          <a:xfrm>
            <a:off x="3636171" y="6160408"/>
            <a:ext cx="3601876" cy="246221"/>
          </a:xfrm>
          <a:prstGeom prst="rect">
            <a:avLst/>
          </a:prstGeom>
          <a:solidFill>
            <a:schemeClr val="accent2">
              <a:lumMod val="20000"/>
              <a:lumOff val="80000"/>
            </a:schemeClr>
          </a:solidFill>
          <a:ln w="9525">
            <a:solidFill>
              <a:schemeClr val="tx1"/>
            </a:solidFill>
            <a:prstDash val="solid"/>
          </a:ln>
        </p:spPr>
        <p:txBody>
          <a:bodyPr wrap="square" numCol="1" rtlCol="0">
            <a:spAutoFit/>
          </a:bodyPr>
          <a:lstStyle/>
          <a:p>
            <a:pPr algn="ctr"/>
            <a:r>
              <a:rPr lang="en-US" sz="1000" dirty="0"/>
              <a:t>Go to schematic B for species with an aromatic ring </a:t>
            </a:r>
          </a:p>
        </p:txBody>
      </p:sp>
      <p:cxnSp>
        <p:nvCxnSpPr>
          <p:cNvPr id="135" name="Straight Arrow Connector 134">
            <a:extLst>
              <a:ext uri="{FF2B5EF4-FFF2-40B4-BE49-F238E27FC236}">
                <a16:creationId xmlns:a16="http://schemas.microsoft.com/office/drawing/2014/main" id="{91F35391-9BDD-46B7-8444-664F94DF9552}"/>
              </a:ext>
            </a:extLst>
          </p:cNvPr>
          <p:cNvCxnSpPr>
            <a:cxnSpLocks/>
            <a:stCxn id="50" idx="3"/>
            <a:endCxn id="134" idx="1"/>
          </p:cNvCxnSpPr>
          <p:nvPr/>
        </p:nvCxnSpPr>
        <p:spPr>
          <a:xfrm flipV="1">
            <a:off x="2710261" y="6283519"/>
            <a:ext cx="925910" cy="1639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B03A3D88-2683-4D18-AFB4-C5E399BC9718}"/>
              </a:ext>
            </a:extLst>
          </p:cNvPr>
          <p:cNvSpPr txBox="1"/>
          <p:nvPr/>
        </p:nvSpPr>
        <p:spPr>
          <a:xfrm>
            <a:off x="2948229" y="6143946"/>
            <a:ext cx="441358" cy="246221"/>
          </a:xfrm>
          <a:prstGeom prst="rect">
            <a:avLst/>
          </a:prstGeom>
          <a:noFill/>
        </p:spPr>
        <p:txBody>
          <a:bodyPr wrap="square" rtlCol="0">
            <a:spAutoFit/>
          </a:bodyPr>
          <a:lstStyle/>
          <a:p>
            <a:pPr algn="ctr"/>
            <a:r>
              <a:rPr lang="en-US" sz="1000" dirty="0"/>
              <a:t>yes</a:t>
            </a:r>
          </a:p>
        </p:txBody>
      </p:sp>
      <p:sp>
        <p:nvSpPr>
          <p:cNvPr id="116" name="TextBox 115">
            <a:extLst>
              <a:ext uri="{FF2B5EF4-FFF2-40B4-BE49-F238E27FC236}">
                <a16:creationId xmlns:a16="http://schemas.microsoft.com/office/drawing/2014/main" id="{ABD30521-C1A6-44CB-8B83-57D8E495B5C8}"/>
              </a:ext>
            </a:extLst>
          </p:cNvPr>
          <p:cNvSpPr txBox="1"/>
          <p:nvPr/>
        </p:nvSpPr>
        <p:spPr>
          <a:xfrm>
            <a:off x="1271076" y="5032579"/>
            <a:ext cx="372047" cy="246221"/>
          </a:xfrm>
          <a:prstGeom prst="rect">
            <a:avLst/>
          </a:prstGeom>
          <a:noFill/>
        </p:spPr>
        <p:txBody>
          <a:bodyPr wrap="square" rtlCol="0">
            <a:spAutoFit/>
          </a:bodyPr>
          <a:lstStyle/>
          <a:p>
            <a:pPr algn="ctr"/>
            <a:r>
              <a:rPr lang="en-US" sz="1000" dirty="0"/>
              <a:t>no</a:t>
            </a:r>
          </a:p>
        </p:txBody>
      </p:sp>
      <p:sp>
        <p:nvSpPr>
          <p:cNvPr id="118" name="TextBox 117">
            <a:extLst>
              <a:ext uri="{FF2B5EF4-FFF2-40B4-BE49-F238E27FC236}">
                <a16:creationId xmlns:a16="http://schemas.microsoft.com/office/drawing/2014/main" id="{DA76597C-9265-4C8A-90C7-89484A34D6DF}"/>
              </a:ext>
            </a:extLst>
          </p:cNvPr>
          <p:cNvSpPr txBox="1"/>
          <p:nvPr/>
        </p:nvSpPr>
        <p:spPr>
          <a:xfrm>
            <a:off x="698581" y="2921974"/>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C*&lt;(-0.5)?</a:t>
            </a:r>
          </a:p>
        </p:txBody>
      </p:sp>
      <p:cxnSp>
        <p:nvCxnSpPr>
          <p:cNvPr id="119" name="Straight Arrow Connector 118">
            <a:extLst>
              <a:ext uri="{FF2B5EF4-FFF2-40B4-BE49-F238E27FC236}">
                <a16:creationId xmlns:a16="http://schemas.microsoft.com/office/drawing/2014/main" id="{2B2DF242-F6F7-4E2E-9993-1005A216A301}"/>
              </a:ext>
            </a:extLst>
          </p:cNvPr>
          <p:cNvCxnSpPr>
            <a:cxnSpLocks/>
            <a:stCxn id="118" idx="3"/>
            <a:endCxn id="121" idx="1"/>
          </p:cNvCxnSpPr>
          <p:nvPr/>
        </p:nvCxnSpPr>
        <p:spPr>
          <a:xfrm>
            <a:off x="2710261" y="3122029"/>
            <a:ext cx="925910" cy="1096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E9E57323-E43A-42DD-A27E-04825B074F92}"/>
              </a:ext>
            </a:extLst>
          </p:cNvPr>
          <p:cNvSpPr txBox="1"/>
          <p:nvPr/>
        </p:nvSpPr>
        <p:spPr>
          <a:xfrm>
            <a:off x="3636171" y="2800814"/>
            <a:ext cx="3601875" cy="861774"/>
          </a:xfrm>
          <a:prstGeom prst="rect">
            <a:avLst/>
          </a:prstGeom>
          <a:noFill/>
          <a:ln>
            <a:solidFill>
              <a:schemeClr val="tx1"/>
            </a:solidFill>
            <a:prstDash val="dashDot"/>
          </a:ln>
        </p:spPr>
        <p:txBody>
          <a:bodyPr wrap="square" numCol="1" rtlCol="0">
            <a:spAutoFit/>
          </a:bodyPr>
          <a:lstStyle/>
          <a:p>
            <a:r>
              <a:rPr lang="en-US" sz="1000" u="sng" dirty="0"/>
              <a:t>Lumped Species: </a:t>
            </a:r>
            <a:r>
              <a:rPr lang="en-US" sz="1000" dirty="0"/>
              <a:t>SVOCs of C* 0.1 µg/m</a:t>
            </a:r>
            <a:r>
              <a:rPr lang="en-US" sz="1000" baseline="30000" dirty="0"/>
              <a:t>3</a:t>
            </a:r>
            <a:r>
              <a:rPr lang="en-US" sz="1000" dirty="0"/>
              <a:t> </a:t>
            </a:r>
          </a:p>
          <a:p>
            <a:r>
              <a:rPr lang="en-US" sz="1000" dirty="0"/>
              <a:t>If O:C &gt; 0.45: Species with O:C ~0.6 (A/VROCN2OXY6)</a:t>
            </a:r>
          </a:p>
          <a:p>
            <a:r>
              <a:rPr lang="en-US" sz="1000" dirty="0"/>
              <a:t>Else if O:C &gt; 0.2: Species with O:C ~0.3 (A/VROCN2OXY3)</a:t>
            </a:r>
          </a:p>
          <a:p>
            <a:r>
              <a:rPr lang="en-US" sz="1000" dirty="0"/>
              <a:t>Else if O:C &gt; 0.05: Species with O:C ~0.1 (A/VROCN2OXY1)</a:t>
            </a:r>
          </a:p>
          <a:p>
            <a:r>
              <a:rPr lang="en-US" sz="1000" dirty="0"/>
              <a:t>Else: Alkane-like species (ROCN1ALK)</a:t>
            </a:r>
          </a:p>
        </p:txBody>
      </p:sp>
      <p:sp>
        <p:nvSpPr>
          <p:cNvPr id="123" name="TextBox 122">
            <a:extLst>
              <a:ext uri="{FF2B5EF4-FFF2-40B4-BE49-F238E27FC236}">
                <a16:creationId xmlns:a16="http://schemas.microsoft.com/office/drawing/2014/main" id="{09F1C915-5AE2-4FE2-B3E2-EA9C795DF109}"/>
              </a:ext>
            </a:extLst>
          </p:cNvPr>
          <p:cNvSpPr txBox="1"/>
          <p:nvPr/>
        </p:nvSpPr>
        <p:spPr>
          <a:xfrm>
            <a:off x="698581" y="4584694"/>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C*&lt;1.5?</a:t>
            </a:r>
          </a:p>
        </p:txBody>
      </p:sp>
      <p:sp>
        <p:nvSpPr>
          <p:cNvPr id="124" name="TextBox 123">
            <a:extLst>
              <a:ext uri="{FF2B5EF4-FFF2-40B4-BE49-F238E27FC236}">
                <a16:creationId xmlns:a16="http://schemas.microsoft.com/office/drawing/2014/main" id="{AB891C43-12FD-42E1-89C1-E459030DFF1C}"/>
              </a:ext>
            </a:extLst>
          </p:cNvPr>
          <p:cNvSpPr txBox="1"/>
          <p:nvPr/>
        </p:nvSpPr>
        <p:spPr>
          <a:xfrm>
            <a:off x="3636171" y="4648590"/>
            <a:ext cx="3601875" cy="707886"/>
          </a:xfrm>
          <a:prstGeom prst="rect">
            <a:avLst/>
          </a:prstGeom>
          <a:noFill/>
          <a:ln>
            <a:solidFill>
              <a:schemeClr val="tx1"/>
            </a:solidFill>
            <a:prstDash val="dashDot"/>
          </a:ln>
        </p:spPr>
        <p:txBody>
          <a:bodyPr wrap="square" numCol="1" rtlCol="0">
            <a:spAutoFit/>
          </a:bodyPr>
          <a:lstStyle/>
          <a:p>
            <a:r>
              <a:rPr lang="en-US" sz="1000" u="sng" dirty="0"/>
              <a:t>Lumped Species: </a:t>
            </a:r>
            <a:r>
              <a:rPr lang="en-US" sz="1000" dirty="0"/>
              <a:t>SVOCs of C* 10 µg/m</a:t>
            </a:r>
            <a:r>
              <a:rPr lang="en-US" sz="1000" baseline="30000" dirty="0"/>
              <a:t>3</a:t>
            </a:r>
            <a:r>
              <a:rPr lang="en-US" sz="1000" dirty="0"/>
              <a:t> </a:t>
            </a:r>
          </a:p>
          <a:p>
            <a:r>
              <a:rPr lang="en-US" sz="1000" dirty="0"/>
              <a:t>If O:C &gt; 0.2: Species with O:C ~0.3 (A/VROCP1OXY3)</a:t>
            </a:r>
          </a:p>
          <a:p>
            <a:r>
              <a:rPr lang="en-US" sz="1000" dirty="0"/>
              <a:t>Else if O:C &gt; 0.05: Species with O:C ~0.1 (A/VROCP1OXY1)</a:t>
            </a:r>
          </a:p>
          <a:p>
            <a:r>
              <a:rPr lang="en-US" sz="1000" dirty="0"/>
              <a:t>Else: Alkane-like species (A/VROCP1ALK)</a:t>
            </a:r>
          </a:p>
        </p:txBody>
      </p:sp>
      <p:cxnSp>
        <p:nvCxnSpPr>
          <p:cNvPr id="125" name="Straight Arrow Connector 124">
            <a:extLst>
              <a:ext uri="{FF2B5EF4-FFF2-40B4-BE49-F238E27FC236}">
                <a16:creationId xmlns:a16="http://schemas.microsoft.com/office/drawing/2014/main" id="{C983A467-D367-4D31-9B09-CBA88F76DF84}"/>
              </a:ext>
            </a:extLst>
          </p:cNvPr>
          <p:cNvCxnSpPr>
            <a:cxnSpLocks/>
            <a:stCxn id="129" idx="2"/>
            <a:endCxn id="123" idx="0"/>
          </p:cNvCxnSpPr>
          <p:nvPr/>
        </p:nvCxnSpPr>
        <p:spPr>
          <a:xfrm>
            <a:off x="1704421" y="4153444"/>
            <a:ext cx="0" cy="431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F8CBF4B3-109C-4FE0-9DE5-6E3CD60AAF21}"/>
              </a:ext>
            </a:extLst>
          </p:cNvPr>
          <p:cNvCxnSpPr>
            <a:cxnSpLocks/>
            <a:stCxn id="123" idx="3"/>
            <a:endCxn id="124" idx="1"/>
          </p:cNvCxnSpPr>
          <p:nvPr/>
        </p:nvCxnSpPr>
        <p:spPr>
          <a:xfrm>
            <a:off x="2710261" y="4784749"/>
            <a:ext cx="925910" cy="2177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7EE45337-1A38-4F7E-BFA8-5272D678D163}"/>
              </a:ext>
            </a:extLst>
          </p:cNvPr>
          <p:cNvCxnSpPr>
            <a:cxnSpLocks/>
            <a:stCxn id="129" idx="3"/>
            <a:endCxn id="128" idx="1"/>
          </p:cNvCxnSpPr>
          <p:nvPr/>
        </p:nvCxnSpPr>
        <p:spPr>
          <a:xfrm>
            <a:off x="2710261" y="3953389"/>
            <a:ext cx="925910" cy="2022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9CD03E42-A8A2-4FF6-A306-923D07266925}"/>
              </a:ext>
            </a:extLst>
          </p:cNvPr>
          <p:cNvSpPr txBox="1"/>
          <p:nvPr/>
        </p:nvSpPr>
        <p:spPr>
          <a:xfrm>
            <a:off x="3636171" y="3801646"/>
            <a:ext cx="3601875" cy="707886"/>
          </a:xfrm>
          <a:prstGeom prst="rect">
            <a:avLst/>
          </a:prstGeom>
          <a:noFill/>
          <a:ln>
            <a:solidFill>
              <a:schemeClr val="tx1"/>
            </a:solidFill>
            <a:prstDash val="dashDot"/>
          </a:ln>
        </p:spPr>
        <p:txBody>
          <a:bodyPr wrap="square" numCol="1" rtlCol="0">
            <a:spAutoFit/>
          </a:bodyPr>
          <a:lstStyle/>
          <a:p>
            <a:r>
              <a:rPr lang="en-US" sz="1000" u="sng" dirty="0"/>
              <a:t>Lumped Species: </a:t>
            </a:r>
            <a:r>
              <a:rPr lang="en-US" sz="1000" dirty="0"/>
              <a:t>SVOCs of C* 1 µg/m</a:t>
            </a:r>
            <a:r>
              <a:rPr lang="en-US" sz="1000" baseline="30000" dirty="0"/>
              <a:t>3</a:t>
            </a:r>
            <a:r>
              <a:rPr lang="en-US" sz="1000" dirty="0"/>
              <a:t> </a:t>
            </a:r>
          </a:p>
          <a:p>
            <a:r>
              <a:rPr lang="en-US" sz="1000" dirty="0"/>
              <a:t>If O:C &gt; 0.3: Species with O:C ~0.4 (A/VROCP0OXY4)</a:t>
            </a:r>
          </a:p>
          <a:p>
            <a:r>
              <a:rPr lang="en-US" sz="1000" dirty="0"/>
              <a:t>Else if O:C &gt; 0.1: Species with O:C ~0.2 (A/VROCP0OXY2)</a:t>
            </a:r>
          </a:p>
          <a:p>
            <a:r>
              <a:rPr lang="en-US" sz="1000" dirty="0"/>
              <a:t>Else: Alkane-like species (A/VROCP0ALK)</a:t>
            </a:r>
          </a:p>
        </p:txBody>
      </p:sp>
      <p:sp>
        <p:nvSpPr>
          <p:cNvPr id="129" name="TextBox 128">
            <a:extLst>
              <a:ext uri="{FF2B5EF4-FFF2-40B4-BE49-F238E27FC236}">
                <a16:creationId xmlns:a16="http://schemas.microsoft.com/office/drawing/2014/main" id="{4CCDB026-5A67-40F0-8582-021A31317096}"/>
              </a:ext>
            </a:extLst>
          </p:cNvPr>
          <p:cNvSpPr txBox="1"/>
          <p:nvPr/>
        </p:nvSpPr>
        <p:spPr>
          <a:xfrm>
            <a:off x="698581" y="3753334"/>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C*&lt;0.5?</a:t>
            </a:r>
          </a:p>
        </p:txBody>
      </p:sp>
      <p:cxnSp>
        <p:nvCxnSpPr>
          <p:cNvPr id="130" name="Straight Arrow Connector 129">
            <a:extLst>
              <a:ext uri="{FF2B5EF4-FFF2-40B4-BE49-F238E27FC236}">
                <a16:creationId xmlns:a16="http://schemas.microsoft.com/office/drawing/2014/main" id="{3D3C1D23-C234-4E0E-A0DC-6CBCF11DA324}"/>
              </a:ext>
            </a:extLst>
          </p:cNvPr>
          <p:cNvCxnSpPr>
            <a:cxnSpLocks/>
            <a:stCxn id="118" idx="2"/>
            <a:endCxn id="129" idx="0"/>
          </p:cNvCxnSpPr>
          <p:nvPr/>
        </p:nvCxnSpPr>
        <p:spPr>
          <a:xfrm>
            <a:off x="1704421" y="3322084"/>
            <a:ext cx="0" cy="431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4D9E201A-BF0C-437F-A20A-57F57F942FBB}"/>
              </a:ext>
            </a:extLst>
          </p:cNvPr>
          <p:cNvSpPr txBox="1"/>
          <p:nvPr/>
        </p:nvSpPr>
        <p:spPr>
          <a:xfrm>
            <a:off x="1271076" y="3378061"/>
            <a:ext cx="372047" cy="246221"/>
          </a:xfrm>
          <a:prstGeom prst="rect">
            <a:avLst/>
          </a:prstGeom>
          <a:noFill/>
        </p:spPr>
        <p:txBody>
          <a:bodyPr wrap="square" rtlCol="0">
            <a:spAutoFit/>
          </a:bodyPr>
          <a:lstStyle/>
          <a:p>
            <a:pPr algn="ctr"/>
            <a:r>
              <a:rPr lang="en-US" sz="1000" dirty="0"/>
              <a:t>no</a:t>
            </a:r>
          </a:p>
        </p:txBody>
      </p:sp>
      <p:sp>
        <p:nvSpPr>
          <p:cNvPr id="132" name="TextBox 131">
            <a:extLst>
              <a:ext uri="{FF2B5EF4-FFF2-40B4-BE49-F238E27FC236}">
                <a16:creationId xmlns:a16="http://schemas.microsoft.com/office/drawing/2014/main" id="{FF48AC12-437B-4246-877F-DCC33CF9F20A}"/>
              </a:ext>
            </a:extLst>
          </p:cNvPr>
          <p:cNvSpPr txBox="1"/>
          <p:nvPr/>
        </p:nvSpPr>
        <p:spPr>
          <a:xfrm>
            <a:off x="1271452" y="4245958"/>
            <a:ext cx="372047" cy="246221"/>
          </a:xfrm>
          <a:prstGeom prst="rect">
            <a:avLst/>
          </a:prstGeom>
          <a:noFill/>
        </p:spPr>
        <p:txBody>
          <a:bodyPr wrap="square" rtlCol="0">
            <a:spAutoFit/>
          </a:bodyPr>
          <a:lstStyle/>
          <a:p>
            <a:pPr algn="ctr"/>
            <a:r>
              <a:rPr lang="en-US" sz="1000" dirty="0"/>
              <a:t>no</a:t>
            </a:r>
          </a:p>
        </p:txBody>
      </p:sp>
      <p:sp>
        <p:nvSpPr>
          <p:cNvPr id="133" name="TextBox 132">
            <a:extLst>
              <a:ext uri="{FF2B5EF4-FFF2-40B4-BE49-F238E27FC236}">
                <a16:creationId xmlns:a16="http://schemas.microsoft.com/office/drawing/2014/main" id="{80E4FC9A-EC52-41FA-971B-E93D09113CF2}"/>
              </a:ext>
            </a:extLst>
          </p:cNvPr>
          <p:cNvSpPr txBox="1"/>
          <p:nvPr/>
        </p:nvSpPr>
        <p:spPr>
          <a:xfrm>
            <a:off x="2948229" y="1959754"/>
            <a:ext cx="441358" cy="246221"/>
          </a:xfrm>
          <a:prstGeom prst="rect">
            <a:avLst/>
          </a:prstGeom>
          <a:noFill/>
        </p:spPr>
        <p:txBody>
          <a:bodyPr wrap="square" rtlCol="0">
            <a:spAutoFit/>
          </a:bodyPr>
          <a:lstStyle/>
          <a:p>
            <a:pPr algn="ctr"/>
            <a:r>
              <a:rPr lang="en-US" sz="1000" dirty="0"/>
              <a:t>yes</a:t>
            </a:r>
          </a:p>
        </p:txBody>
      </p:sp>
      <p:sp>
        <p:nvSpPr>
          <p:cNvPr id="136" name="TextBox 135">
            <a:extLst>
              <a:ext uri="{FF2B5EF4-FFF2-40B4-BE49-F238E27FC236}">
                <a16:creationId xmlns:a16="http://schemas.microsoft.com/office/drawing/2014/main" id="{99E03C05-68E4-46E5-A2A9-8D084E20F5DD}"/>
              </a:ext>
            </a:extLst>
          </p:cNvPr>
          <p:cNvSpPr txBox="1"/>
          <p:nvPr/>
        </p:nvSpPr>
        <p:spPr>
          <a:xfrm>
            <a:off x="2948229" y="3737750"/>
            <a:ext cx="441358" cy="246221"/>
          </a:xfrm>
          <a:prstGeom prst="rect">
            <a:avLst/>
          </a:prstGeom>
          <a:noFill/>
        </p:spPr>
        <p:txBody>
          <a:bodyPr wrap="square" rtlCol="0">
            <a:spAutoFit/>
          </a:bodyPr>
          <a:lstStyle/>
          <a:p>
            <a:pPr algn="ctr"/>
            <a:r>
              <a:rPr lang="en-US" sz="1000" dirty="0"/>
              <a:t>yes</a:t>
            </a:r>
          </a:p>
        </p:txBody>
      </p:sp>
      <p:sp>
        <p:nvSpPr>
          <p:cNvPr id="137" name="TextBox 136">
            <a:extLst>
              <a:ext uri="{FF2B5EF4-FFF2-40B4-BE49-F238E27FC236}">
                <a16:creationId xmlns:a16="http://schemas.microsoft.com/office/drawing/2014/main" id="{F06BCC36-BCCE-45AD-B848-822F0F17C6C7}"/>
              </a:ext>
            </a:extLst>
          </p:cNvPr>
          <p:cNvSpPr txBox="1"/>
          <p:nvPr/>
        </p:nvSpPr>
        <p:spPr>
          <a:xfrm>
            <a:off x="2948229" y="4621237"/>
            <a:ext cx="441358" cy="246221"/>
          </a:xfrm>
          <a:prstGeom prst="rect">
            <a:avLst/>
          </a:prstGeom>
          <a:noFill/>
        </p:spPr>
        <p:txBody>
          <a:bodyPr wrap="square" rtlCol="0">
            <a:spAutoFit/>
          </a:bodyPr>
          <a:lstStyle/>
          <a:p>
            <a:pPr algn="ctr"/>
            <a:r>
              <a:rPr lang="en-US" sz="1000" dirty="0"/>
              <a:t>yes</a:t>
            </a:r>
          </a:p>
        </p:txBody>
      </p:sp>
      <p:sp>
        <p:nvSpPr>
          <p:cNvPr id="138" name="TextBox 137">
            <a:extLst>
              <a:ext uri="{FF2B5EF4-FFF2-40B4-BE49-F238E27FC236}">
                <a16:creationId xmlns:a16="http://schemas.microsoft.com/office/drawing/2014/main" id="{4C8BB3AE-294B-47BB-A889-E4B6BBF00A32}"/>
              </a:ext>
            </a:extLst>
          </p:cNvPr>
          <p:cNvSpPr txBox="1"/>
          <p:nvPr/>
        </p:nvSpPr>
        <p:spPr>
          <a:xfrm>
            <a:off x="698581" y="5416054"/>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C*&lt;2.5?</a:t>
            </a:r>
          </a:p>
        </p:txBody>
      </p:sp>
      <p:sp>
        <p:nvSpPr>
          <p:cNvPr id="139" name="TextBox 138">
            <a:extLst>
              <a:ext uri="{FF2B5EF4-FFF2-40B4-BE49-F238E27FC236}">
                <a16:creationId xmlns:a16="http://schemas.microsoft.com/office/drawing/2014/main" id="{51C2C85A-6F87-4646-8059-2FA2E039BD54}"/>
              </a:ext>
            </a:extLst>
          </p:cNvPr>
          <p:cNvSpPr txBox="1"/>
          <p:nvPr/>
        </p:nvSpPr>
        <p:spPr>
          <a:xfrm>
            <a:off x="3636171" y="5495536"/>
            <a:ext cx="3601875" cy="553998"/>
          </a:xfrm>
          <a:prstGeom prst="rect">
            <a:avLst/>
          </a:prstGeom>
          <a:noFill/>
          <a:ln>
            <a:solidFill>
              <a:schemeClr val="tx1"/>
            </a:solidFill>
            <a:prstDash val="dashDot"/>
          </a:ln>
        </p:spPr>
        <p:txBody>
          <a:bodyPr wrap="square" numCol="1" rtlCol="0">
            <a:spAutoFit/>
          </a:bodyPr>
          <a:lstStyle/>
          <a:p>
            <a:r>
              <a:rPr lang="en-US" sz="1000" u="sng" dirty="0"/>
              <a:t>Lumped Species: </a:t>
            </a:r>
            <a:r>
              <a:rPr lang="en-US" sz="1000" dirty="0"/>
              <a:t>SVOCs of C* 100 µg/m</a:t>
            </a:r>
            <a:r>
              <a:rPr lang="en-US" sz="1000" baseline="30000" dirty="0"/>
              <a:t>3</a:t>
            </a:r>
            <a:r>
              <a:rPr lang="en-US" sz="1000" dirty="0"/>
              <a:t> </a:t>
            </a:r>
          </a:p>
          <a:p>
            <a:r>
              <a:rPr lang="en-US" sz="1000" dirty="0"/>
              <a:t>If O:C &gt; 0.1: Species with O:C ~0.2 (A/VROCP2OXY2)</a:t>
            </a:r>
          </a:p>
          <a:p>
            <a:r>
              <a:rPr lang="en-US" sz="1000" dirty="0"/>
              <a:t>Else: Alkane-like species (A/VROCP2ALK)</a:t>
            </a:r>
          </a:p>
        </p:txBody>
      </p:sp>
      <p:cxnSp>
        <p:nvCxnSpPr>
          <p:cNvPr id="140" name="Straight Arrow Connector 139">
            <a:extLst>
              <a:ext uri="{FF2B5EF4-FFF2-40B4-BE49-F238E27FC236}">
                <a16:creationId xmlns:a16="http://schemas.microsoft.com/office/drawing/2014/main" id="{06EE2A02-90FB-4626-963A-F046A524DCF9}"/>
              </a:ext>
            </a:extLst>
          </p:cNvPr>
          <p:cNvCxnSpPr>
            <a:cxnSpLocks/>
            <a:stCxn id="138" idx="3"/>
            <a:endCxn id="139" idx="1"/>
          </p:cNvCxnSpPr>
          <p:nvPr/>
        </p:nvCxnSpPr>
        <p:spPr>
          <a:xfrm>
            <a:off x="2710261" y="5616109"/>
            <a:ext cx="925910" cy="1564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2C432F42-92AD-406B-B29E-4217791D2103}"/>
              </a:ext>
            </a:extLst>
          </p:cNvPr>
          <p:cNvSpPr txBox="1"/>
          <p:nvPr/>
        </p:nvSpPr>
        <p:spPr>
          <a:xfrm>
            <a:off x="2948229" y="5398775"/>
            <a:ext cx="441358" cy="246221"/>
          </a:xfrm>
          <a:prstGeom prst="rect">
            <a:avLst/>
          </a:prstGeom>
          <a:noFill/>
        </p:spPr>
        <p:txBody>
          <a:bodyPr wrap="square" rtlCol="0">
            <a:spAutoFit/>
          </a:bodyPr>
          <a:lstStyle/>
          <a:p>
            <a:pPr algn="ctr"/>
            <a:r>
              <a:rPr lang="en-US" sz="1000" dirty="0"/>
              <a:t>yes</a:t>
            </a:r>
          </a:p>
        </p:txBody>
      </p:sp>
      <p:cxnSp>
        <p:nvCxnSpPr>
          <p:cNvPr id="142" name="Straight Arrow Connector 141">
            <a:extLst>
              <a:ext uri="{FF2B5EF4-FFF2-40B4-BE49-F238E27FC236}">
                <a16:creationId xmlns:a16="http://schemas.microsoft.com/office/drawing/2014/main" id="{E2ACB694-CB87-451A-A30E-A389940EF44B}"/>
              </a:ext>
            </a:extLst>
          </p:cNvPr>
          <p:cNvCxnSpPr>
            <a:cxnSpLocks/>
            <a:stCxn id="123" idx="2"/>
            <a:endCxn id="138" idx="0"/>
          </p:cNvCxnSpPr>
          <p:nvPr/>
        </p:nvCxnSpPr>
        <p:spPr>
          <a:xfrm>
            <a:off x="1704421" y="4984804"/>
            <a:ext cx="0" cy="431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E1D6574-CAA2-0131-B8A0-9B283120E452}"/>
              </a:ext>
            </a:extLst>
          </p:cNvPr>
          <p:cNvSpPr txBox="1"/>
          <p:nvPr/>
        </p:nvSpPr>
        <p:spPr>
          <a:xfrm>
            <a:off x="698581" y="2090613"/>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C*&lt;(-1.5)?</a:t>
            </a:r>
          </a:p>
        </p:txBody>
      </p:sp>
      <p:cxnSp>
        <p:nvCxnSpPr>
          <p:cNvPr id="9" name="Straight Arrow Connector 8">
            <a:extLst>
              <a:ext uri="{FF2B5EF4-FFF2-40B4-BE49-F238E27FC236}">
                <a16:creationId xmlns:a16="http://schemas.microsoft.com/office/drawing/2014/main" id="{CDEE5436-B748-E1E9-A7D9-C04EDF5A0E65}"/>
              </a:ext>
            </a:extLst>
          </p:cNvPr>
          <p:cNvCxnSpPr>
            <a:cxnSpLocks/>
            <a:stCxn id="8" idx="3"/>
            <a:endCxn id="10" idx="1"/>
          </p:cNvCxnSpPr>
          <p:nvPr/>
        </p:nvCxnSpPr>
        <p:spPr>
          <a:xfrm flipV="1">
            <a:off x="2710261" y="2230869"/>
            <a:ext cx="925910" cy="597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35FB63A-CBF4-3EA0-6AC1-FB4BBE0D4B36}"/>
              </a:ext>
            </a:extLst>
          </p:cNvPr>
          <p:cNvSpPr txBox="1"/>
          <p:nvPr/>
        </p:nvSpPr>
        <p:spPr>
          <a:xfrm>
            <a:off x="3636171" y="1799982"/>
            <a:ext cx="3601875" cy="861774"/>
          </a:xfrm>
          <a:prstGeom prst="rect">
            <a:avLst/>
          </a:prstGeom>
          <a:noFill/>
          <a:ln>
            <a:solidFill>
              <a:schemeClr val="tx1"/>
            </a:solidFill>
            <a:prstDash val="dashDot"/>
          </a:ln>
        </p:spPr>
        <p:txBody>
          <a:bodyPr wrap="square" numCol="1" rtlCol="0">
            <a:spAutoFit/>
          </a:bodyPr>
          <a:lstStyle/>
          <a:p>
            <a:r>
              <a:rPr lang="en-US" sz="1000" u="sng" dirty="0"/>
              <a:t>Lumped Species: </a:t>
            </a:r>
            <a:r>
              <a:rPr lang="en-US" sz="1000" dirty="0"/>
              <a:t>SVOCs of C* 0.01 µg/m</a:t>
            </a:r>
            <a:r>
              <a:rPr lang="en-US" sz="1000" baseline="30000" dirty="0"/>
              <a:t>3</a:t>
            </a:r>
            <a:r>
              <a:rPr lang="en-US" sz="1000" dirty="0"/>
              <a:t> </a:t>
            </a:r>
            <a:endParaRPr lang="en-US" sz="1000" u="sng" dirty="0"/>
          </a:p>
          <a:p>
            <a:r>
              <a:rPr lang="en-US" sz="1000" dirty="0"/>
              <a:t>If O:C &gt; 0.6: Species with O:C ~ 0.8 (A/VROCN2OXY8)</a:t>
            </a:r>
          </a:p>
          <a:p>
            <a:r>
              <a:rPr lang="en-US" sz="1000" dirty="0"/>
              <a:t>Else if O:C &gt; 0.3: Species with O:C ~ 0.4 (A/VROCN2OXY4)</a:t>
            </a:r>
          </a:p>
          <a:p>
            <a:r>
              <a:rPr lang="en-US" sz="1000" dirty="0"/>
              <a:t>Else If O:C &gt; 0.1: Species with O:C ~ 0.2 (A/VROCN2OXY2)</a:t>
            </a:r>
          </a:p>
          <a:p>
            <a:r>
              <a:rPr lang="en-US" sz="1000" dirty="0"/>
              <a:t>Else: Alkane-like species (A/VROCN2ALK)</a:t>
            </a:r>
          </a:p>
        </p:txBody>
      </p:sp>
      <p:sp>
        <p:nvSpPr>
          <p:cNvPr id="11" name="TextBox 10">
            <a:extLst>
              <a:ext uri="{FF2B5EF4-FFF2-40B4-BE49-F238E27FC236}">
                <a16:creationId xmlns:a16="http://schemas.microsoft.com/office/drawing/2014/main" id="{CE5B7530-D81C-5C5C-5F51-7DC766F7280F}"/>
              </a:ext>
            </a:extLst>
          </p:cNvPr>
          <p:cNvSpPr txBox="1"/>
          <p:nvPr/>
        </p:nvSpPr>
        <p:spPr>
          <a:xfrm>
            <a:off x="1271076" y="2554593"/>
            <a:ext cx="372047" cy="246221"/>
          </a:xfrm>
          <a:prstGeom prst="rect">
            <a:avLst/>
          </a:prstGeom>
          <a:noFill/>
        </p:spPr>
        <p:txBody>
          <a:bodyPr wrap="square" rtlCol="0">
            <a:spAutoFit/>
          </a:bodyPr>
          <a:lstStyle/>
          <a:p>
            <a:pPr algn="ctr"/>
            <a:r>
              <a:rPr lang="en-US" sz="1000" dirty="0"/>
              <a:t>no</a:t>
            </a:r>
          </a:p>
        </p:txBody>
      </p:sp>
      <p:cxnSp>
        <p:nvCxnSpPr>
          <p:cNvPr id="14" name="Straight Arrow Connector 13">
            <a:extLst>
              <a:ext uri="{FF2B5EF4-FFF2-40B4-BE49-F238E27FC236}">
                <a16:creationId xmlns:a16="http://schemas.microsoft.com/office/drawing/2014/main" id="{7A1EE162-17DE-10EC-4F0C-A0B3A4E749C0}"/>
              </a:ext>
            </a:extLst>
          </p:cNvPr>
          <p:cNvCxnSpPr>
            <a:cxnSpLocks/>
            <a:stCxn id="8" idx="2"/>
            <a:endCxn id="118" idx="0"/>
          </p:cNvCxnSpPr>
          <p:nvPr/>
        </p:nvCxnSpPr>
        <p:spPr>
          <a:xfrm>
            <a:off x="1704421" y="2490723"/>
            <a:ext cx="0" cy="431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E07C60B-8DA8-0B33-31D5-E63D81A76294}"/>
              </a:ext>
            </a:extLst>
          </p:cNvPr>
          <p:cNvSpPr txBox="1"/>
          <p:nvPr/>
        </p:nvSpPr>
        <p:spPr>
          <a:xfrm>
            <a:off x="2948229" y="2855387"/>
            <a:ext cx="441358" cy="246221"/>
          </a:xfrm>
          <a:prstGeom prst="rect">
            <a:avLst/>
          </a:prstGeom>
          <a:noFill/>
        </p:spPr>
        <p:txBody>
          <a:bodyPr wrap="square" rtlCol="0">
            <a:spAutoFit/>
          </a:bodyPr>
          <a:lstStyle/>
          <a:p>
            <a:pPr algn="ctr"/>
            <a:r>
              <a:rPr lang="en-US" sz="1000" dirty="0"/>
              <a:t>yes</a:t>
            </a:r>
          </a:p>
        </p:txBody>
      </p:sp>
      <p:sp>
        <p:nvSpPr>
          <p:cNvPr id="24" name="TextBox 23">
            <a:extLst>
              <a:ext uri="{FF2B5EF4-FFF2-40B4-BE49-F238E27FC236}">
                <a16:creationId xmlns:a16="http://schemas.microsoft.com/office/drawing/2014/main" id="{29B2E6BC-363E-C303-6066-BFD244BAE5B2}"/>
              </a:ext>
            </a:extLst>
          </p:cNvPr>
          <p:cNvSpPr txBox="1"/>
          <p:nvPr/>
        </p:nvSpPr>
        <p:spPr>
          <a:xfrm>
            <a:off x="2360771" y="426677"/>
            <a:ext cx="3050858" cy="369332"/>
          </a:xfrm>
          <a:prstGeom prst="rect">
            <a:avLst/>
          </a:prstGeom>
          <a:noFill/>
        </p:spPr>
        <p:txBody>
          <a:bodyPr wrap="square" rtlCol="0">
            <a:spAutoFit/>
          </a:bodyPr>
          <a:lstStyle/>
          <a:p>
            <a:pPr algn="ctr"/>
            <a:r>
              <a:rPr lang="en-US" dirty="0"/>
              <a:t>Schematic A</a:t>
            </a:r>
          </a:p>
        </p:txBody>
      </p:sp>
      <p:sp>
        <p:nvSpPr>
          <p:cNvPr id="2" name="TextBox 1">
            <a:extLst>
              <a:ext uri="{FF2B5EF4-FFF2-40B4-BE49-F238E27FC236}">
                <a16:creationId xmlns:a16="http://schemas.microsoft.com/office/drawing/2014/main" id="{E14D467D-F6CC-035F-2835-C97CEF5733E0}"/>
              </a:ext>
            </a:extLst>
          </p:cNvPr>
          <p:cNvSpPr txBox="1"/>
          <p:nvPr/>
        </p:nvSpPr>
        <p:spPr>
          <a:xfrm>
            <a:off x="1209312" y="57345"/>
            <a:ext cx="5379227" cy="369332"/>
          </a:xfrm>
          <a:prstGeom prst="rect">
            <a:avLst/>
          </a:prstGeom>
          <a:noFill/>
        </p:spPr>
        <p:txBody>
          <a:bodyPr wrap="square" rtlCol="0">
            <a:spAutoFit/>
          </a:bodyPr>
          <a:lstStyle/>
          <a:p>
            <a:pPr algn="ctr"/>
            <a:r>
              <a:rPr lang="en-US" dirty="0"/>
              <a:t>CRACMMv3.0 Emissions Mapping, Updated 6/8/2026</a:t>
            </a:r>
          </a:p>
        </p:txBody>
      </p:sp>
    </p:spTree>
    <p:extLst>
      <p:ext uri="{BB962C8B-B14F-4D97-AF65-F5344CB8AC3E}">
        <p14:creationId xmlns:p14="http://schemas.microsoft.com/office/powerpoint/2010/main" val="1907792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8B74CB-D8E8-45D9-81D4-240489CD0F89}"/>
              </a:ext>
            </a:extLst>
          </p:cNvPr>
          <p:cNvSpPr txBox="1"/>
          <p:nvPr/>
        </p:nvSpPr>
        <p:spPr>
          <a:xfrm>
            <a:off x="595544" y="1791790"/>
            <a:ext cx="2011680" cy="400110"/>
          </a:xfrm>
          <a:prstGeom prst="rect">
            <a:avLst/>
          </a:prstGeom>
          <a:noFill/>
          <a:ln>
            <a:solidFill>
              <a:schemeClr val="tx1"/>
            </a:solidFill>
          </a:ln>
        </p:spPr>
        <p:txBody>
          <a:bodyPr wrap="square" rtlCol="0">
            <a:spAutoFit/>
          </a:bodyPr>
          <a:lstStyle/>
          <a:p>
            <a:pPr algn="ctr"/>
            <a:r>
              <a:rPr lang="en-US" sz="1000" dirty="0"/>
              <a:t>Is the compound an aromatic aldehyde (</a:t>
            </a:r>
            <a:r>
              <a:rPr lang="en-US" sz="1000" dirty="0" err="1"/>
              <a:t>n</a:t>
            </a:r>
            <a:r>
              <a:rPr lang="en-US" sz="1000" baseline="-25000" dirty="0" err="1"/>
              <a:t>aldehyde</a:t>
            </a:r>
            <a:r>
              <a:rPr lang="en-US" sz="1000" dirty="0"/>
              <a:t>&gt;1)?</a:t>
            </a:r>
          </a:p>
        </p:txBody>
      </p:sp>
      <p:sp>
        <p:nvSpPr>
          <p:cNvPr id="5" name="TextBox 4">
            <a:extLst>
              <a:ext uri="{FF2B5EF4-FFF2-40B4-BE49-F238E27FC236}">
                <a16:creationId xmlns:a16="http://schemas.microsoft.com/office/drawing/2014/main" id="{C6FC68E1-D52A-4D17-BC0B-FF318EDC9087}"/>
              </a:ext>
            </a:extLst>
          </p:cNvPr>
          <p:cNvSpPr txBox="1"/>
          <p:nvPr/>
        </p:nvSpPr>
        <p:spPr>
          <a:xfrm>
            <a:off x="3371956" y="1790976"/>
            <a:ext cx="380490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Benzaldehyde and aromatic aldehydes (BALD)</a:t>
            </a:r>
          </a:p>
        </p:txBody>
      </p:sp>
      <p:cxnSp>
        <p:nvCxnSpPr>
          <p:cNvPr id="6" name="Straight Arrow Connector 5">
            <a:extLst>
              <a:ext uri="{FF2B5EF4-FFF2-40B4-BE49-F238E27FC236}">
                <a16:creationId xmlns:a16="http://schemas.microsoft.com/office/drawing/2014/main" id="{E489C18B-DE8E-4093-BFEF-2CD83F8F1C8E}"/>
              </a:ext>
            </a:extLst>
          </p:cNvPr>
          <p:cNvCxnSpPr>
            <a:cxnSpLocks/>
            <a:stCxn id="4" idx="3"/>
            <a:endCxn id="5" idx="1"/>
          </p:cNvCxnSpPr>
          <p:nvPr/>
        </p:nvCxnSpPr>
        <p:spPr>
          <a:xfrm flipV="1">
            <a:off x="2607224" y="1991031"/>
            <a:ext cx="764732" cy="8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DB3018A-44EC-475A-ABF4-2901BB50A3DF}"/>
              </a:ext>
            </a:extLst>
          </p:cNvPr>
          <p:cNvSpPr txBox="1"/>
          <p:nvPr/>
        </p:nvSpPr>
        <p:spPr>
          <a:xfrm>
            <a:off x="595544" y="2463575"/>
            <a:ext cx="2011680" cy="246221"/>
          </a:xfrm>
          <a:prstGeom prst="rect">
            <a:avLst/>
          </a:prstGeom>
          <a:noFill/>
          <a:ln>
            <a:solidFill>
              <a:schemeClr val="tx1"/>
            </a:solidFill>
          </a:ln>
        </p:spPr>
        <p:txBody>
          <a:bodyPr wrap="square" rtlCol="0">
            <a:spAutoFit/>
          </a:bodyPr>
          <a:lstStyle/>
          <a:p>
            <a:pPr algn="ctr"/>
            <a:r>
              <a:rPr lang="en-US" sz="1000" dirty="0">
                <a:highlight>
                  <a:srgbClr val="FFFF00"/>
                </a:highlight>
              </a:rPr>
              <a:t>Is the compound </a:t>
            </a:r>
            <a:r>
              <a:rPr lang="en-US" sz="1000" dirty="0" err="1">
                <a:highlight>
                  <a:srgbClr val="FFFF00"/>
                </a:highlight>
              </a:rPr>
              <a:t>n</a:t>
            </a:r>
            <a:r>
              <a:rPr lang="en-US" sz="1000" baseline="-25000" dirty="0" err="1">
                <a:highlight>
                  <a:srgbClr val="FFFF00"/>
                </a:highlight>
              </a:rPr>
              <a:t>alcohol</a:t>
            </a:r>
            <a:r>
              <a:rPr lang="en-US" sz="1000" dirty="0">
                <a:highlight>
                  <a:srgbClr val="FFFF00"/>
                </a:highlight>
              </a:rPr>
              <a:t>&gt;=2?</a:t>
            </a:r>
          </a:p>
        </p:txBody>
      </p:sp>
      <p:cxnSp>
        <p:nvCxnSpPr>
          <p:cNvPr id="8" name="Straight Arrow Connector 7">
            <a:extLst>
              <a:ext uri="{FF2B5EF4-FFF2-40B4-BE49-F238E27FC236}">
                <a16:creationId xmlns:a16="http://schemas.microsoft.com/office/drawing/2014/main" id="{ECE36E6A-EAB5-4544-A540-4BABADFDAC26}"/>
              </a:ext>
            </a:extLst>
          </p:cNvPr>
          <p:cNvCxnSpPr>
            <a:cxnSpLocks/>
            <a:stCxn id="7" idx="3"/>
            <a:endCxn id="9" idx="1"/>
          </p:cNvCxnSpPr>
          <p:nvPr/>
        </p:nvCxnSpPr>
        <p:spPr>
          <a:xfrm>
            <a:off x="2607224" y="2586686"/>
            <a:ext cx="764732" cy="198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21EF2D7-D1A2-4151-9199-6E5B4586B8E2}"/>
              </a:ext>
            </a:extLst>
          </p:cNvPr>
          <p:cNvSpPr txBox="1"/>
          <p:nvPr/>
        </p:nvSpPr>
        <p:spPr>
          <a:xfrm>
            <a:off x="3371956" y="2406465"/>
            <a:ext cx="380490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Methylcatechol (MCT)</a:t>
            </a:r>
          </a:p>
        </p:txBody>
      </p:sp>
      <p:cxnSp>
        <p:nvCxnSpPr>
          <p:cNvPr id="12" name="Straight Arrow Connector 11">
            <a:extLst>
              <a:ext uri="{FF2B5EF4-FFF2-40B4-BE49-F238E27FC236}">
                <a16:creationId xmlns:a16="http://schemas.microsoft.com/office/drawing/2014/main" id="{E1C1671E-323C-46A3-89F7-C133A026E6A2}"/>
              </a:ext>
            </a:extLst>
          </p:cNvPr>
          <p:cNvCxnSpPr>
            <a:cxnSpLocks/>
            <a:stCxn id="18" idx="2"/>
            <a:endCxn id="70" idx="0"/>
          </p:cNvCxnSpPr>
          <p:nvPr/>
        </p:nvCxnSpPr>
        <p:spPr>
          <a:xfrm>
            <a:off x="1601384" y="3321276"/>
            <a:ext cx="0" cy="9320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2BA3C54-4EAB-49AC-A642-D14FBD874A3B}"/>
              </a:ext>
            </a:extLst>
          </p:cNvPr>
          <p:cNvCxnSpPr>
            <a:cxnSpLocks/>
            <a:stCxn id="4" idx="2"/>
            <a:endCxn id="7" idx="0"/>
          </p:cNvCxnSpPr>
          <p:nvPr/>
        </p:nvCxnSpPr>
        <p:spPr>
          <a:xfrm>
            <a:off x="1601384" y="2191900"/>
            <a:ext cx="0" cy="2716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DF91821-3B95-4E0F-98CC-96B68262FF39}"/>
              </a:ext>
            </a:extLst>
          </p:cNvPr>
          <p:cNvCxnSpPr>
            <a:cxnSpLocks/>
            <a:stCxn id="18" idx="3"/>
            <a:endCxn id="17" idx="1"/>
          </p:cNvCxnSpPr>
          <p:nvPr/>
        </p:nvCxnSpPr>
        <p:spPr>
          <a:xfrm>
            <a:off x="2607224" y="3198166"/>
            <a:ext cx="764732" cy="238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1392A8B-D66F-4B20-B6BB-ADB1D5430984}"/>
              </a:ext>
            </a:extLst>
          </p:cNvPr>
          <p:cNvSpPr txBox="1"/>
          <p:nvPr/>
        </p:nvSpPr>
        <p:spPr>
          <a:xfrm>
            <a:off x="3371956" y="3021954"/>
            <a:ext cx="380490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Cresols (CSL)</a:t>
            </a:r>
          </a:p>
        </p:txBody>
      </p:sp>
      <p:sp>
        <p:nvSpPr>
          <p:cNvPr id="18" name="TextBox 17">
            <a:extLst>
              <a:ext uri="{FF2B5EF4-FFF2-40B4-BE49-F238E27FC236}">
                <a16:creationId xmlns:a16="http://schemas.microsoft.com/office/drawing/2014/main" id="{3BC2B58C-74D4-4183-9EF9-EFB44AC6F35D}"/>
              </a:ext>
            </a:extLst>
          </p:cNvPr>
          <p:cNvSpPr txBox="1"/>
          <p:nvPr/>
        </p:nvSpPr>
        <p:spPr>
          <a:xfrm>
            <a:off x="595544" y="3075055"/>
            <a:ext cx="2011680" cy="246221"/>
          </a:xfrm>
          <a:prstGeom prst="rect">
            <a:avLst/>
          </a:prstGeom>
          <a:noFill/>
          <a:ln>
            <a:solidFill>
              <a:schemeClr val="tx1"/>
            </a:solidFill>
          </a:ln>
        </p:spPr>
        <p:txBody>
          <a:bodyPr wrap="square" rtlCol="0">
            <a:spAutoFit/>
          </a:bodyPr>
          <a:lstStyle/>
          <a:p>
            <a:pPr algn="ctr"/>
            <a:r>
              <a:rPr lang="en-US" sz="1000" dirty="0">
                <a:highlight>
                  <a:srgbClr val="FFFF00"/>
                </a:highlight>
              </a:rPr>
              <a:t>Is the compound and </a:t>
            </a:r>
            <a:r>
              <a:rPr lang="en-US" sz="1000" dirty="0" err="1">
                <a:highlight>
                  <a:srgbClr val="FFFF00"/>
                </a:highlight>
              </a:rPr>
              <a:t>n</a:t>
            </a:r>
            <a:r>
              <a:rPr lang="en-US" sz="1000" baseline="-25000" dirty="0" err="1">
                <a:highlight>
                  <a:srgbClr val="FFFF00"/>
                </a:highlight>
              </a:rPr>
              <a:t>alcohol</a:t>
            </a:r>
            <a:r>
              <a:rPr lang="en-US" sz="1000" dirty="0">
                <a:highlight>
                  <a:srgbClr val="FFFF00"/>
                </a:highlight>
              </a:rPr>
              <a:t>&gt;=1?</a:t>
            </a:r>
          </a:p>
        </p:txBody>
      </p:sp>
      <p:cxnSp>
        <p:nvCxnSpPr>
          <p:cNvPr id="19" name="Straight Arrow Connector 18">
            <a:extLst>
              <a:ext uri="{FF2B5EF4-FFF2-40B4-BE49-F238E27FC236}">
                <a16:creationId xmlns:a16="http://schemas.microsoft.com/office/drawing/2014/main" id="{08C991E4-14D1-4050-976A-59CFF5DE3158}"/>
              </a:ext>
            </a:extLst>
          </p:cNvPr>
          <p:cNvCxnSpPr>
            <a:cxnSpLocks/>
            <a:stCxn id="7" idx="2"/>
            <a:endCxn id="18" idx="0"/>
          </p:cNvCxnSpPr>
          <p:nvPr/>
        </p:nvCxnSpPr>
        <p:spPr>
          <a:xfrm>
            <a:off x="1601384" y="2709796"/>
            <a:ext cx="0" cy="3652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D5854FB-25E5-4E0C-A087-05A97E57790F}"/>
              </a:ext>
            </a:extLst>
          </p:cNvPr>
          <p:cNvSpPr txBox="1"/>
          <p:nvPr/>
        </p:nvSpPr>
        <p:spPr>
          <a:xfrm>
            <a:off x="595544" y="5484028"/>
            <a:ext cx="2011680" cy="400110"/>
          </a:xfrm>
          <a:prstGeom prst="rect">
            <a:avLst/>
          </a:prstGeom>
          <a:noFill/>
          <a:ln>
            <a:solidFill>
              <a:schemeClr val="tx1"/>
            </a:solidFill>
          </a:ln>
        </p:spPr>
        <p:txBody>
          <a:bodyPr wrap="square" rtlCol="0">
            <a:spAutoFit/>
          </a:bodyPr>
          <a:lstStyle/>
          <a:p>
            <a:pPr algn="ctr"/>
            <a:r>
              <a:rPr lang="en-US" sz="1000" dirty="0"/>
              <a:t>Is the compound another single-ring aromatic?</a:t>
            </a:r>
          </a:p>
        </p:txBody>
      </p:sp>
      <p:sp>
        <p:nvSpPr>
          <p:cNvPr id="23" name="TextBox 22">
            <a:extLst>
              <a:ext uri="{FF2B5EF4-FFF2-40B4-BE49-F238E27FC236}">
                <a16:creationId xmlns:a16="http://schemas.microsoft.com/office/drawing/2014/main" id="{6D5DA3E8-49D4-4647-9713-FFFB089DBF0A}"/>
              </a:ext>
            </a:extLst>
          </p:cNvPr>
          <p:cNvSpPr txBox="1"/>
          <p:nvPr/>
        </p:nvSpPr>
        <p:spPr>
          <a:xfrm>
            <a:off x="3371956" y="5483910"/>
            <a:ext cx="380490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Xylenes and other reactive aromatics (XYL)</a:t>
            </a:r>
          </a:p>
        </p:txBody>
      </p:sp>
      <p:cxnSp>
        <p:nvCxnSpPr>
          <p:cNvPr id="28" name="Straight Arrow Connector 27">
            <a:extLst>
              <a:ext uri="{FF2B5EF4-FFF2-40B4-BE49-F238E27FC236}">
                <a16:creationId xmlns:a16="http://schemas.microsoft.com/office/drawing/2014/main" id="{F55BE964-EAC1-433D-8AFE-10FD5E90DBAD}"/>
              </a:ext>
            </a:extLst>
          </p:cNvPr>
          <p:cNvCxnSpPr>
            <a:cxnSpLocks/>
            <a:endCxn id="22" idx="0"/>
          </p:cNvCxnSpPr>
          <p:nvPr/>
        </p:nvCxnSpPr>
        <p:spPr>
          <a:xfrm>
            <a:off x="1601384" y="5293314"/>
            <a:ext cx="0" cy="1907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62B68EE-479A-4AE8-B918-62EE7FCE27B9}"/>
              </a:ext>
            </a:extLst>
          </p:cNvPr>
          <p:cNvCxnSpPr>
            <a:cxnSpLocks/>
            <a:stCxn id="22" idx="3"/>
            <a:endCxn id="23" idx="1"/>
          </p:cNvCxnSpPr>
          <p:nvPr/>
        </p:nvCxnSpPr>
        <p:spPr>
          <a:xfrm flipV="1">
            <a:off x="2607224" y="5683965"/>
            <a:ext cx="764732" cy="1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3B1E15C-2CF1-4252-A781-0D00A31ECDA2}"/>
              </a:ext>
            </a:extLst>
          </p:cNvPr>
          <p:cNvSpPr txBox="1"/>
          <p:nvPr/>
        </p:nvSpPr>
        <p:spPr>
          <a:xfrm>
            <a:off x="1136036" y="2168257"/>
            <a:ext cx="372047" cy="246221"/>
          </a:xfrm>
          <a:prstGeom prst="rect">
            <a:avLst/>
          </a:prstGeom>
          <a:noFill/>
        </p:spPr>
        <p:txBody>
          <a:bodyPr wrap="square" rtlCol="0">
            <a:spAutoFit/>
          </a:bodyPr>
          <a:lstStyle/>
          <a:p>
            <a:pPr algn="r"/>
            <a:r>
              <a:rPr lang="en-US" sz="1000" dirty="0"/>
              <a:t>no</a:t>
            </a:r>
          </a:p>
        </p:txBody>
      </p:sp>
      <p:sp>
        <p:nvSpPr>
          <p:cNvPr id="36" name="TextBox 35">
            <a:extLst>
              <a:ext uri="{FF2B5EF4-FFF2-40B4-BE49-F238E27FC236}">
                <a16:creationId xmlns:a16="http://schemas.microsoft.com/office/drawing/2014/main" id="{ABF31F77-FE11-4EEF-8B16-5F5BA99A806A}"/>
              </a:ext>
            </a:extLst>
          </p:cNvPr>
          <p:cNvSpPr txBox="1"/>
          <p:nvPr/>
        </p:nvSpPr>
        <p:spPr>
          <a:xfrm>
            <a:off x="1136036" y="2780208"/>
            <a:ext cx="372047" cy="246221"/>
          </a:xfrm>
          <a:prstGeom prst="rect">
            <a:avLst/>
          </a:prstGeom>
          <a:noFill/>
        </p:spPr>
        <p:txBody>
          <a:bodyPr wrap="square" rtlCol="0">
            <a:spAutoFit/>
          </a:bodyPr>
          <a:lstStyle/>
          <a:p>
            <a:pPr algn="r"/>
            <a:r>
              <a:rPr lang="en-US" sz="1000" dirty="0"/>
              <a:t>no</a:t>
            </a:r>
          </a:p>
        </p:txBody>
      </p:sp>
      <p:sp>
        <p:nvSpPr>
          <p:cNvPr id="37" name="TextBox 36">
            <a:extLst>
              <a:ext uri="{FF2B5EF4-FFF2-40B4-BE49-F238E27FC236}">
                <a16:creationId xmlns:a16="http://schemas.microsoft.com/office/drawing/2014/main" id="{BE64C784-1A92-478B-B8F4-53EF92D1D0F0}"/>
              </a:ext>
            </a:extLst>
          </p:cNvPr>
          <p:cNvSpPr txBox="1"/>
          <p:nvPr/>
        </p:nvSpPr>
        <p:spPr>
          <a:xfrm>
            <a:off x="1136036" y="3379830"/>
            <a:ext cx="372047" cy="246221"/>
          </a:xfrm>
          <a:prstGeom prst="rect">
            <a:avLst/>
          </a:prstGeom>
          <a:noFill/>
        </p:spPr>
        <p:txBody>
          <a:bodyPr wrap="square" rtlCol="0">
            <a:spAutoFit/>
          </a:bodyPr>
          <a:lstStyle/>
          <a:p>
            <a:pPr algn="r"/>
            <a:r>
              <a:rPr lang="en-US" sz="1000" dirty="0"/>
              <a:t>no</a:t>
            </a:r>
          </a:p>
        </p:txBody>
      </p:sp>
      <p:sp>
        <p:nvSpPr>
          <p:cNvPr id="40" name="TextBox 39">
            <a:extLst>
              <a:ext uri="{FF2B5EF4-FFF2-40B4-BE49-F238E27FC236}">
                <a16:creationId xmlns:a16="http://schemas.microsoft.com/office/drawing/2014/main" id="{98069D5A-D374-4500-9BF1-64B2CF71D369}"/>
              </a:ext>
            </a:extLst>
          </p:cNvPr>
          <p:cNvSpPr txBox="1"/>
          <p:nvPr/>
        </p:nvSpPr>
        <p:spPr>
          <a:xfrm>
            <a:off x="1136036" y="5266403"/>
            <a:ext cx="372047" cy="246221"/>
          </a:xfrm>
          <a:prstGeom prst="rect">
            <a:avLst/>
          </a:prstGeom>
          <a:noFill/>
        </p:spPr>
        <p:txBody>
          <a:bodyPr wrap="square" rtlCol="0">
            <a:spAutoFit/>
          </a:bodyPr>
          <a:lstStyle/>
          <a:p>
            <a:pPr algn="r"/>
            <a:r>
              <a:rPr lang="en-US" sz="1000" dirty="0"/>
              <a:t>no</a:t>
            </a:r>
          </a:p>
        </p:txBody>
      </p:sp>
      <p:sp>
        <p:nvSpPr>
          <p:cNvPr id="42" name="TextBox 41">
            <a:extLst>
              <a:ext uri="{FF2B5EF4-FFF2-40B4-BE49-F238E27FC236}">
                <a16:creationId xmlns:a16="http://schemas.microsoft.com/office/drawing/2014/main" id="{08B1B7A5-E320-46A4-98D4-CA4126EECF99}"/>
              </a:ext>
            </a:extLst>
          </p:cNvPr>
          <p:cNvSpPr txBox="1"/>
          <p:nvPr/>
        </p:nvSpPr>
        <p:spPr>
          <a:xfrm>
            <a:off x="2742010" y="1725965"/>
            <a:ext cx="441358" cy="246221"/>
          </a:xfrm>
          <a:prstGeom prst="rect">
            <a:avLst/>
          </a:prstGeom>
          <a:noFill/>
        </p:spPr>
        <p:txBody>
          <a:bodyPr wrap="square" rtlCol="0">
            <a:spAutoFit/>
          </a:bodyPr>
          <a:lstStyle/>
          <a:p>
            <a:pPr algn="ctr"/>
            <a:r>
              <a:rPr lang="en-US" sz="1000" dirty="0"/>
              <a:t>yes</a:t>
            </a:r>
          </a:p>
        </p:txBody>
      </p:sp>
      <p:sp>
        <p:nvSpPr>
          <p:cNvPr id="43" name="TextBox 42">
            <a:extLst>
              <a:ext uri="{FF2B5EF4-FFF2-40B4-BE49-F238E27FC236}">
                <a16:creationId xmlns:a16="http://schemas.microsoft.com/office/drawing/2014/main" id="{1D7C50C4-5623-48F6-99B1-0BE01BCA5A0E}"/>
              </a:ext>
            </a:extLst>
          </p:cNvPr>
          <p:cNvSpPr txBox="1"/>
          <p:nvPr/>
        </p:nvSpPr>
        <p:spPr>
          <a:xfrm>
            <a:off x="2737526" y="2340465"/>
            <a:ext cx="441358" cy="246221"/>
          </a:xfrm>
          <a:prstGeom prst="rect">
            <a:avLst/>
          </a:prstGeom>
          <a:noFill/>
        </p:spPr>
        <p:txBody>
          <a:bodyPr wrap="square" rtlCol="0">
            <a:spAutoFit/>
          </a:bodyPr>
          <a:lstStyle/>
          <a:p>
            <a:pPr algn="ctr"/>
            <a:r>
              <a:rPr lang="en-US" sz="1000" dirty="0"/>
              <a:t>yes</a:t>
            </a:r>
          </a:p>
        </p:txBody>
      </p:sp>
      <p:sp>
        <p:nvSpPr>
          <p:cNvPr id="44" name="TextBox 43">
            <a:extLst>
              <a:ext uri="{FF2B5EF4-FFF2-40B4-BE49-F238E27FC236}">
                <a16:creationId xmlns:a16="http://schemas.microsoft.com/office/drawing/2014/main" id="{87BDFB00-2B39-4FD0-8F41-17F4B2C11482}"/>
              </a:ext>
            </a:extLst>
          </p:cNvPr>
          <p:cNvSpPr txBox="1"/>
          <p:nvPr/>
        </p:nvSpPr>
        <p:spPr>
          <a:xfrm>
            <a:off x="2737526" y="2954965"/>
            <a:ext cx="441358" cy="246221"/>
          </a:xfrm>
          <a:prstGeom prst="rect">
            <a:avLst/>
          </a:prstGeom>
          <a:noFill/>
        </p:spPr>
        <p:txBody>
          <a:bodyPr wrap="square" rtlCol="0">
            <a:spAutoFit/>
          </a:bodyPr>
          <a:lstStyle/>
          <a:p>
            <a:pPr algn="ctr"/>
            <a:r>
              <a:rPr lang="en-US" sz="1000" dirty="0"/>
              <a:t>yes</a:t>
            </a:r>
          </a:p>
        </p:txBody>
      </p:sp>
      <p:sp>
        <p:nvSpPr>
          <p:cNvPr id="48" name="TextBox 47">
            <a:extLst>
              <a:ext uri="{FF2B5EF4-FFF2-40B4-BE49-F238E27FC236}">
                <a16:creationId xmlns:a16="http://schemas.microsoft.com/office/drawing/2014/main" id="{2996FA1C-B1DA-4D3A-959D-F4AF630D6C2D}"/>
              </a:ext>
            </a:extLst>
          </p:cNvPr>
          <p:cNvSpPr txBox="1"/>
          <p:nvPr/>
        </p:nvSpPr>
        <p:spPr>
          <a:xfrm>
            <a:off x="2737526" y="5412965"/>
            <a:ext cx="441358" cy="246221"/>
          </a:xfrm>
          <a:prstGeom prst="rect">
            <a:avLst/>
          </a:prstGeom>
          <a:noFill/>
        </p:spPr>
        <p:txBody>
          <a:bodyPr wrap="square" rtlCol="0">
            <a:spAutoFit/>
          </a:bodyPr>
          <a:lstStyle/>
          <a:p>
            <a:pPr algn="ctr"/>
            <a:r>
              <a:rPr lang="en-US" sz="1000" dirty="0"/>
              <a:t>yes</a:t>
            </a:r>
          </a:p>
        </p:txBody>
      </p:sp>
      <p:sp>
        <p:nvSpPr>
          <p:cNvPr id="50" name="TextBox 49">
            <a:extLst>
              <a:ext uri="{FF2B5EF4-FFF2-40B4-BE49-F238E27FC236}">
                <a16:creationId xmlns:a16="http://schemas.microsoft.com/office/drawing/2014/main" id="{FE024A29-2AB4-4360-AB68-DA4056227674}"/>
              </a:ext>
            </a:extLst>
          </p:cNvPr>
          <p:cNvSpPr txBox="1"/>
          <p:nvPr/>
        </p:nvSpPr>
        <p:spPr>
          <a:xfrm rot="16200000">
            <a:off x="-1748679" y="3706695"/>
            <a:ext cx="4093044" cy="261610"/>
          </a:xfrm>
          <a:prstGeom prst="rect">
            <a:avLst/>
          </a:prstGeom>
          <a:solidFill>
            <a:schemeClr val="accent3">
              <a:lumMod val="20000"/>
              <a:lumOff val="80000"/>
            </a:schemeClr>
          </a:solidFill>
        </p:spPr>
        <p:txBody>
          <a:bodyPr wrap="square" rtlCol="0">
            <a:spAutoFit/>
          </a:bodyPr>
          <a:lstStyle/>
          <a:p>
            <a:pPr algn="ctr"/>
            <a:r>
              <a:rPr lang="en-US" sz="1100" dirty="0"/>
              <a:t>Single-ring aromatics</a:t>
            </a:r>
          </a:p>
        </p:txBody>
      </p:sp>
      <p:sp>
        <p:nvSpPr>
          <p:cNvPr id="55" name="TextBox 54">
            <a:extLst>
              <a:ext uri="{FF2B5EF4-FFF2-40B4-BE49-F238E27FC236}">
                <a16:creationId xmlns:a16="http://schemas.microsoft.com/office/drawing/2014/main" id="{F0DAB689-89F9-4C66-BD77-F63D6B844A03}"/>
              </a:ext>
            </a:extLst>
          </p:cNvPr>
          <p:cNvSpPr txBox="1"/>
          <p:nvPr/>
        </p:nvSpPr>
        <p:spPr>
          <a:xfrm>
            <a:off x="595544" y="1161739"/>
            <a:ext cx="2011680" cy="261610"/>
          </a:xfrm>
          <a:prstGeom prst="rect">
            <a:avLst/>
          </a:prstGeom>
          <a:solidFill>
            <a:schemeClr val="accent2">
              <a:lumMod val="20000"/>
              <a:lumOff val="80000"/>
            </a:schemeClr>
          </a:solidFill>
          <a:ln>
            <a:solidFill>
              <a:schemeClr val="tx1"/>
            </a:solidFill>
          </a:ln>
        </p:spPr>
        <p:txBody>
          <a:bodyPr wrap="square" rtlCol="0">
            <a:spAutoFit/>
          </a:bodyPr>
          <a:lstStyle/>
          <a:p>
            <a:pPr algn="ctr"/>
            <a:r>
              <a:rPr lang="en-US" sz="1100" dirty="0"/>
              <a:t> One aromatic ring (</a:t>
            </a:r>
            <a:r>
              <a:rPr lang="en-US" sz="1100" dirty="0" err="1"/>
              <a:t>n</a:t>
            </a:r>
            <a:r>
              <a:rPr lang="en-US" sz="1100" baseline="-25000" dirty="0" err="1"/>
              <a:t>benzene</a:t>
            </a:r>
            <a:r>
              <a:rPr lang="en-US" sz="1100" dirty="0"/>
              <a:t>&gt;0)</a:t>
            </a:r>
          </a:p>
        </p:txBody>
      </p:sp>
      <p:cxnSp>
        <p:nvCxnSpPr>
          <p:cNvPr id="56" name="Straight Arrow Connector 55">
            <a:extLst>
              <a:ext uri="{FF2B5EF4-FFF2-40B4-BE49-F238E27FC236}">
                <a16:creationId xmlns:a16="http://schemas.microsoft.com/office/drawing/2014/main" id="{49B43D1C-60AD-4E19-A9EB-54F3AEBEA510}"/>
              </a:ext>
            </a:extLst>
          </p:cNvPr>
          <p:cNvCxnSpPr>
            <a:cxnSpLocks/>
            <a:stCxn id="55" idx="2"/>
            <a:endCxn id="4" idx="0"/>
          </p:cNvCxnSpPr>
          <p:nvPr/>
        </p:nvCxnSpPr>
        <p:spPr>
          <a:xfrm>
            <a:off x="1601384" y="1423349"/>
            <a:ext cx="0" cy="3684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55F261F6-8933-4742-898C-B4D2C31161E6}"/>
              </a:ext>
            </a:extLst>
          </p:cNvPr>
          <p:cNvSpPr txBox="1"/>
          <p:nvPr/>
        </p:nvSpPr>
        <p:spPr>
          <a:xfrm>
            <a:off x="595544" y="4868655"/>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C*&lt;6.5?</a:t>
            </a:r>
          </a:p>
        </p:txBody>
      </p:sp>
      <p:sp>
        <p:nvSpPr>
          <p:cNvPr id="65" name="TextBox 64">
            <a:extLst>
              <a:ext uri="{FF2B5EF4-FFF2-40B4-BE49-F238E27FC236}">
                <a16:creationId xmlns:a16="http://schemas.microsoft.com/office/drawing/2014/main" id="{188BAE73-3FDE-43DF-8131-D7894445753A}"/>
              </a:ext>
            </a:extLst>
          </p:cNvPr>
          <p:cNvSpPr txBox="1"/>
          <p:nvPr/>
        </p:nvSpPr>
        <p:spPr>
          <a:xfrm>
            <a:off x="3371956" y="4868421"/>
            <a:ext cx="380490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Aromatic-like IVOCs of highest volatility (VROCP6ARO)</a:t>
            </a:r>
          </a:p>
        </p:txBody>
      </p:sp>
      <p:cxnSp>
        <p:nvCxnSpPr>
          <p:cNvPr id="66" name="Straight Arrow Connector 65">
            <a:extLst>
              <a:ext uri="{FF2B5EF4-FFF2-40B4-BE49-F238E27FC236}">
                <a16:creationId xmlns:a16="http://schemas.microsoft.com/office/drawing/2014/main" id="{B9B9AF02-BD1F-4F5F-9CAD-39840739F888}"/>
              </a:ext>
            </a:extLst>
          </p:cNvPr>
          <p:cNvCxnSpPr>
            <a:cxnSpLocks/>
            <a:stCxn id="70" idx="2"/>
            <a:endCxn id="64" idx="0"/>
          </p:cNvCxnSpPr>
          <p:nvPr/>
        </p:nvCxnSpPr>
        <p:spPr>
          <a:xfrm>
            <a:off x="1601384" y="4653392"/>
            <a:ext cx="0" cy="2152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E66E3C0-5D52-449B-87EB-D176F1AD854A}"/>
              </a:ext>
            </a:extLst>
          </p:cNvPr>
          <p:cNvCxnSpPr>
            <a:cxnSpLocks/>
            <a:stCxn id="64" idx="3"/>
            <a:endCxn id="65" idx="1"/>
          </p:cNvCxnSpPr>
          <p:nvPr/>
        </p:nvCxnSpPr>
        <p:spPr>
          <a:xfrm flipV="1">
            <a:off x="2607224" y="5068476"/>
            <a:ext cx="764732" cy="2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A3DBB1D-DD63-489C-B1FB-6D0E430073CF}"/>
              </a:ext>
            </a:extLst>
          </p:cNvPr>
          <p:cNvCxnSpPr>
            <a:cxnSpLocks/>
            <a:stCxn id="70" idx="3"/>
            <a:endCxn id="69" idx="1"/>
          </p:cNvCxnSpPr>
          <p:nvPr/>
        </p:nvCxnSpPr>
        <p:spPr>
          <a:xfrm flipV="1">
            <a:off x="2607224" y="4452987"/>
            <a:ext cx="764732" cy="3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63B32AC-525A-4474-A717-B7B68985B364}"/>
              </a:ext>
            </a:extLst>
          </p:cNvPr>
          <p:cNvSpPr txBox="1"/>
          <p:nvPr/>
        </p:nvSpPr>
        <p:spPr>
          <a:xfrm>
            <a:off x="3371956" y="4252932"/>
            <a:ext cx="380490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Aromatic-like IVOCs of intermediate volatility (VROCP5ARO)</a:t>
            </a:r>
          </a:p>
        </p:txBody>
      </p:sp>
      <p:sp>
        <p:nvSpPr>
          <p:cNvPr id="70" name="TextBox 69">
            <a:extLst>
              <a:ext uri="{FF2B5EF4-FFF2-40B4-BE49-F238E27FC236}">
                <a16:creationId xmlns:a16="http://schemas.microsoft.com/office/drawing/2014/main" id="{C46A2EC7-8B17-4CD3-8133-C5A7046C7DF8}"/>
              </a:ext>
            </a:extLst>
          </p:cNvPr>
          <p:cNvSpPr txBox="1"/>
          <p:nvPr/>
        </p:nvSpPr>
        <p:spPr>
          <a:xfrm>
            <a:off x="595544" y="4253282"/>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C*&lt;5.5?</a:t>
            </a:r>
          </a:p>
        </p:txBody>
      </p:sp>
      <p:sp>
        <p:nvSpPr>
          <p:cNvPr id="73" name="TextBox 72">
            <a:extLst>
              <a:ext uri="{FF2B5EF4-FFF2-40B4-BE49-F238E27FC236}">
                <a16:creationId xmlns:a16="http://schemas.microsoft.com/office/drawing/2014/main" id="{1D507600-597A-4679-9B3D-CF696ACA1840}"/>
              </a:ext>
            </a:extLst>
          </p:cNvPr>
          <p:cNvSpPr txBox="1"/>
          <p:nvPr/>
        </p:nvSpPr>
        <p:spPr>
          <a:xfrm>
            <a:off x="1136036" y="4642098"/>
            <a:ext cx="372047" cy="246221"/>
          </a:xfrm>
          <a:prstGeom prst="rect">
            <a:avLst/>
          </a:prstGeom>
          <a:noFill/>
        </p:spPr>
        <p:txBody>
          <a:bodyPr wrap="square" rtlCol="0">
            <a:spAutoFit/>
          </a:bodyPr>
          <a:lstStyle/>
          <a:p>
            <a:pPr algn="r"/>
            <a:r>
              <a:rPr lang="en-US" sz="1000" dirty="0"/>
              <a:t>no</a:t>
            </a:r>
          </a:p>
        </p:txBody>
      </p:sp>
      <p:sp>
        <p:nvSpPr>
          <p:cNvPr id="76" name="TextBox 75">
            <a:extLst>
              <a:ext uri="{FF2B5EF4-FFF2-40B4-BE49-F238E27FC236}">
                <a16:creationId xmlns:a16="http://schemas.microsoft.com/office/drawing/2014/main" id="{6E735C4E-42D5-437E-8086-4E7CD49EB5E4}"/>
              </a:ext>
            </a:extLst>
          </p:cNvPr>
          <p:cNvSpPr txBox="1"/>
          <p:nvPr/>
        </p:nvSpPr>
        <p:spPr>
          <a:xfrm>
            <a:off x="2737526" y="4183965"/>
            <a:ext cx="441358" cy="246221"/>
          </a:xfrm>
          <a:prstGeom prst="rect">
            <a:avLst/>
          </a:prstGeom>
          <a:noFill/>
        </p:spPr>
        <p:txBody>
          <a:bodyPr wrap="square" rtlCol="0">
            <a:spAutoFit/>
          </a:bodyPr>
          <a:lstStyle/>
          <a:p>
            <a:pPr algn="ctr"/>
            <a:r>
              <a:rPr lang="en-US" sz="1000" dirty="0"/>
              <a:t>yes</a:t>
            </a:r>
          </a:p>
        </p:txBody>
      </p:sp>
      <p:sp>
        <p:nvSpPr>
          <p:cNvPr id="77" name="TextBox 76">
            <a:extLst>
              <a:ext uri="{FF2B5EF4-FFF2-40B4-BE49-F238E27FC236}">
                <a16:creationId xmlns:a16="http://schemas.microsoft.com/office/drawing/2014/main" id="{B87D9EE1-FE4E-4835-BC7E-E322FF1BD678}"/>
              </a:ext>
            </a:extLst>
          </p:cNvPr>
          <p:cNvSpPr txBox="1"/>
          <p:nvPr/>
        </p:nvSpPr>
        <p:spPr>
          <a:xfrm>
            <a:off x="2737526" y="4798465"/>
            <a:ext cx="441358" cy="246221"/>
          </a:xfrm>
          <a:prstGeom prst="rect">
            <a:avLst/>
          </a:prstGeom>
          <a:noFill/>
        </p:spPr>
        <p:txBody>
          <a:bodyPr wrap="square" rtlCol="0">
            <a:spAutoFit/>
          </a:bodyPr>
          <a:lstStyle/>
          <a:p>
            <a:pPr algn="ctr"/>
            <a:r>
              <a:rPr lang="en-US" sz="1000" dirty="0"/>
              <a:t>yes</a:t>
            </a:r>
          </a:p>
        </p:txBody>
      </p:sp>
      <p:sp>
        <p:nvSpPr>
          <p:cNvPr id="2" name="Slide Number Placeholder 1">
            <a:extLst>
              <a:ext uri="{FF2B5EF4-FFF2-40B4-BE49-F238E27FC236}">
                <a16:creationId xmlns:a16="http://schemas.microsoft.com/office/drawing/2014/main" id="{8DA171FB-750D-4BD3-B9BD-0B439E947CB8}"/>
              </a:ext>
            </a:extLst>
          </p:cNvPr>
          <p:cNvSpPr>
            <a:spLocks noGrp="1"/>
          </p:cNvSpPr>
          <p:nvPr>
            <p:ph type="sldNum" sz="quarter" idx="12"/>
          </p:nvPr>
        </p:nvSpPr>
        <p:spPr/>
        <p:txBody>
          <a:bodyPr/>
          <a:lstStyle/>
          <a:p>
            <a:fld id="{F63DDF90-292E-431C-AB59-D6C96D26AA84}" type="slidenum">
              <a:rPr lang="en-US" smtClean="0"/>
              <a:t>3</a:t>
            </a:fld>
            <a:endParaRPr lang="en-US"/>
          </a:p>
        </p:txBody>
      </p:sp>
      <p:sp>
        <p:nvSpPr>
          <p:cNvPr id="3" name="TextBox 2">
            <a:extLst>
              <a:ext uri="{FF2B5EF4-FFF2-40B4-BE49-F238E27FC236}">
                <a16:creationId xmlns:a16="http://schemas.microsoft.com/office/drawing/2014/main" id="{F0AAD8BE-FBDB-8D3C-3C90-81ED2F23A5BD}"/>
              </a:ext>
            </a:extLst>
          </p:cNvPr>
          <p:cNvSpPr txBox="1"/>
          <p:nvPr/>
        </p:nvSpPr>
        <p:spPr>
          <a:xfrm>
            <a:off x="2360771" y="426677"/>
            <a:ext cx="3050858" cy="369332"/>
          </a:xfrm>
          <a:prstGeom prst="rect">
            <a:avLst/>
          </a:prstGeom>
          <a:noFill/>
        </p:spPr>
        <p:txBody>
          <a:bodyPr wrap="square" rtlCol="0">
            <a:spAutoFit/>
          </a:bodyPr>
          <a:lstStyle/>
          <a:p>
            <a:pPr algn="ctr"/>
            <a:r>
              <a:rPr lang="en-US" dirty="0"/>
              <a:t>Schematic B</a:t>
            </a:r>
          </a:p>
        </p:txBody>
      </p:sp>
      <p:sp>
        <p:nvSpPr>
          <p:cNvPr id="20" name="TextBox 19">
            <a:extLst>
              <a:ext uri="{FF2B5EF4-FFF2-40B4-BE49-F238E27FC236}">
                <a16:creationId xmlns:a16="http://schemas.microsoft.com/office/drawing/2014/main" id="{D3E6DEAF-6FCA-91EB-D28A-33414020B2CE}"/>
              </a:ext>
            </a:extLst>
          </p:cNvPr>
          <p:cNvSpPr txBox="1"/>
          <p:nvPr/>
        </p:nvSpPr>
        <p:spPr>
          <a:xfrm>
            <a:off x="1209312" y="57345"/>
            <a:ext cx="5379227" cy="369332"/>
          </a:xfrm>
          <a:prstGeom prst="rect">
            <a:avLst/>
          </a:prstGeom>
          <a:noFill/>
        </p:spPr>
        <p:txBody>
          <a:bodyPr wrap="square" rtlCol="0">
            <a:spAutoFit/>
          </a:bodyPr>
          <a:lstStyle/>
          <a:p>
            <a:pPr algn="ctr"/>
            <a:r>
              <a:rPr lang="en-US" dirty="0"/>
              <a:t>CRACMMv3.0 Emissions Mapping, Updated 6/8/2026</a:t>
            </a:r>
          </a:p>
        </p:txBody>
      </p:sp>
    </p:spTree>
    <p:extLst>
      <p:ext uri="{BB962C8B-B14F-4D97-AF65-F5344CB8AC3E}">
        <p14:creationId xmlns:p14="http://schemas.microsoft.com/office/powerpoint/2010/main" val="1988119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1">
            <a:extLst>
              <a:ext uri="{FF2B5EF4-FFF2-40B4-BE49-F238E27FC236}">
                <a16:creationId xmlns:a16="http://schemas.microsoft.com/office/drawing/2014/main" id="{6037447D-49A0-4EF4-B07D-F65791303EC2}"/>
              </a:ext>
            </a:extLst>
          </p:cNvPr>
          <p:cNvSpPr txBox="1"/>
          <p:nvPr/>
        </p:nvSpPr>
        <p:spPr>
          <a:xfrm>
            <a:off x="548204" y="882206"/>
            <a:ext cx="2011680" cy="261610"/>
          </a:xfrm>
          <a:prstGeom prst="rect">
            <a:avLst/>
          </a:prstGeom>
          <a:solidFill>
            <a:schemeClr val="accent6">
              <a:lumMod val="20000"/>
              <a:lumOff val="80000"/>
            </a:schemeClr>
          </a:solidFill>
          <a:ln>
            <a:solidFill>
              <a:schemeClr val="tx1"/>
            </a:solidFill>
          </a:ln>
        </p:spPr>
        <p:txBody>
          <a:bodyPr wrap="square" rtlCol="0">
            <a:spAutoFit/>
          </a:bodyPr>
          <a:lstStyle/>
          <a:p>
            <a:pPr algn="ctr"/>
            <a:r>
              <a:rPr lang="en-US" sz="1100" dirty="0"/>
              <a:t> No aromatic rings (</a:t>
            </a:r>
            <a:r>
              <a:rPr lang="en-US" sz="1100" dirty="0" err="1"/>
              <a:t>n</a:t>
            </a:r>
            <a:r>
              <a:rPr lang="en-US" sz="1100" baseline="-25000" dirty="0" err="1"/>
              <a:t>benzene</a:t>
            </a:r>
            <a:r>
              <a:rPr lang="en-US" sz="1100" dirty="0"/>
              <a:t>=0)</a:t>
            </a:r>
          </a:p>
        </p:txBody>
      </p:sp>
      <p:cxnSp>
        <p:nvCxnSpPr>
          <p:cNvPr id="90" name="Straight Arrow Connector 89">
            <a:extLst>
              <a:ext uri="{FF2B5EF4-FFF2-40B4-BE49-F238E27FC236}">
                <a16:creationId xmlns:a16="http://schemas.microsoft.com/office/drawing/2014/main" id="{7EA169A3-40EA-4741-997A-C6A4E255A47F}"/>
              </a:ext>
            </a:extLst>
          </p:cNvPr>
          <p:cNvCxnSpPr>
            <a:cxnSpLocks/>
            <a:stCxn id="82" idx="2"/>
            <a:endCxn id="88" idx="0"/>
          </p:cNvCxnSpPr>
          <p:nvPr/>
        </p:nvCxnSpPr>
        <p:spPr>
          <a:xfrm>
            <a:off x="1554044" y="1143816"/>
            <a:ext cx="0" cy="138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167DFF76-27D2-4C78-A694-D71F36587D41}"/>
              </a:ext>
            </a:extLst>
          </p:cNvPr>
          <p:cNvSpPr txBox="1"/>
          <p:nvPr/>
        </p:nvSpPr>
        <p:spPr>
          <a:xfrm>
            <a:off x="548204" y="2413218"/>
            <a:ext cx="2011680" cy="400110"/>
          </a:xfrm>
          <a:prstGeom prst="rect">
            <a:avLst/>
          </a:prstGeom>
          <a:noFill/>
          <a:ln>
            <a:solidFill>
              <a:schemeClr val="tx1"/>
            </a:solidFill>
          </a:ln>
        </p:spPr>
        <p:txBody>
          <a:bodyPr wrap="square" rtlCol="0">
            <a:spAutoFit/>
          </a:bodyPr>
          <a:lstStyle/>
          <a:p>
            <a:pPr algn="ctr"/>
            <a:r>
              <a:rPr lang="en-US" sz="1000" dirty="0"/>
              <a:t>Does the compound have multiple double bonds (</a:t>
            </a:r>
            <a:r>
              <a:rPr lang="en-US" sz="1000" dirty="0" err="1"/>
              <a:t>n</a:t>
            </a:r>
            <a:r>
              <a:rPr lang="en-US" sz="1000" baseline="-25000" dirty="0" err="1"/>
              <a:t>C</a:t>
            </a:r>
            <a:r>
              <a:rPr lang="en-US" sz="1000" baseline="-25000" dirty="0"/>
              <a:t>=C </a:t>
            </a:r>
            <a:r>
              <a:rPr lang="en-US" sz="1000" dirty="0"/>
              <a:t>&gt;=2) ?</a:t>
            </a:r>
          </a:p>
        </p:txBody>
      </p:sp>
      <p:sp>
        <p:nvSpPr>
          <p:cNvPr id="103" name="TextBox 102">
            <a:extLst>
              <a:ext uri="{FF2B5EF4-FFF2-40B4-BE49-F238E27FC236}">
                <a16:creationId xmlns:a16="http://schemas.microsoft.com/office/drawing/2014/main" id="{C27C35B3-08FA-4F6F-A257-77B2DD73014D}"/>
              </a:ext>
            </a:extLst>
          </p:cNvPr>
          <p:cNvSpPr txBox="1"/>
          <p:nvPr/>
        </p:nvSpPr>
        <p:spPr>
          <a:xfrm>
            <a:off x="3473051" y="2416462"/>
            <a:ext cx="365662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Larger dienes and furans (FURAN)</a:t>
            </a:r>
            <a:endParaRPr lang="en-US" sz="1000" b="1" dirty="0"/>
          </a:p>
        </p:txBody>
      </p:sp>
      <p:cxnSp>
        <p:nvCxnSpPr>
          <p:cNvPr id="106" name="Straight Arrow Connector 105">
            <a:extLst>
              <a:ext uri="{FF2B5EF4-FFF2-40B4-BE49-F238E27FC236}">
                <a16:creationId xmlns:a16="http://schemas.microsoft.com/office/drawing/2014/main" id="{E1AD8D1D-5C34-4D4E-8EA2-A47F6854A9A6}"/>
              </a:ext>
            </a:extLst>
          </p:cNvPr>
          <p:cNvCxnSpPr>
            <a:cxnSpLocks/>
            <a:stCxn id="101" idx="3"/>
            <a:endCxn id="103" idx="1"/>
          </p:cNvCxnSpPr>
          <p:nvPr/>
        </p:nvCxnSpPr>
        <p:spPr>
          <a:xfrm>
            <a:off x="2559884" y="2613273"/>
            <a:ext cx="913167" cy="32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5FA976F4-160D-4A2C-B693-A56AE1145638}"/>
              </a:ext>
            </a:extLst>
          </p:cNvPr>
          <p:cNvCxnSpPr>
            <a:cxnSpLocks/>
            <a:stCxn id="104" idx="2"/>
            <a:endCxn id="44" idx="0"/>
          </p:cNvCxnSpPr>
          <p:nvPr/>
        </p:nvCxnSpPr>
        <p:spPr>
          <a:xfrm>
            <a:off x="1554044" y="3944230"/>
            <a:ext cx="0" cy="1653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BCC03AD1-4189-474D-85FD-ABBB55D15EDD}"/>
              </a:ext>
            </a:extLst>
          </p:cNvPr>
          <p:cNvSpPr txBox="1"/>
          <p:nvPr/>
        </p:nvSpPr>
        <p:spPr>
          <a:xfrm>
            <a:off x="548204" y="5240475"/>
            <a:ext cx="2011680" cy="400110"/>
          </a:xfrm>
          <a:prstGeom prst="rect">
            <a:avLst/>
          </a:prstGeom>
          <a:noFill/>
          <a:ln>
            <a:solidFill>
              <a:schemeClr val="tx1"/>
            </a:solidFill>
          </a:ln>
        </p:spPr>
        <p:txBody>
          <a:bodyPr wrap="square" rtlCol="0">
            <a:spAutoFit/>
          </a:bodyPr>
          <a:lstStyle/>
          <a:p>
            <a:pPr algn="ctr"/>
            <a:r>
              <a:rPr lang="en-US" sz="1000" dirty="0"/>
              <a:t>Is the compound an internal olefin (id via bond location)?</a:t>
            </a:r>
          </a:p>
        </p:txBody>
      </p:sp>
      <p:sp>
        <p:nvSpPr>
          <p:cNvPr id="111" name="TextBox 110">
            <a:extLst>
              <a:ext uri="{FF2B5EF4-FFF2-40B4-BE49-F238E27FC236}">
                <a16:creationId xmlns:a16="http://schemas.microsoft.com/office/drawing/2014/main" id="{99F892BA-8CCF-403D-BB04-1FBF67EE20DE}"/>
              </a:ext>
            </a:extLst>
          </p:cNvPr>
          <p:cNvSpPr txBox="1"/>
          <p:nvPr/>
        </p:nvSpPr>
        <p:spPr>
          <a:xfrm>
            <a:off x="3473051" y="5251825"/>
            <a:ext cx="365662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Internal alkene (OLI)</a:t>
            </a:r>
          </a:p>
        </p:txBody>
      </p:sp>
      <p:cxnSp>
        <p:nvCxnSpPr>
          <p:cNvPr id="112" name="Straight Arrow Connector 111">
            <a:extLst>
              <a:ext uri="{FF2B5EF4-FFF2-40B4-BE49-F238E27FC236}">
                <a16:creationId xmlns:a16="http://schemas.microsoft.com/office/drawing/2014/main" id="{6FAF2A92-B1F0-4EE4-8ED3-B78B84850EC3}"/>
              </a:ext>
            </a:extLst>
          </p:cNvPr>
          <p:cNvCxnSpPr>
            <a:cxnSpLocks/>
            <a:stCxn id="109" idx="3"/>
            <a:endCxn id="111" idx="1"/>
          </p:cNvCxnSpPr>
          <p:nvPr/>
        </p:nvCxnSpPr>
        <p:spPr>
          <a:xfrm>
            <a:off x="2559884" y="5440530"/>
            <a:ext cx="913167" cy="113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6D433110-CB8E-471F-94FF-BBBD87A3B472}"/>
              </a:ext>
            </a:extLst>
          </p:cNvPr>
          <p:cNvSpPr txBox="1"/>
          <p:nvPr/>
        </p:nvSpPr>
        <p:spPr>
          <a:xfrm>
            <a:off x="548204" y="4675022"/>
            <a:ext cx="2011680" cy="400110"/>
          </a:xfrm>
          <a:prstGeom prst="rect">
            <a:avLst/>
          </a:prstGeom>
          <a:noFill/>
          <a:ln>
            <a:solidFill>
              <a:schemeClr val="tx1"/>
            </a:solidFill>
          </a:ln>
        </p:spPr>
        <p:txBody>
          <a:bodyPr wrap="square" rtlCol="0">
            <a:spAutoFit/>
          </a:bodyPr>
          <a:lstStyle/>
          <a:p>
            <a:pPr algn="ctr"/>
            <a:r>
              <a:rPr lang="en-US" sz="1000" dirty="0"/>
              <a:t>Is the compound a terminal olefin (id via bond location)?</a:t>
            </a:r>
          </a:p>
        </p:txBody>
      </p:sp>
      <p:sp>
        <p:nvSpPr>
          <p:cNvPr id="116" name="TextBox 115">
            <a:extLst>
              <a:ext uri="{FF2B5EF4-FFF2-40B4-BE49-F238E27FC236}">
                <a16:creationId xmlns:a16="http://schemas.microsoft.com/office/drawing/2014/main" id="{F7E91FC9-82AA-4ADE-86E2-F87FD70A3DD0}"/>
              </a:ext>
            </a:extLst>
          </p:cNvPr>
          <p:cNvSpPr txBox="1"/>
          <p:nvPr/>
        </p:nvSpPr>
        <p:spPr>
          <a:xfrm>
            <a:off x="3473051" y="4684754"/>
            <a:ext cx="365662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Terminal alkene (OLT)</a:t>
            </a:r>
          </a:p>
        </p:txBody>
      </p:sp>
      <p:cxnSp>
        <p:nvCxnSpPr>
          <p:cNvPr id="117" name="Straight Arrow Connector 116">
            <a:extLst>
              <a:ext uri="{FF2B5EF4-FFF2-40B4-BE49-F238E27FC236}">
                <a16:creationId xmlns:a16="http://schemas.microsoft.com/office/drawing/2014/main" id="{D117069B-37CE-484F-985F-1CB4E52BCE1E}"/>
              </a:ext>
            </a:extLst>
          </p:cNvPr>
          <p:cNvCxnSpPr>
            <a:cxnSpLocks/>
            <a:stCxn id="114" idx="3"/>
            <a:endCxn id="116" idx="1"/>
          </p:cNvCxnSpPr>
          <p:nvPr/>
        </p:nvCxnSpPr>
        <p:spPr>
          <a:xfrm>
            <a:off x="2559884" y="4875077"/>
            <a:ext cx="913167" cy="97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4E2E220-92F3-4221-A00A-749184E68520}"/>
              </a:ext>
            </a:extLst>
          </p:cNvPr>
          <p:cNvCxnSpPr>
            <a:cxnSpLocks/>
            <a:stCxn id="44" idx="2"/>
            <a:endCxn id="114" idx="0"/>
          </p:cNvCxnSpPr>
          <p:nvPr/>
        </p:nvCxnSpPr>
        <p:spPr>
          <a:xfrm>
            <a:off x="1554044" y="4509681"/>
            <a:ext cx="0" cy="1653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FA5D3B9-FDBB-4ABE-905B-FD3AA13370AA}"/>
              </a:ext>
            </a:extLst>
          </p:cNvPr>
          <p:cNvCxnSpPr>
            <a:cxnSpLocks/>
            <a:stCxn id="101" idx="2"/>
            <a:endCxn id="95" idx="0"/>
          </p:cNvCxnSpPr>
          <p:nvPr/>
        </p:nvCxnSpPr>
        <p:spPr>
          <a:xfrm>
            <a:off x="1554044" y="2813328"/>
            <a:ext cx="0" cy="1653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01B1CC20-862F-417A-A745-3105058CC9DB}"/>
              </a:ext>
            </a:extLst>
          </p:cNvPr>
          <p:cNvSpPr txBox="1"/>
          <p:nvPr/>
        </p:nvSpPr>
        <p:spPr>
          <a:xfrm>
            <a:off x="548204" y="2978669"/>
            <a:ext cx="2011680" cy="400110"/>
          </a:xfrm>
          <a:prstGeom prst="rect">
            <a:avLst/>
          </a:prstGeom>
          <a:noFill/>
          <a:ln>
            <a:solidFill>
              <a:schemeClr val="tx1"/>
            </a:solidFill>
          </a:ln>
        </p:spPr>
        <p:txBody>
          <a:bodyPr wrap="square" rtlCol="0">
            <a:spAutoFit/>
          </a:bodyPr>
          <a:lstStyle/>
          <a:p>
            <a:pPr algn="ctr"/>
            <a:r>
              <a:rPr lang="en-US" sz="1000" dirty="0"/>
              <a:t>Does the compound have </a:t>
            </a:r>
            <a:r>
              <a:rPr lang="en-US" sz="1000" dirty="0" err="1"/>
              <a:t>n</a:t>
            </a:r>
            <a:r>
              <a:rPr lang="en-US" sz="1000" baseline="-25000" dirty="0" err="1"/>
              <a:t>carbonyl</a:t>
            </a:r>
            <a:r>
              <a:rPr lang="en-US" sz="1000" dirty="0"/>
              <a:t>&gt;=2 and </a:t>
            </a:r>
            <a:r>
              <a:rPr lang="en-US" sz="1000" dirty="0" err="1"/>
              <a:t>n</a:t>
            </a:r>
            <a:r>
              <a:rPr lang="en-US" sz="1000" baseline="-25000" dirty="0" err="1"/>
              <a:t>C</a:t>
            </a:r>
            <a:r>
              <a:rPr lang="en-US" sz="1000" baseline="-25000" dirty="0"/>
              <a:t>=C </a:t>
            </a:r>
            <a:r>
              <a:rPr lang="en-US" sz="1000" dirty="0"/>
              <a:t>=1?</a:t>
            </a:r>
          </a:p>
        </p:txBody>
      </p:sp>
      <p:sp>
        <p:nvSpPr>
          <p:cNvPr id="98" name="TextBox 97">
            <a:extLst>
              <a:ext uri="{FF2B5EF4-FFF2-40B4-BE49-F238E27FC236}">
                <a16:creationId xmlns:a16="http://schemas.microsoft.com/office/drawing/2014/main" id="{3D629B2D-0C22-4CD1-A02D-C70150411B4D}"/>
              </a:ext>
            </a:extLst>
          </p:cNvPr>
          <p:cNvSpPr txBox="1"/>
          <p:nvPr/>
        </p:nvSpPr>
        <p:spPr>
          <a:xfrm>
            <a:off x="3473051" y="2983535"/>
            <a:ext cx="365662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Unsaturated </a:t>
            </a:r>
            <a:r>
              <a:rPr lang="en-US" sz="1000" dirty="0" err="1"/>
              <a:t>dicarbonyls</a:t>
            </a:r>
            <a:r>
              <a:rPr lang="en-US" sz="1000" dirty="0"/>
              <a:t> (DCB1) </a:t>
            </a:r>
          </a:p>
        </p:txBody>
      </p:sp>
      <p:cxnSp>
        <p:nvCxnSpPr>
          <p:cNvPr id="100" name="Straight Arrow Connector 99">
            <a:extLst>
              <a:ext uri="{FF2B5EF4-FFF2-40B4-BE49-F238E27FC236}">
                <a16:creationId xmlns:a16="http://schemas.microsoft.com/office/drawing/2014/main" id="{C5376E4D-3D91-43BB-A25C-E6EC5E614DD3}"/>
              </a:ext>
            </a:extLst>
          </p:cNvPr>
          <p:cNvCxnSpPr>
            <a:cxnSpLocks/>
            <a:stCxn id="95" idx="3"/>
            <a:endCxn id="98" idx="1"/>
          </p:cNvCxnSpPr>
          <p:nvPr/>
        </p:nvCxnSpPr>
        <p:spPr>
          <a:xfrm>
            <a:off x="2559884" y="3178724"/>
            <a:ext cx="913167" cy="48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D2DE60D2-A7C9-4BFA-8CC8-DEFBC8F921E3}"/>
              </a:ext>
            </a:extLst>
          </p:cNvPr>
          <p:cNvSpPr txBox="1"/>
          <p:nvPr/>
        </p:nvSpPr>
        <p:spPr>
          <a:xfrm>
            <a:off x="548204" y="3544120"/>
            <a:ext cx="2011680" cy="400110"/>
          </a:xfrm>
          <a:prstGeom prst="rect">
            <a:avLst/>
          </a:prstGeom>
          <a:noFill/>
          <a:ln>
            <a:solidFill>
              <a:schemeClr val="tx1"/>
            </a:solidFill>
          </a:ln>
        </p:spPr>
        <p:txBody>
          <a:bodyPr wrap="square" rtlCol="0">
            <a:spAutoFit/>
          </a:bodyPr>
          <a:lstStyle/>
          <a:p>
            <a:pPr algn="ctr"/>
            <a:r>
              <a:rPr lang="en-US" sz="1000" dirty="0"/>
              <a:t>Is the compound </a:t>
            </a:r>
            <a:r>
              <a:rPr lang="en-US" sz="1000" dirty="0" err="1"/>
              <a:t>n</a:t>
            </a:r>
            <a:r>
              <a:rPr lang="en-US" sz="1000" baseline="-25000" dirty="0" err="1"/>
              <a:t>C</a:t>
            </a:r>
            <a:r>
              <a:rPr lang="en-US" sz="1000" dirty="0"/>
              <a:t>=4, </a:t>
            </a:r>
            <a:r>
              <a:rPr lang="en-US" sz="1000" dirty="0" err="1"/>
              <a:t>n</a:t>
            </a:r>
            <a:r>
              <a:rPr lang="en-US" sz="1000" baseline="-25000" dirty="0" err="1"/>
              <a:t>aldehyde</a:t>
            </a:r>
            <a:r>
              <a:rPr lang="en-US" sz="1000" dirty="0"/>
              <a:t>=1, </a:t>
            </a:r>
            <a:r>
              <a:rPr lang="en-US" sz="1000" dirty="0" err="1"/>
              <a:t>n</a:t>
            </a:r>
            <a:r>
              <a:rPr lang="en-US" sz="1000" baseline="-25000" dirty="0" err="1"/>
              <a:t>C</a:t>
            </a:r>
            <a:r>
              <a:rPr lang="en-US" sz="1000" baseline="-25000" dirty="0"/>
              <a:t>=C </a:t>
            </a:r>
            <a:r>
              <a:rPr lang="en-US" sz="1000" dirty="0"/>
              <a:t>=1?</a:t>
            </a:r>
          </a:p>
        </p:txBody>
      </p:sp>
      <p:sp>
        <p:nvSpPr>
          <p:cNvPr id="119" name="TextBox 118">
            <a:extLst>
              <a:ext uri="{FF2B5EF4-FFF2-40B4-BE49-F238E27FC236}">
                <a16:creationId xmlns:a16="http://schemas.microsoft.com/office/drawing/2014/main" id="{74016955-70B9-496F-B921-0108462A8C10}"/>
              </a:ext>
            </a:extLst>
          </p:cNvPr>
          <p:cNvSpPr txBox="1"/>
          <p:nvPr/>
        </p:nvSpPr>
        <p:spPr>
          <a:xfrm>
            <a:off x="3473051" y="3550608"/>
            <a:ext cx="365662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Methacrolein and crotonaldehyde (MACR)</a:t>
            </a:r>
          </a:p>
        </p:txBody>
      </p:sp>
      <p:cxnSp>
        <p:nvCxnSpPr>
          <p:cNvPr id="121" name="Straight Arrow Connector 120">
            <a:extLst>
              <a:ext uri="{FF2B5EF4-FFF2-40B4-BE49-F238E27FC236}">
                <a16:creationId xmlns:a16="http://schemas.microsoft.com/office/drawing/2014/main" id="{2B501136-53BC-4AB7-8883-ECF9FDFE187A}"/>
              </a:ext>
            </a:extLst>
          </p:cNvPr>
          <p:cNvCxnSpPr>
            <a:cxnSpLocks/>
            <a:stCxn id="104" idx="3"/>
            <a:endCxn id="119" idx="1"/>
          </p:cNvCxnSpPr>
          <p:nvPr/>
        </p:nvCxnSpPr>
        <p:spPr>
          <a:xfrm>
            <a:off x="2559884" y="3744175"/>
            <a:ext cx="913167" cy="64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95C56650-ED21-4754-AC9F-8000C4BBC871}"/>
              </a:ext>
            </a:extLst>
          </p:cNvPr>
          <p:cNvCxnSpPr>
            <a:cxnSpLocks/>
            <a:stCxn id="95" idx="2"/>
            <a:endCxn id="104" idx="0"/>
          </p:cNvCxnSpPr>
          <p:nvPr/>
        </p:nvCxnSpPr>
        <p:spPr>
          <a:xfrm>
            <a:off x="1554044" y="3378779"/>
            <a:ext cx="0" cy="1653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F14E3B1-B81E-44B2-9368-C07EB6B602EC}"/>
              </a:ext>
            </a:extLst>
          </p:cNvPr>
          <p:cNvCxnSpPr>
            <a:cxnSpLocks/>
            <a:stCxn id="114" idx="2"/>
            <a:endCxn id="109" idx="0"/>
          </p:cNvCxnSpPr>
          <p:nvPr/>
        </p:nvCxnSpPr>
        <p:spPr>
          <a:xfrm>
            <a:off x="1554044" y="5075132"/>
            <a:ext cx="0" cy="165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FCA9815-50F6-4F75-B671-400157EAB37F}"/>
              </a:ext>
            </a:extLst>
          </p:cNvPr>
          <p:cNvSpPr txBox="1"/>
          <p:nvPr/>
        </p:nvSpPr>
        <p:spPr>
          <a:xfrm>
            <a:off x="548204" y="4109571"/>
            <a:ext cx="2011680" cy="400110"/>
          </a:xfrm>
          <a:prstGeom prst="rect">
            <a:avLst/>
          </a:prstGeom>
          <a:noFill/>
          <a:ln>
            <a:solidFill>
              <a:schemeClr val="tx1"/>
            </a:solidFill>
          </a:ln>
        </p:spPr>
        <p:txBody>
          <a:bodyPr wrap="square" rtlCol="0">
            <a:spAutoFit/>
          </a:bodyPr>
          <a:lstStyle/>
          <a:p>
            <a:pPr algn="ctr"/>
            <a:r>
              <a:rPr lang="en-US" sz="1000" dirty="0"/>
              <a:t>Is the compound </a:t>
            </a:r>
            <a:r>
              <a:rPr lang="en-US" sz="1000" dirty="0" err="1"/>
              <a:t>n</a:t>
            </a:r>
            <a:r>
              <a:rPr lang="en-US" sz="1000" baseline="-25000" dirty="0" err="1"/>
              <a:t>C</a:t>
            </a:r>
            <a:r>
              <a:rPr lang="en-US" sz="1000" baseline="-25000" dirty="0"/>
              <a:t>=C </a:t>
            </a:r>
            <a:r>
              <a:rPr lang="en-US" sz="1000" dirty="0"/>
              <a:t>=1, </a:t>
            </a:r>
            <a:r>
              <a:rPr lang="en-US" sz="1000" dirty="0" err="1"/>
              <a:t>n</a:t>
            </a:r>
            <a:r>
              <a:rPr lang="en-US" sz="1000" baseline="-25000" dirty="0" err="1"/>
              <a:t>aldehyde</a:t>
            </a:r>
            <a:r>
              <a:rPr lang="en-US" sz="1000" dirty="0"/>
              <a:t>&gt;=1?</a:t>
            </a:r>
          </a:p>
        </p:txBody>
      </p:sp>
      <p:sp>
        <p:nvSpPr>
          <p:cNvPr id="46" name="TextBox 45">
            <a:extLst>
              <a:ext uri="{FF2B5EF4-FFF2-40B4-BE49-F238E27FC236}">
                <a16:creationId xmlns:a16="http://schemas.microsoft.com/office/drawing/2014/main" id="{A59C3A57-EFDA-4594-806C-B627FC864AC5}"/>
              </a:ext>
            </a:extLst>
          </p:cNvPr>
          <p:cNvSpPr txBox="1"/>
          <p:nvPr/>
        </p:nvSpPr>
        <p:spPr>
          <a:xfrm>
            <a:off x="3473051" y="4117681"/>
            <a:ext cx="3656620"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Unsaturated aldehydes (UALD)</a:t>
            </a:r>
          </a:p>
        </p:txBody>
      </p:sp>
      <p:cxnSp>
        <p:nvCxnSpPr>
          <p:cNvPr id="47" name="Straight Arrow Connector 46">
            <a:extLst>
              <a:ext uri="{FF2B5EF4-FFF2-40B4-BE49-F238E27FC236}">
                <a16:creationId xmlns:a16="http://schemas.microsoft.com/office/drawing/2014/main" id="{E6838C08-77AF-4823-B965-5E9ED371BF2F}"/>
              </a:ext>
            </a:extLst>
          </p:cNvPr>
          <p:cNvCxnSpPr>
            <a:cxnSpLocks/>
            <a:stCxn id="44" idx="3"/>
            <a:endCxn id="46" idx="1"/>
          </p:cNvCxnSpPr>
          <p:nvPr/>
        </p:nvCxnSpPr>
        <p:spPr>
          <a:xfrm>
            <a:off x="2559884" y="4309626"/>
            <a:ext cx="913167" cy="8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C16DB237-2BB1-4B5B-B7A4-0F642D323E63}"/>
              </a:ext>
            </a:extLst>
          </p:cNvPr>
          <p:cNvSpPr txBox="1"/>
          <p:nvPr/>
        </p:nvSpPr>
        <p:spPr>
          <a:xfrm rot="16200000">
            <a:off x="-1840368" y="3293070"/>
            <a:ext cx="4283114" cy="261608"/>
          </a:xfrm>
          <a:prstGeom prst="rect">
            <a:avLst/>
          </a:prstGeom>
          <a:solidFill>
            <a:schemeClr val="accent3">
              <a:lumMod val="20000"/>
              <a:lumOff val="80000"/>
            </a:schemeClr>
          </a:solidFill>
        </p:spPr>
        <p:txBody>
          <a:bodyPr wrap="square" rtlCol="0">
            <a:spAutoFit/>
          </a:bodyPr>
          <a:lstStyle/>
          <a:p>
            <a:pPr algn="ctr"/>
            <a:r>
              <a:rPr lang="en-US" sz="1100" dirty="0"/>
              <a:t>Compounds with C=C</a:t>
            </a:r>
          </a:p>
        </p:txBody>
      </p:sp>
      <p:cxnSp>
        <p:nvCxnSpPr>
          <p:cNvPr id="157" name="Straight Arrow Connector 156">
            <a:extLst>
              <a:ext uri="{FF2B5EF4-FFF2-40B4-BE49-F238E27FC236}">
                <a16:creationId xmlns:a16="http://schemas.microsoft.com/office/drawing/2014/main" id="{EB301070-0359-4663-9444-31AC9A460977}"/>
              </a:ext>
            </a:extLst>
          </p:cNvPr>
          <p:cNvCxnSpPr>
            <a:cxnSpLocks/>
            <a:stCxn id="109" idx="2"/>
            <a:endCxn id="173" idx="0"/>
          </p:cNvCxnSpPr>
          <p:nvPr/>
        </p:nvCxnSpPr>
        <p:spPr>
          <a:xfrm>
            <a:off x="1554044" y="5640585"/>
            <a:ext cx="0" cy="245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D1471CDC-6548-49B8-BF02-2915D6D8B3AD}"/>
              </a:ext>
            </a:extLst>
          </p:cNvPr>
          <p:cNvSpPr txBox="1"/>
          <p:nvPr/>
        </p:nvSpPr>
        <p:spPr>
          <a:xfrm>
            <a:off x="2812505" y="2361642"/>
            <a:ext cx="441358" cy="246221"/>
          </a:xfrm>
          <a:prstGeom prst="rect">
            <a:avLst/>
          </a:prstGeom>
          <a:noFill/>
        </p:spPr>
        <p:txBody>
          <a:bodyPr wrap="square" rtlCol="0">
            <a:spAutoFit/>
          </a:bodyPr>
          <a:lstStyle/>
          <a:p>
            <a:pPr algn="ctr"/>
            <a:r>
              <a:rPr lang="en-US" sz="1000" dirty="0"/>
              <a:t>yes</a:t>
            </a:r>
          </a:p>
        </p:txBody>
      </p:sp>
      <p:sp>
        <p:nvSpPr>
          <p:cNvPr id="168" name="TextBox 167">
            <a:extLst>
              <a:ext uri="{FF2B5EF4-FFF2-40B4-BE49-F238E27FC236}">
                <a16:creationId xmlns:a16="http://schemas.microsoft.com/office/drawing/2014/main" id="{2E7D30AD-7367-435F-AB0F-D516E8305A92}"/>
              </a:ext>
            </a:extLst>
          </p:cNvPr>
          <p:cNvSpPr txBox="1"/>
          <p:nvPr/>
        </p:nvSpPr>
        <p:spPr>
          <a:xfrm>
            <a:off x="2812505" y="2927694"/>
            <a:ext cx="441358" cy="246221"/>
          </a:xfrm>
          <a:prstGeom prst="rect">
            <a:avLst/>
          </a:prstGeom>
          <a:noFill/>
        </p:spPr>
        <p:txBody>
          <a:bodyPr wrap="square" rtlCol="0">
            <a:spAutoFit/>
          </a:bodyPr>
          <a:lstStyle/>
          <a:p>
            <a:pPr algn="ctr"/>
            <a:r>
              <a:rPr lang="en-US" sz="1000" dirty="0"/>
              <a:t>yes</a:t>
            </a:r>
          </a:p>
        </p:txBody>
      </p:sp>
      <p:sp>
        <p:nvSpPr>
          <p:cNvPr id="169" name="TextBox 168">
            <a:extLst>
              <a:ext uri="{FF2B5EF4-FFF2-40B4-BE49-F238E27FC236}">
                <a16:creationId xmlns:a16="http://schemas.microsoft.com/office/drawing/2014/main" id="{332742D1-A365-4B32-AC39-4EABE9FF3910}"/>
              </a:ext>
            </a:extLst>
          </p:cNvPr>
          <p:cNvSpPr txBox="1"/>
          <p:nvPr/>
        </p:nvSpPr>
        <p:spPr>
          <a:xfrm>
            <a:off x="2812505" y="3493746"/>
            <a:ext cx="441358" cy="246221"/>
          </a:xfrm>
          <a:prstGeom prst="rect">
            <a:avLst/>
          </a:prstGeom>
          <a:noFill/>
        </p:spPr>
        <p:txBody>
          <a:bodyPr wrap="square" rtlCol="0">
            <a:spAutoFit/>
          </a:bodyPr>
          <a:lstStyle/>
          <a:p>
            <a:pPr algn="ctr"/>
            <a:r>
              <a:rPr lang="en-US" sz="1000" dirty="0"/>
              <a:t>yes</a:t>
            </a:r>
          </a:p>
        </p:txBody>
      </p:sp>
      <p:sp>
        <p:nvSpPr>
          <p:cNvPr id="170" name="TextBox 169">
            <a:extLst>
              <a:ext uri="{FF2B5EF4-FFF2-40B4-BE49-F238E27FC236}">
                <a16:creationId xmlns:a16="http://schemas.microsoft.com/office/drawing/2014/main" id="{41F35A1E-ED8B-4067-95F5-68046979D31A}"/>
              </a:ext>
            </a:extLst>
          </p:cNvPr>
          <p:cNvSpPr txBox="1"/>
          <p:nvPr/>
        </p:nvSpPr>
        <p:spPr>
          <a:xfrm>
            <a:off x="2812505" y="4059798"/>
            <a:ext cx="441358" cy="246221"/>
          </a:xfrm>
          <a:prstGeom prst="rect">
            <a:avLst/>
          </a:prstGeom>
          <a:noFill/>
        </p:spPr>
        <p:txBody>
          <a:bodyPr wrap="square" rtlCol="0">
            <a:spAutoFit/>
          </a:bodyPr>
          <a:lstStyle/>
          <a:p>
            <a:pPr algn="ctr"/>
            <a:r>
              <a:rPr lang="en-US" sz="1000" dirty="0"/>
              <a:t>yes</a:t>
            </a:r>
          </a:p>
        </p:txBody>
      </p:sp>
      <p:sp>
        <p:nvSpPr>
          <p:cNvPr id="171" name="TextBox 170">
            <a:extLst>
              <a:ext uri="{FF2B5EF4-FFF2-40B4-BE49-F238E27FC236}">
                <a16:creationId xmlns:a16="http://schemas.microsoft.com/office/drawing/2014/main" id="{8E2673E0-D2C6-4134-BD58-078FD2C6D9C4}"/>
              </a:ext>
            </a:extLst>
          </p:cNvPr>
          <p:cNvSpPr txBox="1"/>
          <p:nvPr/>
        </p:nvSpPr>
        <p:spPr>
          <a:xfrm>
            <a:off x="2812505" y="4625850"/>
            <a:ext cx="441358" cy="246221"/>
          </a:xfrm>
          <a:prstGeom prst="rect">
            <a:avLst/>
          </a:prstGeom>
          <a:noFill/>
        </p:spPr>
        <p:txBody>
          <a:bodyPr wrap="square" rtlCol="0">
            <a:spAutoFit/>
          </a:bodyPr>
          <a:lstStyle/>
          <a:p>
            <a:pPr algn="ctr"/>
            <a:r>
              <a:rPr lang="en-US" sz="1000" dirty="0"/>
              <a:t>yes</a:t>
            </a:r>
          </a:p>
        </p:txBody>
      </p:sp>
      <p:sp>
        <p:nvSpPr>
          <p:cNvPr id="172" name="TextBox 171">
            <a:extLst>
              <a:ext uri="{FF2B5EF4-FFF2-40B4-BE49-F238E27FC236}">
                <a16:creationId xmlns:a16="http://schemas.microsoft.com/office/drawing/2014/main" id="{494EFFED-831B-4123-BD26-4FA504C739E5}"/>
              </a:ext>
            </a:extLst>
          </p:cNvPr>
          <p:cNvSpPr txBox="1"/>
          <p:nvPr/>
        </p:nvSpPr>
        <p:spPr>
          <a:xfrm>
            <a:off x="2812505" y="5191899"/>
            <a:ext cx="441358" cy="246221"/>
          </a:xfrm>
          <a:prstGeom prst="rect">
            <a:avLst/>
          </a:prstGeom>
          <a:noFill/>
        </p:spPr>
        <p:txBody>
          <a:bodyPr wrap="square" rtlCol="0">
            <a:spAutoFit/>
          </a:bodyPr>
          <a:lstStyle/>
          <a:p>
            <a:pPr algn="ctr"/>
            <a:r>
              <a:rPr lang="en-US" sz="1000" dirty="0"/>
              <a:t>yes</a:t>
            </a:r>
          </a:p>
        </p:txBody>
      </p:sp>
      <p:sp>
        <p:nvSpPr>
          <p:cNvPr id="176" name="TextBox 175">
            <a:extLst>
              <a:ext uri="{FF2B5EF4-FFF2-40B4-BE49-F238E27FC236}">
                <a16:creationId xmlns:a16="http://schemas.microsoft.com/office/drawing/2014/main" id="{6AEB7CFA-84B5-436F-8487-6C32589C2418}"/>
              </a:ext>
            </a:extLst>
          </p:cNvPr>
          <p:cNvSpPr txBox="1"/>
          <p:nvPr/>
        </p:nvSpPr>
        <p:spPr>
          <a:xfrm>
            <a:off x="1106680" y="5669512"/>
            <a:ext cx="372047" cy="246221"/>
          </a:xfrm>
          <a:prstGeom prst="rect">
            <a:avLst/>
          </a:prstGeom>
          <a:noFill/>
        </p:spPr>
        <p:txBody>
          <a:bodyPr wrap="square" rtlCol="0">
            <a:spAutoFit/>
          </a:bodyPr>
          <a:lstStyle/>
          <a:p>
            <a:pPr algn="ctr"/>
            <a:r>
              <a:rPr lang="en-US" sz="1000" dirty="0"/>
              <a:t>no</a:t>
            </a:r>
          </a:p>
        </p:txBody>
      </p:sp>
      <p:sp>
        <p:nvSpPr>
          <p:cNvPr id="177" name="TextBox 176">
            <a:extLst>
              <a:ext uri="{FF2B5EF4-FFF2-40B4-BE49-F238E27FC236}">
                <a16:creationId xmlns:a16="http://schemas.microsoft.com/office/drawing/2014/main" id="{6748E245-F014-49EF-B9F1-892AAEECD6B7}"/>
              </a:ext>
            </a:extLst>
          </p:cNvPr>
          <p:cNvSpPr txBox="1"/>
          <p:nvPr/>
        </p:nvSpPr>
        <p:spPr>
          <a:xfrm>
            <a:off x="1106680" y="5019770"/>
            <a:ext cx="372047" cy="246221"/>
          </a:xfrm>
          <a:prstGeom prst="rect">
            <a:avLst/>
          </a:prstGeom>
          <a:noFill/>
        </p:spPr>
        <p:txBody>
          <a:bodyPr wrap="square" rtlCol="0">
            <a:spAutoFit/>
          </a:bodyPr>
          <a:lstStyle/>
          <a:p>
            <a:pPr algn="ctr"/>
            <a:r>
              <a:rPr lang="en-US" sz="1000" dirty="0"/>
              <a:t>no</a:t>
            </a:r>
          </a:p>
        </p:txBody>
      </p:sp>
      <p:sp>
        <p:nvSpPr>
          <p:cNvPr id="178" name="TextBox 177">
            <a:extLst>
              <a:ext uri="{FF2B5EF4-FFF2-40B4-BE49-F238E27FC236}">
                <a16:creationId xmlns:a16="http://schemas.microsoft.com/office/drawing/2014/main" id="{38314BDA-E7D8-4396-A812-721C0963D303}"/>
              </a:ext>
            </a:extLst>
          </p:cNvPr>
          <p:cNvSpPr txBox="1"/>
          <p:nvPr/>
        </p:nvSpPr>
        <p:spPr>
          <a:xfrm>
            <a:off x="1106680" y="4463667"/>
            <a:ext cx="372047" cy="246221"/>
          </a:xfrm>
          <a:prstGeom prst="rect">
            <a:avLst/>
          </a:prstGeom>
          <a:noFill/>
        </p:spPr>
        <p:txBody>
          <a:bodyPr wrap="square" rtlCol="0">
            <a:spAutoFit/>
          </a:bodyPr>
          <a:lstStyle/>
          <a:p>
            <a:pPr algn="ctr"/>
            <a:r>
              <a:rPr lang="en-US" sz="1000" dirty="0"/>
              <a:t>no</a:t>
            </a:r>
          </a:p>
        </p:txBody>
      </p:sp>
      <p:sp>
        <p:nvSpPr>
          <p:cNvPr id="179" name="TextBox 178">
            <a:extLst>
              <a:ext uri="{FF2B5EF4-FFF2-40B4-BE49-F238E27FC236}">
                <a16:creationId xmlns:a16="http://schemas.microsoft.com/office/drawing/2014/main" id="{495D7E85-1A25-4060-97C5-14FB463C4F1E}"/>
              </a:ext>
            </a:extLst>
          </p:cNvPr>
          <p:cNvSpPr txBox="1"/>
          <p:nvPr/>
        </p:nvSpPr>
        <p:spPr>
          <a:xfrm>
            <a:off x="1106680" y="3906479"/>
            <a:ext cx="372047" cy="246221"/>
          </a:xfrm>
          <a:prstGeom prst="rect">
            <a:avLst/>
          </a:prstGeom>
          <a:noFill/>
        </p:spPr>
        <p:txBody>
          <a:bodyPr wrap="square" rtlCol="0">
            <a:spAutoFit/>
          </a:bodyPr>
          <a:lstStyle/>
          <a:p>
            <a:pPr algn="ctr"/>
            <a:r>
              <a:rPr lang="en-US" sz="1000" dirty="0"/>
              <a:t>no</a:t>
            </a:r>
          </a:p>
        </p:txBody>
      </p:sp>
      <p:sp>
        <p:nvSpPr>
          <p:cNvPr id="57" name="TextBox 56">
            <a:extLst>
              <a:ext uri="{FF2B5EF4-FFF2-40B4-BE49-F238E27FC236}">
                <a16:creationId xmlns:a16="http://schemas.microsoft.com/office/drawing/2014/main" id="{A30E37F1-0E2B-4E04-BC19-8C44B51C35F8}"/>
              </a:ext>
            </a:extLst>
          </p:cNvPr>
          <p:cNvSpPr txBox="1"/>
          <p:nvPr/>
        </p:nvSpPr>
        <p:spPr>
          <a:xfrm>
            <a:off x="1106680" y="2769415"/>
            <a:ext cx="372047" cy="246221"/>
          </a:xfrm>
          <a:prstGeom prst="rect">
            <a:avLst/>
          </a:prstGeom>
          <a:noFill/>
        </p:spPr>
        <p:txBody>
          <a:bodyPr wrap="square" rtlCol="0">
            <a:spAutoFit/>
          </a:bodyPr>
          <a:lstStyle/>
          <a:p>
            <a:pPr algn="ctr"/>
            <a:r>
              <a:rPr lang="en-US" sz="1000" dirty="0"/>
              <a:t>no</a:t>
            </a:r>
          </a:p>
        </p:txBody>
      </p:sp>
      <p:sp>
        <p:nvSpPr>
          <p:cNvPr id="81" name="TextBox 80">
            <a:extLst>
              <a:ext uri="{FF2B5EF4-FFF2-40B4-BE49-F238E27FC236}">
                <a16:creationId xmlns:a16="http://schemas.microsoft.com/office/drawing/2014/main" id="{62A4CE34-7426-4385-A22B-91C2809FC95E}"/>
              </a:ext>
            </a:extLst>
          </p:cNvPr>
          <p:cNvSpPr txBox="1"/>
          <p:nvPr/>
        </p:nvSpPr>
        <p:spPr>
          <a:xfrm>
            <a:off x="548204" y="1847767"/>
            <a:ext cx="2011680" cy="400110"/>
          </a:xfrm>
          <a:prstGeom prst="rect">
            <a:avLst/>
          </a:prstGeom>
          <a:noFill/>
          <a:ln>
            <a:solidFill>
              <a:schemeClr val="tx1"/>
            </a:solidFill>
          </a:ln>
        </p:spPr>
        <p:txBody>
          <a:bodyPr wrap="square" rtlCol="0">
            <a:spAutoFit/>
          </a:bodyPr>
          <a:lstStyle/>
          <a:p>
            <a:pPr algn="ctr"/>
            <a:r>
              <a:rPr lang="en-US" sz="1000" dirty="0"/>
              <a:t>Does the compound have </a:t>
            </a:r>
            <a:r>
              <a:rPr lang="en-US" sz="1000" dirty="0" err="1"/>
              <a:t>n</a:t>
            </a:r>
            <a:r>
              <a:rPr lang="en-US" sz="1000" baseline="-25000" dirty="0" err="1"/>
              <a:t>C</a:t>
            </a:r>
            <a:r>
              <a:rPr lang="en-US" sz="1000" baseline="-25000" dirty="0"/>
              <a:t>=C </a:t>
            </a:r>
            <a:r>
              <a:rPr lang="en-US" sz="1000" dirty="0"/>
              <a:t>&gt;=1 and log</a:t>
            </a:r>
            <a:r>
              <a:rPr lang="en-US" sz="1000" baseline="-25000" dirty="0"/>
              <a:t>10</a:t>
            </a:r>
            <a:r>
              <a:rPr lang="en-US" sz="1000" dirty="0"/>
              <a:t>C*&lt;6.5?</a:t>
            </a:r>
          </a:p>
        </p:txBody>
      </p:sp>
      <p:sp>
        <p:nvSpPr>
          <p:cNvPr id="83" name="TextBox 82">
            <a:extLst>
              <a:ext uri="{FF2B5EF4-FFF2-40B4-BE49-F238E27FC236}">
                <a16:creationId xmlns:a16="http://schemas.microsoft.com/office/drawing/2014/main" id="{7857DD52-7A50-4235-ACF6-981906BB7672}"/>
              </a:ext>
            </a:extLst>
          </p:cNvPr>
          <p:cNvSpPr txBox="1"/>
          <p:nvPr/>
        </p:nvSpPr>
        <p:spPr>
          <a:xfrm>
            <a:off x="3473050" y="1849389"/>
            <a:ext cx="3657351"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Aromatic-like IVOCs of highest volatility (VROCP6ARO)</a:t>
            </a:r>
          </a:p>
        </p:txBody>
      </p:sp>
      <p:cxnSp>
        <p:nvCxnSpPr>
          <p:cNvPr id="84" name="Straight Arrow Connector 83">
            <a:extLst>
              <a:ext uri="{FF2B5EF4-FFF2-40B4-BE49-F238E27FC236}">
                <a16:creationId xmlns:a16="http://schemas.microsoft.com/office/drawing/2014/main" id="{DFD5F19A-56E5-4F51-9766-EF907F261117}"/>
              </a:ext>
            </a:extLst>
          </p:cNvPr>
          <p:cNvCxnSpPr>
            <a:cxnSpLocks/>
            <a:stCxn id="88" idx="2"/>
            <a:endCxn id="81" idx="0"/>
          </p:cNvCxnSpPr>
          <p:nvPr/>
        </p:nvCxnSpPr>
        <p:spPr>
          <a:xfrm>
            <a:off x="1554044" y="1682426"/>
            <a:ext cx="0" cy="1653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C0269DE-767E-486C-9C5E-89622086E196}"/>
              </a:ext>
            </a:extLst>
          </p:cNvPr>
          <p:cNvCxnSpPr>
            <a:cxnSpLocks/>
            <a:stCxn id="81" idx="3"/>
            <a:endCxn id="83" idx="1"/>
          </p:cNvCxnSpPr>
          <p:nvPr/>
        </p:nvCxnSpPr>
        <p:spPr>
          <a:xfrm>
            <a:off x="2559884" y="2047822"/>
            <a:ext cx="913166" cy="16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DB5F6FA8-00E3-4F62-A6A2-63661D76B329}"/>
              </a:ext>
            </a:extLst>
          </p:cNvPr>
          <p:cNvCxnSpPr>
            <a:cxnSpLocks/>
            <a:stCxn id="88" idx="3"/>
            <a:endCxn id="87" idx="1"/>
          </p:cNvCxnSpPr>
          <p:nvPr/>
        </p:nvCxnSpPr>
        <p:spPr>
          <a:xfrm>
            <a:off x="2559884" y="1482371"/>
            <a:ext cx="91316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074B50A6-4994-4CD5-AED2-6E98CF66CA8D}"/>
              </a:ext>
            </a:extLst>
          </p:cNvPr>
          <p:cNvSpPr txBox="1"/>
          <p:nvPr/>
        </p:nvSpPr>
        <p:spPr>
          <a:xfrm>
            <a:off x="3473050" y="1282316"/>
            <a:ext cx="3657351"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Aromatic-like IVOCs of intermediate volatility (VROCP5ARO)</a:t>
            </a:r>
          </a:p>
        </p:txBody>
      </p:sp>
      <p:sp>
        <p:nvSpPr>
          <p:cNvPr id="88" name="TextBox 87">
            <a:extLst>
              <a:ext uri="{FF2B5EF4-FFF2-40B4-BE49-F238E27FC236}">
                <a16:creationId xmlns:a16="http://schemas.microsoft.com/office/drawing/2014/main" id="{1767F71D-38A1-4EFA-9B61-9DE5D09C1355}"/>
              </a:ext>
            </a:extLst>
          </p:cNvPr>
          <p:cNvSpPr txBox="1"/>
          <p:nvPr/>
        </p:nvSpPr>
        <p:spPr>
          <a:xfrm>
            <a:off x="548204" y="1282316"/>
            <a:ext cx="2011680" cy="400110"/>
          </a:xfrm>
          <a:prstGeom prst="rect">
            <a:avLst/>
          </a:prstGeom>
          <a:noFill/>
          <a:ln>
            <a:solidFill>
              <a:schemeClr val="tx1"/>
            </a:solidFill>
          </a:ln>
        </p:spPr>
        <p:txBody>
          <a:bodyPr wrap="square" rtlCol="0">
            <a:spAutoFit/>
          </a:bodyPr>
          <a:lstStyle/>
          <a:p>
            <a:pPr algn="ctr"/>
            <a:r>
              <a:rPr lang="en-US" sz="1000" dirty="0"/>
              <a:t>Does the compound have </a:t>
            </a:r>
            <a:r>
              <a:rPr lang="en-US" sz="1000" dirty="0" err="1"/>
              <a:t>n</a:t>
            </a:r>
            <a:r>
              <a:rPr lang="en-US" sz="1000" baseline="-25000" dirty="0" err="1"/>
              <a:t>C</a:t>
            </a:r>
            <a:r>
              <a:rPr lang="en-US" sz="1000" baseline="-25000" dirty="0"/>
              <a:t>=C </a:t>
            </a:r>
            <a:r>
              <a:rPr lang="en-US" sz="1000" dirty="0"/>
              <a:t>&gt;=1 and log</a:t>
            </a:r>
            <a:r>
              <a:rPr lang="en-US" sz="1000" baseline="-25000" dirty="0"/>
              <a:t>10</a:t>
            </a:r>
            <a:r>
              <a:rPr lang="en-US" sz="1000" dirty="0"/>
              <a:t>C*&lt;5.5?</a:t>
            </a:r>
          </a:p>
        </p:txBody>
      </p:sp>
      <p:sp>
        <p:nvSpPr>
          <p:cNvPr id="91" name="TextBox 90">
            <a:extLst>
              <a:ext uri="{FF2B5EF4-FFF2-40B4-BE49-F238E27FC236}">
                <a16:creationId xmlns:a16="http://schemas.microsoft.com/office/drawing/2014/main" id="{665D8A9E-C81E-413B-B0D4-67C5BC5D513D}"/>
              </a:ext>
            </a:extLst>
          </p:cNvPr>
          <p:cNvSpPr txBox="1"/>
          <p:nvPr/>
        </p:nvSpPr>
        <p:spPr>
          <a:xfrm>
            <a:off x="1106680" y="1644167"/>
            <a:ext cx="372047" cy="246221"/>
          </a:xfrm>
          <a:prstGeom prst="rect">
            <a:avLst/>
          </a:prstGeom>
          <a:noFill/>
        </p:spPr>
        <p:txBody>
          <a:bodyPr wrap="square" rtlCol="0">
            <a:spAutoFit/>
          </a:bodyPr>
          <a:lstStyle/>
          <a:p>
            <a:pPr algn="ctr"/>
            <a:r>
              <a:rPr lang="en-US" sz="1000" dirty="0"/>
              <a:t>no</a:t>
            </a:r>
          </a:p>
        </p:txBody>
      </p:sp>
      <p:sp>
        <p:nvSpPr>
          <p:cNvPr id="97" name="TextBox 96">
            <a:extLst>
              <a:ext uri="{FF2B5EF4-FFF2-40B4-BE49-F238E27FC236}">
                <a16:creationId xmlns:a16="http://schemas.microsoft.com/office/drawing/2014/main" id="{8639116A-684C-4E67-8BFB-36368316E7DF}"/>
              </a:ext>
            </a:extLst>
          </p:cNvPr>
          <p:cNvSpPr txBox="1"/>
          <p:nvPr/>
        </p:nvSpPr>
        <p:spPr>
          <a:xfrm>
            <a:off x="2812505" y="1229538"/>
            <a:ext cx="441358" cy="246221"/>
          </a:xfrm>
          <a:prstGeom prst="rect">
            <a:avLst/>
          </a:prstGeom>
          <a:noFill/>
        </p:spPr>
        <p:txBody>
          <a:bodyPr wrap="square" rtlCol="0">
            <a:spAutoFit/>
          </a:bodyPr>
          <a:lstStyle/>
          <a:p>
            <a:pPr algn="ctr"/>
            <a:r>
              <a:rPr lang="en-US" sz="1000" dirty="0"/>
              <a:t>yes</a:t>
            </a:r>
          </a:p>
        </p:txBody>
      </p:sp>
      <p:sp>
        <p:nvSpPr>
          <p:cNvPr id="110" name="TextBox 109">
            <a:extLst>
              <a:ext uri="{FF2B5EF4-FFF2-40B4-BE49-F238E27FC236}">
                <a16:creationId xmlns:a16="http://schemas.microsoft.com/office/drawing/2014/main" id="{E95E54D6-5294-4E2C-BA67-4A108D8331D7}"/>
              </a:ext>
            </a:extLst>
          </p:cNvPr>
          <p:cNvSpPr txBox="1"/>
          <p:nvPr/>
        </p:nvSpPr>
        <p:spPr>
          <a:xfrm>
            <a:off x="2812505" y="1795590"/>
            <a:ext cx="441358" cy="246221"/>
          </a:xfrm>
          <a:prstGeom prst="rect">
            <a:avLst/>
          </a:prstGeom>
          <a:noFill/>
        </p:spPr>
        <p:txBody>
          <a:bodyPr wrap="square" rtlCol="0">
            <a:spAutoFit/>
          </a:bodyPr>
          <a:lstStyle/>
          <a:p>
            <a:pPr algn="ctr"/>
            <a:r>
              <a:rPr lang="en-US" sz="1000" dirty="0"/>
              <a:t>yes</a:t>
            </a:r>
          </a:p>
        </p:txBody>
      </p:sp>
      <p:cxnSp>
        <p:nvCxnSpPr>
          <p:cNvPr id="127" name="Straight Arrow Connector 126">
            <a:extLst>
              <a:ext uri="{FF2B5EF4-FFF2-40B4-BE49-F238E27FC236}">
                <a16:creationId xmlns:a16="http://schemas.microsoft.com/office/drawing/2014/main" id="{640E9144-5F1B-493E-BD62-B7068CE3437F}"/>
              </a:ext>
            </a:extLst>
          </p:cNvPr>
          <p:cNvCxnSpPr>
            <a:cxnSpLocks/>
            <a:stCxn id="81" idx="2"/>
            <a:endCxn id="101" idx="0"/>
          </p:cNvCxnSpPr>
          <p:nvPr/>
        </p:nvCxnSpPr>
        <p:spPr>
          <a:xfrm>
            <a:off x="1554044" y="2247877"/>
            <a:ext cx="0" cy="1653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DC713294-9705-4FC4-A769-0D98680EAAD3}"/>
              </a:ext>
            </a:extLst>
          </p:cNvPr>
          <p:cNvSpPr txBox="1"/>
          <p:nvPr/>
        </p:nvSpPr>
        <p:spPr>
          <a:xfrm>
            <a:off x="1063168" y="2213242"/>
            <a:ext cx="459071" cy="246221"/>
          </a:xfrm>
          <a:prstGeom prst="rect">
            <a:avLst/>
          </a:prstGeom>
          <a:noFill/>
        </p:spPr>
        <p:txBody>
          <a:bodyPr wrap="square" rtlCol="0">
            <a:spAutoFit/>
          </a:bodyPr>
          <a:lstStyle/>
          <a:p>
            <a:pPr algn="ctr"/>
            <a:r>
              <a:rPr lang="en-US" sz="1000" dirty="0"/>
              <a:t>no</a:t>
            </a:r>
          </a:p>
        </p:txBody>
      </p:sp>
      <p:sp>
        <p:nvSpPr>
          <p:cNvPr id="131" name="TextBox 130">
            <a:extLst>
              <a:ext uri="{FF2B5EF4-FFF2-40B4-BE49-F238E27FC236}">
                <a16:creationId xmlns:a16="http://schemas.microsoft.com/office/drawing/2014/main" id="{27629874-E2C9-4A1B-B3C8-23FB549989B9}"/>
              </a:ext>
            </a:extLst>
          </p:cNvPr>
          <p:cNvSpPr txBox="1"/>
          <p:nvPr/>
        </p:nvSpPr>
        <p:spPr>
          <a:xfrm>
            <a:off x="548204" y="7180800"/>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C*&lt;4.5?</a:t>
            </a:r>
          </a:p>
        </p:txBody>
      </p:sp>
      <p:cxnSp>
        <p:nvCxnSpPr>
          <p:cNvPr id="132" name="Straight Arrow Connector 131">
            <a:extLst>
              <a:ext uri="{FF2B5EF4-FFF2-40B4-BE49-F238E27FC236}">
                <a16:creationId xmlns:a16="http://schemas.microsoft.com/office/drawing/2014/main" id="{652A9D8D-C115-46CE-BB8F-E8C5A7AB1BBC}"/>
              </a:ext>
            </a:extLst>
          </p:cNvPr>
          <p:cNvCxnSpPr>
            <a:cxnSpLocks/>
            <a:stCxn id="131" idx="3"/>
            <a:endCxn id="133" idx="1"/>
          </p:cNvCxnSpPr>
          <p:nvPr/>
        </p:nvCxnSpPr>
        <p:spPr>
          <a:xfrm>
            <a:off x="2559884" y="7380855"/>
            <a:ext cx="913166" cy="3255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C770A8A9-87CA-451E-9C07-2439A942CE33}"/>
              </a:ext>
            </a:extLst>
          </p:cNvPr>
          <p:cNvSpPr txBox="1"/>
          <p:nvPr/>
        </p:nvSpPr>
        <p:spPr>
          <a:xfrm>
            <a:off x="3473050" y="7352511"/>
            <a:ext cx="3855212" cy="707886"/>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highlight>
                  <a:srgbClr val="FFFF00"/>
                </a:highlight>
              </a:rPr>
              <a:t>If O:C &gt; 0.4: oxygenated IVOCs and siloxanes (VROCIOXY) </a:t>
            </a:r>
          </a:p>
          <a:p>
            <a:r>
              <a:rPr lang="en-US" sz="1000" dirty="0"/>
              <a:t>Else if O:C &gt; 0.1: Oxygenated IVOC of lower volatility (VROCP4OXY2)</a:t>
            </a:r>
          </a:p>
          <a:p>
            <a:r>
              <a:rPr lang="en-US" sz="1000" dirty="0"/>
              <a:t>Else: Alkane-like IVOCs of lower volatility (VROCP4ALK)</a:t>
            </a:r>
          </a:p>
        </p:txBody>
      </p:sp>
      <p:sp>
        <p:nvSpPr>
          <p:cNvPr id="134" name="TextBox 133">
            <a:extLst>
              <a:ext uri="{FF2B5EF4-FFF2-40B4-BE49-F238E27FC236}">
                <a16:creationId xmlns:a16="http://schemas.microsoft.com/office/drawing/2014/main" id="{7D050C32-438E-48C1-96BA-A1BB03E1C0D0}"/>
              </a:ext>
            </a:extLst>
          </p:cNvPr>
          <p:cNvSpPr txBox="1"/>
          <p:nvPr/>
        </p:nvSpPr>
        <p:spPr>
          <a:xfrm>
            <a:off x="548204" y="8331509"/>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C*&lt;6.5?</a:t>
            </a:r>
          </a:p>
        </p:txBody>
      </p:sp>
      <p:sp>
        <p:nvSpPr>
          <p:cNvPr id="135" name="TextBox 134">
            <a:extLst>
              <a:ext uri="{FF2B5EF4-FFF2-40B4-BE49-F238E27FC236}">
                <a16:creationId xmlns:a16="http://schemas.microsoft.com/office/drawing/2014/main" id="{5FD0291B-6500-476C-A8A4-5C8A9C9E6CB6}"/>
              </a:ext>
            </a:extLst>
          </p:cNvPr>
          <p:cNvSpPr txBox="1"/>
          <p:nvPr/>
        </p:nvSpPr>
        <p:spPr>
          <a:xfrm>
            <a:off x="3473050" y="8925204"/>
            <a:ext cx="3855212" cy="707886"/>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highlight>
                  <a:srgbClr val="FFFF00"/>
                </a:highlight>
              </a:rPr>
              <a:t>If O:C &gt; 0.2: oxygenated IVOCs and siloxanes (VROCIOXY) </a:t>
            </a:r>
          </a:p>
          <a:p>
            <a:r>
              <a:rPr lang="en-US" sz="1000" dirty="0"/>
              <a:t>Else if O:C &gt; 0.05: Oxygenated IVOC of highest volatility (VROCP6OXY1)</a:t>
            </a:r>
          </a:p>
          <a:p>
            <a:r>
              <a:rPr lang="en-US" sz="1000" dirty="0"/>
              <a:t>Alkane-like IVOCs of highest volatility (VROCP6ALK)</a:t>
            </a:r>
          </a:p>
        </p:txBody>
      </p:sp>
      <p:cxnSp>
        <p:nvCxnSpPr>
          <p:cNvPr id="136" name="Straight Arrow Connector 135">
            <a:extLst>
              <a:ext uri="{FF2B5EF4-FFF2-40B4-BE49-F238E27FC236}">
                <a16:creationId xmlns:a16="http://schemas.microsoft.com/office/drawing/2014/main" id="{640D7004-ACC3-42C4-B609-F3F40E505007}"/>
              </a:ext>
            </a:extLst>
          </p:cNvPr>
          <p:cNvCxnSpPr>
            <a:cxnSpLocks/>
            <a:stCxn id="140" idx="2"/>
            <a:endCxn id="134" idx="0"/>
          </p:cNvCxnSpPr>
          <p:nvPr/>
        </p:nvCxnSpPr>
        <p:spPr>
          <a:xfrm>
            <a:off x="1554044" y="8156265"/>
            <a:ext cx="0" cy="1752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D37AE450-4CB0-430F-8D99-A99A9D87D5F1}"/>
              </a:ext>
            </a:extLst>
          </p:cNvPr>
          <p:cNvCxnSpPr>
            <a:cxnSpLocks/>
            <a:stCxn id="134" idx="3"/>
            <a:endCxn id="135" idx="1"/>
          </p:cNvCxnSpPr>
          <p:nvPr/>
        </p:nvCxnSpPr>
        <p:spPr>
          <a:xfrm>
            <a:off x="2559884" y="8531564"/>
            <a:ext cx="913166" cy="7475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D3079F62-EDF8-4C86-94D2-ECD16780F007}"/>
              </a:ext>
            </a:extLst>
          </p:cNvPr>
          <p:cNvCxnSpPr>
            <a:cxnSpLocks/>
            <a:stCxn id="140" idx="3"/>
            <a:endCxn id="139" idx="1"/>
          </p:cNvCxnSpPr>
          <p:nvPr/>
        </p:nvCxnSpPr>
        <p:spPr>
          <a:xfrm>
            <a:off x="2559884" y="7956210"/>
            <a:ext cx="913166" cy="5236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0E458E9C-13C4-41D3-946C-90483527470D}"/>
              </a:ext>
            </a:extLst>
          </p:cNvPr>
          <p:cNvSpPr txBox="1"/>
          <p:nvPr/>
        </p:nvSpPr>
        <p:spPr>
          <a:xfrm>
            <a:off x="3473050" y="8125889"/>
            <a:ext cx="3855212" cy="707886"/>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highlight>
                  <a:srgbClr val="FFFF00"/>
                </a:highlight>
              </a:rPr>
              <a:t>If O:C &gt; 0.2: oxygenated IVOCs and siloxanes (VROCIOXY) </a:t>
            </a:r>
          </a:p>
          <a:p>
            <a:r>
              <a:rPr lang="en-US" sz="1000" dirty="0"/>
              <a:t>Else if O:C &gt; 0.05:  Oxygenated IVOC of </a:t>
            </a:r>
            <a:r>
              <a:rPr lang="en-US" sz="1000" dirty="0" err="1"/>
              <a:t>intermed</a:t>
            </a:r>
            <a:r>
              <a:rPr lang="en-US" sz="1000" dirty="0"/>
              <a:t>. vol. (VROCP5OXY1)</a:t>
            </a:r>
          </a:p>
          <a:p>
            <a:r>
              <a:rPr lang="en-US" sz="1000" dirty="0"/>
              <a:t>Alkane-like IVOCs of intermediate volatility (VROCP5ALK)</a:t>
            </a:r>
          </a:p>
        </p:txBody>
      </p:sp>
      <p:sp>
        <p:nvSpPr>
          <p:cNvPr id="140" name="TextBox 139">
            <a:extLst>
              <a:ext uri="{FF2B5EF4-FFF2-40B4-BE49-F238E27FC236}">
                <a16:creationId xmlns:a16="http://schemas.microsoft.com/office/drawing/2014/main" id="{82AA4D97-F822-4211-9D5F-283693251449}"/>
              </a:ext>
            </a:extLst>
          </p:cNvPr>
          <p:cNvSpPr txBox="1"/>
          <p:nvPr/>
        </p:nvSpPr>
        <p:spPr>
          <a:xfrm>
            <a:off x="548204" y="7756155"/>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C*&lt;5.5?</a:t>
            </a:r>
          </a:p>
        </p:txBody>
      </p:sp>
      <p:cxnSp>
        <p:nvCxnSpPr>
          <p:cNvPr id="141" name="Straight Arrow Connector 140">
            <a:extLst>
              <a:ext uri="{FF2B5EF4-FFF2-40B4-BE49-F238E27FC236}">
                <a16:creationId xmlns:a16="http://schemas.microsoft.com/office/drawing/2014/main" id="{3CF1E9C4-0065-4005-9298-E66C434C7F83}"/>
              </a:ext>
            </a:extLst>
          </p:cNvPr>
          <p:cNvCxnSpPr>
            <a:cxnSpLocks/>
            <a:stCxn id="131" idx="2"/>
            <a:endCxn id="140" idx="0"/>
          </p:cNvCxnSpPr>
          <p:nvPr/>
        </p:nvCxnSpPr>
        <p:spPr>
          <a:xfrm>
            <a:off x="1554044" y="7580910"/>
            <a:ext cx="0" cy="1752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7833B6FC-FA42-431D-B20C-2B10C230213D}"/>
              </a:ext>
            </a:extLst>
          </p:cNvPr>
          <p:cNvSpPr txBox="1"/>
          <p:nvPr/>
        </p:nvSpPr>
        <p:spPr>
          <a:xfrm>
            <a:off x="1106680" y="7533843"/>
            <a:ext cx="372047" cy="246221"/>
          </a:xfrm>
          <a:prstGeom prst="rect">
            <a:avLst/>
          </a:prstGeom>
          <a:noFill/>
        </p:spPr>
        <p:txBody>
          <a:bodyPr wrap="square" rtlCol="0">
            <a:spAutoFit/>
          </a:bodyPr>
          <a:lstStyle/>
          <a:p>
            <a:pPr algn="ctr"/>
            <a:r>
              <a:rPr lang="en-US" sz="1000" dirty="0"/>
              <a:t>no</a:t>
            </a:r>
          </a:p>
        </p:txBody>
      </p:sp>
      <p:sp>
        <p:nvSpPr>
          <p:cNvPr id="143" name="TextBox 142">
            <a:extLst>
              <a:ext uri="{FF2B5EF4-FFF2-40B4-BE49-F238E27FC236}">
                <a16:creationId xmlns:a16="http://schemas.microsoft.com/office/drawing/2014/main" id="{3EE84B19-CBE5-48E0-9728-19517185DC91}"/>
              </a:ext>
            </a:extLst>
          </p:cNvPr>
          <p:cNvSpPr txBox="1"/>
          <p:nvPr/>
        </p:nvSpPr>
        <p:spPr>
          <a:xfrm>
            <a:off x="1106680" y="8131895"/>
            <a:ext cx="372047" cy="246221"/>
          </a:xfrm>
          <a:prstGeom prst="rect">
            <a:avLst/>
          </a:prstGeom>
          <a:noFill/>
        </p:spPr>
        <p:txBody>
          <a:bodyPr wrap="square" rtlCol="0">
            <a:spAutoFit/>
          </a:bodyPr>
          <a:lstStyle/>
          <a:p>
            <a:pPr algn="ctr"/>
            <a:r>
              <a:rPr lang="en-US" sz="1000" dirty="0"/>
              <a:t>no</a:t>
            </a:r>
          </a:p>
        </p:txBody>
      </p:sp>
      <p:sp>
        <p:nvSpPr>
          <p:cNvPr id="144" name="TextBox 143">
            <a:extLst>
              <a:ext uri="{FF2B5EF4-FFF2-40B4-BE49-F238E27FC236}">
                <a16:creationId xmlns:a16="http://schemas.microsoft.com/office/drawing/2014/main" id="{439B4FE2-FBA4-4640-BCC0-0A605F64CD4F}"/>
              </a:ext>
            </a:extLst>
          </p:cNvPr>
          <p:cNvSpPr txBox="1"/>
          <p:nvPr/>
        </p:nvSpPr>
        <p:spPr>
          <a:xfrm>
            <a:off x="2806732" y="7801366"/>
            <a:ext cx="441358" cy="246221"/>
          </a:xfrm>
          <a:prstGeom prst="rect">
            <a:avLst/>
          </a:prstGeom>
          <a:noFill/>
        </p:spPr>
        <p:txBody>
          <a:bodyPr wrap="square" rtlCol="0">
            <a:spAutoFit/>
          </a:bodyPr>
          <a:lstStyle/>
          <a:p>
            <a:pPr algn="ctr"/>
            <a:r>
              <a:rPr lang="en-US" sz="1000" dirty="0"/>
              <a:t>yes</a:t>
            </a:r>
          </a:p>
        </p:txBody>
      </p:sp>
      <p:sp>
        <p:nvSpPr>
          <p:cNvPr id="145" name="TextBox 144">
            <a:extLst>
              <a:ext uri="{FF2B5EF4-FFF2-40B4-BE49-F238E27FC236}">
                <a16:creationId xmlns:a16="http://schemas.microsoft.com/office/drawing/2014/main" id="{D732291D-34CB-4F4B-B7EF-3B13F33B1ED5}"/>
              </a:ext>
            </a:extLst>
          </p:cNvPr>
          <p:cNvSpPr txBox="1"/>
          <p:nvPr/>
        </p:nvSpPr>
        <p:spPr>
          <a:xfrm>
            <a:off x="2795788" y="8628177"/>
            <a:ext cx="441358" cy="246221"/>
          </a:xfrm>
          <a:prstGeom prst="rect">
            <a:avLst/>
          </a:prstGeom>
          <a:noFill/>
        </p:spPr>
        <p:txBody>
          <a:bodyPr wrap="square" rtlCol="0">
            <a:spAutoFit/>
          </a:bodyPr>
          <a:lstStyle/>
          <a:p>
            <a:pPr algn="ctr"/>
            <a:r>
              <a:rPr lang="en-US" sz="1000" dirty="0"/>
              <a:t>yes</a:t>
            </a:r>
          </a:p>
        </p:txBody>
      </p:sp>
      <p:sp>
        <p:nvSpPr>
          <p:cNvPr id="146" name="TextBox 145">
            <a:extLst>
              <a:ext uri="{FF2B5EF4-FFF2-40B4-BE49-F238E27FC236}">
                <a16:creationId xmlns:a16="http://schemas.microsoft.com/office/drawing/2014/main" id="{169604FE-6652-482C-8C21-31F035F64D35}"/>
              </a:ext>
            </a:extLst>
          </p:cNvPr>
          <p:cNvSpPr txBox="1"/>
          <p:nvPr/>
        </p:nvSpPr>
        <p:spPr>
          <a:xfrm>
            <a:off x="2806732" y="7166539"/>
            <a:ext cx="441358" cy="246221"/>
          </a:xfrm>
          <a:prstGeom prst="rect">
            <a:avLst/>
          </a:prstGeom>
          <a:noFill/>
        </p:spPr>
        <p:txBody>
          <a:bodyPr wrap="square" rtlCol="0">
            <a:spAutoFit/>
          </a:bodyPr>
          <a:lstStyle/>
          <a:p>
            <a:pPr algn="ctr"/>
            <a:r>
              <a:rPr lang="en-US" sz="1000" dirty="0"/>
              <a:t>yes</a:t>
            </a:r>
          </a:p>
        </p:txBody>
      </p:sp>
      <p:sp>
        <p:nvSpPr>
          <p:cNvPr id="147" name="TextBox 146">
            <a:extLst>
              <a:ext uri="{FF2B5EF4-FFF2-40B4-BE49-F238E27FC236}">
                <a16:creationId xmlns:a16="http://schemas.microsoft.com/office/drawing/2014/main" id="{D1FF55DC-12C7-4601-8510-54DA336AB880}"/>
              </a:ext>
            </a:extLst>
          </p:cNvPr>
          <p:cNvSpPr txBox="1"/>
          <p:nvPr/>
        </p:nvSpPr>
        <p:spPr>
          <a:xfrm>
            <a:off x="548204" y="6605445"/>
            <a:ext cx="2011680" cy="400110"/>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C*&lt;3.5?</a:t>
            </a:r>
          </a:p>
        </p:txBody>
      </p:sp>
      <p:cxnSp>
        <p:nvCxnSpPr>
          <p:cNvPr id="148" name="Straight Arrow Connector 147">
            <a:extLst>
              <a:ext uri="{FF2B5EF4-FFF2-40B4-BE49-F238E27FC236}">
                <a16:creationId xmlns:a16="http://schemas.microsoft.com/office/drawing/2014/main" id="{C17495B2-6D91-4FB7-B05F-497E94A0FA8B}"/>
              </a:ext>
            </a:extLst>
          </p:cNvPr>
          <p:cNvCxnSpPr>
            <a:cxnSpLocks/>
            <a:stCxn id="147" idx="3"/>
            <a:endCxn id="149" idx="1"/>
          </p:cNvCxnSpPr>
          <p:nvPr/>
        </p:nvCxnSpPr>
        <p:spPr>
          <a:xfrm>
            <a:off x="2559884" y="6805500"/>
            <a:ext cx="913166" cy="1016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F86D17AF-CEC4-4B36-A7D6-0F4DE24299E0}"/>
              </a:ext>
            </a:extLst>
          </p:cNvPr>
          <p:cNvSpPr txBox="1"/>
          <p:nvPr/>
        </p:nvSpPr>
        <p:spPr>
          <a:xfrm>
            <a:off x="3473050" y="6553195"/>
            <a:ext cx="3855211" cy="707886"/>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highlight>
                  <a:srgbClr val="FFFF00"/>
                </a:highlight>
              </a:rPr>
              <a:t>If O:C &gt; 0.4: oxygenated IVOCs and siloxanes (VROCIOXY) </a:t>
            </a:r>
          </a:p>
          <a:p>
            <a:r>
              <a:rPr lang="en-US" sz="1000" dirty="0"/>
              <a:t>Else if O:C &gt; 0.1: Oxygenated IVOC of lowest volatility (A/VROCP3OXY2)</a:t>
            </a:r>
          </a:p>
          <a:p>
            <a:r>
              <a:rPr lang="en-US" sz="1000" dirty="0"/>
              <a:t>Else: Alkane-like IVOCs of lowest volatility (A/VROCP3ALK)</a:t>
            </a:r>
          </a:p>
        </p:txBody>
      </p:sp>
      <p:cxnSp>
        <p:nvCxnSpPr>
          <p:cNvPr id="150" name="Straight Arrow Connector 149">
            <a:extLst>
              <a:ext uri="{FF2B5EF4-FFF2-40B4-BE49-F238E27FC236}">
                <a16:creationId xmlns:a16="http://schemas.microsoft.com/office/drawing/2014/main" id="{6CF7B741-F815-4495-9118-7213E739617B}"/>
              </a:ext>
            </a:extLst>
          </p:cNvPr>
          <p:cNvCxnSpPr>
            <a:cxnSpLocks/>
            <a:stCxn id="147" idx="2"/>
            <a:endCxn id="131" idx="0"/>
          </p:cNvCxnSpPr>
          <p:nvPr/>
        </p:nvCxnSpPr>
        <p:spPr>
          <a:xfrm>
            <a:off x="1554044" y="7005555"/>
            <a:ext cx="0" cy="1752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09252D71-0AE2-4116-8552-517A69926980}"/>
              </a:ext>
            </a:extLst>
          </p:cNvPr>
          <p:cNvSpPr txBox="1"/>
          <p:nvPr/>
        </p:nvSpPr>
        <p:spPr>
          <a:xfrm>
            <a:off x="1106680" y="6977317"/>
            <a:ext cx="372047" cy="246221"/>
          </a:xfrm>
          <a:prstGeom prst="rect">
            <a:avLst/>
          </a:prstGeom>
          <a:noFill/>
        </p:spPr>
        <p:txBody>
          <a:bodyPr wrap="square" rtlCol="0">
            <a:spAutoFit/>
          </a:bodyPr>
          <a:lstStyle/>
          <a:p>
            <a:pPr algn="ctr"/>
            <a:r>
              <a:rPr lang="en-US" sz="1000" dirty="0"/>
              <a:t>no</a:t>
            </a:r>
          </a:p>
        </p:txBody>
      </p:sp>
      <p:sp>
        <p:nvSpPr>
          <p:cNvPr id="152" name="TextBox 151">
            <a:extLst>
              <a:ext uri="{FF2B5EF4-FFF2-40B4-BE49-F238E27FC236}">
                <a16:creationId xmlns:a16="http://schemas.microsoft.com/office/drawing/2014/main" id="{C7F51770-0594-4053-A4D6-F8F9DE6AE0B9}"/>
              </a:ext>
            </a:extLst>
          </p:cNvPr>
          <p:cNvSpPr txBox="1"/>
          <p:nvPr/>
        </p:nvSpPr>
        <p:spPr>
          <a:xfrm>
            <a:off x="2806732" y="6531712"/>
            <a:ext cx="441358" cy="246221"/>
          </a:xfrm>
          <a:prstGeom prst="rect">
            <a:avLst/>
          </a:prstGeom>
          <a:noFill/>
        </p:spPr>
        <p:txBody>
          <a:bodyPr wrap="square" rtlCol="0">
            <a:spAutoFit/>
          </a:bodyPr>
          <a:lstStyle/>
          <a:p>
            <a:pPr algn="ctr"/>
            <a:r>
              <a:rPr lang="en-US" sz="1000" dirty="0"/>
              <a:t>yes</a:t>
            </a:r>
          </a:p>
        </p:txBody>
      </p:sp>
      <p:sp>
        <p:nvSpPr>
          <p:cNvPr id="153" name="TextBox 152">
            <a:extLst>
              <a:ext uri="{FF2B5EF4-FFF2-40B4-BE49-F238E27FC236}">
                <a16:creationId xmlns:a16="http://schemas.microsoft.com/office/drawing/2014/main" id="{5B8237E1-72F9-45DB-9E32-80715EEAB9D3}"/>
              </a:ext>
            </a:extLst>
          </p:cNvPr>
          <p:cNvSpPr txBox="1"/>
          <p:nvPr/>
        </p:nvSpPr>
        <p:spPr>
          <a:xfrm rot="16200000">
            <a:off x="-1049578" y="7158611"/>
            <a:ext cx="2701529" cy="261604"/>
          </a:xfrm>
          <a:prstGeom prst="rect">
            <a:avLst/>
          </a:prstGeom>
          <a:solidFill>
            <a:schemeClr val="accent3">
              <a:lumMod val="20000"/>
              <a:lumOff val="80000"/>
            </a:schemeClr>
          </a:solidFill>
        </p:spPr>
        <p:txBody>
          <a:bodyPr wrap="square" rtlCol="0">
            <a:spAutoFit/>
          </a:bodyPr>
          <a:lstStyle/>
          <a:p>
            <a:pPr algn="ctr"/>
            <a:r>
              <a:rPr lang="en-US" sz="1100" dirty="0"/>
              <a:t>IVOCs without aromaticity</a:t>
            </a:r>
          </a:p>
        </p:txBody>
      </p:sp>
      <p:sp>
        <p:nvSpPr>
          <p:cNvPr id="155" name="TextBox 154">
            <a:extLst>
              <a:ext uri="{FF2B5EF4-FFF2-40B4-BE49-F238E27FC236}">
                <a16:creationId xmlns:a16="http://schemas.microsoft.com/office/drawing/2014/main" id="{52E22408-F9E7-4BF5-A4D4-A10BD36A6903}"/>
              </a:ext>
            </a:extLst>
          </p:cNvPr>
          <p:cNvSpPr txBox="1"/>
          <p:nvPr/>
        </p:nvSpPr>
        <p:spPr>
          <a:xfrm>
            <a:off x="1106680" y="3336640"/>
            <a:ext cx="372047" cy="246221"/>
          </a:xfrm>
          <a:prstGeom prst="rect">
            <a:avLst/>
          </a:prstGeom>
          <a:noFill/>
        </p:spPr>
        <p:txBody>
          <a:bodyPr wrap="square" rtlCol="0">
            <a:spAutoFit/>
          </a:bodyPr>
          <a:lstStyle/>
          <a:p>
            <a:pPr algn="ctr"/>
            <a:r>
              <a:rPr lang="en-US" sz="1000" dirty="0"/>
              <a:t>no</a:t>
            </a:r>
          </a:p>
        </p:txBody>
      </p:sp>
      <p:cxnSp>
        <p:nvCxnSpPr>
          <p:cNvPr id="160" name="Straight Arrow Connector 159">
            <a:extLst>
              <a:ext uri="{FF2B5EF4-FFF2-40B4-BE49-F238E27FC236}">
                <a16:creationId xmlns:a16="http://schemas.microsoft.com/office/drawing/2014/main" id="{DAEF568B-6F90-4BB0-B082-C35785DFC333}"/>
              </a:ext>
            </a:extLst>
          </p:cNvPr>
          <p:cNvCxnSpPr>
            <a:cxnSpLocks/>
            <a:stCxn id="134" idx="2"/>
            <a:endCxn id="183" idx="0"/>
          </p:cNvCxnSpPr>
          <p:nvPr/>
        </p:nvCxnSpPr>
        <p:spPr>
          <a:xfrm>
            <a:off x="1554044" y="8731619"/>
            <a:ext cx="1907" cy="3452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A7C32114-D23B-41EE-89CE-F91548D4317F}"/>
              </a:ext>
            </a:extLst>
          </p:cNvPr>
          <p:cNvSpPr txBox="1"/>
          <p:nvPr/>
        </p:nvSpPr>
        <p:spPr>
          <a:xfrm>
            <a:off x="1135232" y="8763110"/>
            <a:ext cx="372047" cy="246221"/>
          </a:xfrm>
          <a:prstGeom prst="rect">
            <a:avLst/>
          </a:prstGeom>
          <a:noFill/>
        </p:spPr>
        <p:txBody>
          <a:bodyPr wrap="square" rtlCol="0">
            <a:spAutoFit/>
          </a:bodyPr>
          <a:lstStyle/>
          <a:p>
            <a:pPr algn="ctr"/>
            <a:r>
              <a:rPr lang="en-US" sz="1000" dirty="0"/>
              <a:t>no</a:t>
            </a:r>
          </a:p>
        </p:txBody>
      </p:sp>
      <p:sp>
        <p:nvSpPr>
          <p:cNvPr id="173" name="TextBox 172">
            <a:extLst>
              <a:ext uri="{FF2B5EF4-FFF2-40B4-BE49-F238E27FC236}">
                <a16:creationId xmlns:a16="http://schemas.microsoft.com/office/drawing/2014/main" id="{87490ACC-B1E5-4F88-A7B3-23BA463B67FB}"/>
              </a:ext>
            </a:extLst>
          </p:cNvPr>
          <p:cNvSpPr txBox="1"/>
          <p:nvPr/>
        </p:nvSpPr>
        <p:spPr>
          <a:xfrm>
            <a:off x="548204" y="5886397"/>
            <a:ext cx="2011680" cy="553998"/>
          </a:xfrm>
          <a:prstGeom prst="rect">
            <a:avLst/>
          </a:prstGeom>
          <a:noFill/>
          <a:ln>
            <a:solidFill>
              <a:schemeClr val="tx1"/>
            </a:solidFill>
          </a:ln>
        </p:spPr>
        <p:txBody>
          <a:bodyPr wrap="square" rtlCol="0">
            <a:spAutoFit/>
          </a:bodyPr>
          <a:lstStyle/>
          <a:p>
            <a:pPr algn="ctr"/>
            <a:r>
              <a:rPr lang="en-US" sz="1000" dirty="0"/>
              <a:t>Does the compound have (log</a:t>
            </a:r>
            <a:r>
              <a:rPr lang="en-US" sz="1000" baseline="-25000" dirty="0"/>
              <a:t>10</a:t>
            </a:r>
            <a:r>
              <a:rPr lang="en-US" sz="1000" dirty="0"/>
              <a:t>C*&lt;6.5 and an </a:t>
            </a:r>
            <a:r>
              <a:rPr lang="en-US" sz="1000" dirty="0">
                <a:highlight>
                  <a:srgbClr val="FFFF00"/>
                </a:highlight>
              </a:rPr>
              <a:t>ether/carbamate</a:t>
            </a:r>
            <a:r>
              <a:rPr lang="en-US" sz="1000" dirty="0"/>
              <a:t>) or Si?</a:t>
            </a:r>
          </a:p>
        </p:txBody>
      </p:sp>
      <p:cxnSp>
        <p:nvCxnSpPr>
          <p:cNvPr id="174" name="Straight Arrow Connector 173">
            <a:extLst>
              <a:ext uri="{FF2B5EF4-FFF2-40B4-BE49-F238E27FC236}">
                <a16:creationId xmlns:a16="http://schemas.microsoft.com/office/drawing/2014/main" id="{2B8021E5-65B9-4892-AFCD-A3ECB6336494}"/>
              </a:ext>
            </a:extLst>
          </p:cNvPr>
          <p:cNvCxnSpPr>
            <a:cxnSpLocks/>
            <a:stCxn id="173" idx="3"/>
            <a:endCxn id="175" idx="1"/>
          </p:cNvCxnSpPr>
          <p:nvPr/>
        </p:nvCxnSpPr>
        <p:spPr>
          <a:xfrm flipV="1">
            <a:off x="2559884" y="6138707"/>
            <a:ext cx="913166" cy="246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B5C2D4FA-DCED-40C0-A30C-09F4B2DB275C}"/>
              </a:ext>
            </a:extLst>
          </p:cNvPr>
          <p:cNvSpPr txBox="1"/>
          <p:nvPr/>
        </p:nvSpPr>
        <p:spPr>
          <a:xfrm>
            <a:off x="3473050" y="5938652"/>
            <a:ext cx="3657351"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Oxygenated IVOCs and siloxanes </a:t>
            </a:r>
            <a:r>
              <a:rPr lang="en-US" sz="1000" dirty="0">
                <a:highlight>
                  <a:srgbClr val="FFFF00"/>
                </a:highlight>
              </a:rPr>
              <a:t>typical of VCP sources </a:t>
            </a:r>
            <a:r>
              <a:rPr lang="en-US" sz="1000" dirty="0"/>
              <a:t>(VROCIOXY)</a:t>
            </a:r>
          </a:p>
        </p:txBody>
      </p:sp>
      <p:cxnSp>
        <p:nvCxnSpPr>
          <p:cNvPr id="180" name="Straight Arrow Connector 179">
            <a:extLst>
              <a:ext uri="{FF2B5EF4-FFF2-40B4-BE49-F238E27FC236}">
                <a16:creationId xmlns:a16="http://schemas.microsoft.com/office/drawing/2014/main" id="{53F9CF24-A850-406E-AED3-4382BD3751F2}"/>
              </a:ext>
            </a:extLst>
          </p:cNvPr>
          <p:cNvCxnSpPr>
            <a:cxnSpLocks/>
            <a:stCxn id="173" idx="2"/>
            <a:endCxn id="147" idx="0"/>
          </p:cNvCxnSpPr>
          <p:nvPr/>
        </p:nvCxnSpPr>
        <p:spPr>
          <a:xfrm>
            <a:off x="1554044" y="6440395"/>
            <a:ext cx="0" cy="1650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4B3AD894-9DD3-4AD8-A2BD-862C7800F29D}"/>
              </a:ext>
            </a:extLst>
          </p:cNvPr>
          <p:cNvSpPr txBox="1"/>
          <p:nvPr/>
        </p:nvSpPr>
        <p:spPr>
          <a:xfrm>
            <a:off x="2786781" y="5890674"/>
            <a:ext cx="441358" cy="246221"/>
          </a:xfrm>
          <a:prstGeom prst="rect">
            <a:avLst/>
          </a:prstGeom>
          <a:noFill/>
        </p:spPr>
        <p:txBody>
          <a:bodyPr wrap="square" rtlCol="0">
            <a:spAutoFit/>
          </a:bodyPr>
          <a:lstStyle/>
          <a:p>
            <a:pPr algn="ctr"/>
            <a:r>
              <a:rPr lang="en-US" sz="1000" dirty="0"/>
              <a:t>yes</a:t>
            </a:r>
          </a:p>
        </p:txBody>
      </p:sp>
      <p:sp>
        <p:nvSpPr>
          <p:cNvPr id="182" name="TextBox 181">
            <a:extLst>
              <a:ext uri="{FF2B5EF4-FFF2-40B4-BE49-F238E27FC236}">
                <a16:creationId xmlns:a16="http://schemas.microsoft.com/office/drawing/2014/main" id="{4C12A53F-3A6B-49C7-B660-8D2AEF2BF555}"/>
              </a:ext>
            </a:extLst>
          </p:cNvPr>
          <p:cNvSpPr txBox="1"/>
          <p:nvPr/>
        </p:nvSpPr>
        <p:spPr>
          <a:xfrm>
            <a:off x="1106680" y="6408601"/>
            <a:ext cx="372047" cy="246221"/>
          </a:xfrm>
          <a:prstGeom prst="rect">
            <a:avLst/>
          </a:prstGeom>
          <a:noFill/>
        </p:spPr>
        <p:txBody>
          <a:bodyPr wrap="square" rtlCol="0">
            <a:spAutoFit/>
          </a:bodyPr>
          <a:lstStyle/>
          <a:p>
            <a:pPr algn="ctr"/>
            <a:r>
              <a:rPr lang="en-US" sz="1000" dirty="0"/>
              <a:t>no</a:t>
            </a:r>
          </a:p>
        </p:txBody>
      </p:sp>
      <p:sp>
        <p:nvSpPr>
          <p:cNvPr id="183" name="TextBox 182">
            <a:extLst>
              <a:ext uri="{FF2B5EF4-FFF2-40B4-BE49-F238E27FC236}">
                <a16:creationId xmlns:a16="http://schemas.microsoft.com/office/drawing/2014/main" id="{71E0DEEE-A263-40FA-848F-27A5BA8C710A}"/>
              </a:ext>
            </a:extLst>
          </p:cNvPr>
          <p:cNvSpPr txBox="1"/>
          <p:nvPr/>
        </p:nvSpPr>
        <p:spPr>
          <a:xfrm>
            <a:off x="550113" y="9076908"/>
            <a:ext cx="2011675" cy="246221"/>
          </a:xfrm>
          <a:prstGeom prst="rect">
            <a:avLst/>
          </a:prstGeom>
          <a:solidFill>
            <a:schemeClr val="bg2"/>
          </a:solidFill>
          <a:ln w="9525">
            <a:solidFill>
              <a:schemeClr val="tx1"/>
            </a:solidFill>
            <a:prstDash val="solid"/>
          </a:ln>
        </p:spPr>
        <p:txBody>
          <a:bodyPr wrap="square" numCol="1" rtlCol="0">
            <a:spAutoFit/>
          </a:bodyPr>
          <a:lstStyle/>
          <a:p>
            <a:pPr algn="ctr"/>
            <a:r>
              <a:rPr lang="en-US" sz="1000" dirty="0"/>
              <a:t>Continue to schematic D</a:t>
            </a:r>
          </a:p>
        </p:txBody>
      </p:sp>
      <p:sp>
        <p:nvSpPr>
          <p:cNvPr id="2" name="Slide Number Placeholder 1">
            <a:extLst>
              <a:ext uri="{FF2B5EF4-FFF2-40B4-BE49-F238E27FC236}">
                <a16:creationId xmlns:a16="http://schemas.microsoft.com/office/drawing/2014/main" id="{BA733315-A211-4535-9A96-9B7DDBCC3808}"/>
              </a:ext>
            </a:extLst>
          </p:cNvPr>
          <p:cNvSpPr>
            <a:spLocks noGrp="1"/>
          </p:cNvSpPr>
          <p:nvPr>
            <p:ph type="sldNum" sz="quarter" idx="12"/>
          </p:nvPr>
        </p:nvSpPr>
        <p:spPr>
          <a:xfrm>
            <a:off x="5489258" y="9518594"/>
            <a:ext cx="1748790" cy="535517"/>
          </a:xfrm>
        </p:spPr>
        <p:txBody>
          <a:bodyPr/>
          <a:lstStyle/>
          <a:p>
            <a:fld id="{F63DDF90-292E-431C-AB59-D6C96D26AA84}" type="slidenum">
              <a:rPr lang="en-US" smtClean="0"/>
              <a:t>4</a:t>
            </a:fld>
            <a:endParaRPr lang="en-US" dirty="0"/>
          </a:p>
        </p:txBody>
      </p:sp>
      <p:sp>
        <p:nvSpPr>
          <p:cNvPr id="3" name="TextBox 2">
            <a:extLst>
              <a:ext uri="{FF2B5EF4-FFF2-40B4-BE49-F238E27FC236}">
                <a16:creationId xmlns:a16="http://schemas.microsoft.com/office/drawing/2014/main" id="{CB680D79-91AB-A3BA-6581-BF817176B57E}"/>
              </a:ext>
            </a:extLst>
          </p:cNvPr>
          <p:cNvSpPr txBox="1"/>
          <p:nvPr/>
        </p:nvSpPr>
        <p:spPr>
          <a:xfrm>
            <a:off x="2360771" y="426677"/>
            <a:ext cx="3050858" cy="369332"/>
          </a:xfrm>
          <a:prstGeom prst="rect">
            <a:avLst/>
          </a:prstGeom>
          <a:noFill/>
        </p:spPr>
        <p:txBody>
          <a:bodyPr wrap="square" rtlCol="0">
            <a:spAutoFit/>
          </a:bodyPr>
          <a:lstStyle/>
          <a:p>
            <a:pPr algn="ctr"/>
            <a:r>
              <a:rPr lang="en-US" dirty="0"/>
              <a:t>Schematic C</a:t>
            </a:r>
          </a:p>
        </p:txBody>
      </p:sp>
      <p:sp>
        <p:nvSpPr>
          <p:cNvPr id="4" name="TextBox 3">
            <a:extLst>
              <a:ext uri="{FF2B5EF4-FFF2-40B4-BE49-F238E27FC236}">
                <a16:creationId xmlns:a16="http://schemas.microsoft.com/office/drawing/2014/main" id="{43C0B034-143A-F3E7-B139-1EA286CE1874}"/>
              </a:ext>
            </a:extLst>
          </p:cNvPr>
          <p:cNvSpPr txBox="1"/>
          <p:nvPr/>
        </p:nvSpPr>
        <p:spPr>
          <a:xfrm>
            <a:off x="1209312" y="57345"/>
            <a:ext cx="5379227" cy="369332"/>
          </a:xfrm>
          <a:prstGeom prst="rect">
            <a:avLst/>
          </a:prstGeom>
          <a:noFill/>
        </p:spPr>
        <p:txBody>
          <a:bodyPr wrap="square" rtlCol="0">
            <a:spAutoFit/>
          </a:bodyPr>
          <a:lstStyle/>
          <a:p>
            <a:pPr algn="ctr"/>
            <a:r>
              <a:rPr lang="en-US" dirty="0"/>
              <a:t>CRACMMv3.0 Emissions Mapping, Updated 6/8/2026</a:t>
            </a:r>
          </a:p>
        </p:txBody>
      </p:sp>
    </p:spTree>
    <p:extLst>
      <p:ext uri="{BB962C8B-B14F-4D97-AF65-F5344CB8AC3E}">
        <p14:creationId xmlns:p14="http://schemas.microsoft.com/office/powerpoint/2010/main" val="2899913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8C065AE8-2BB6-45F8-87C6-D68D5CD92120}"/>
              </a:ext>
            </a:extLst>
          </p:cNvPr>
          <p:cNvSpPr txBox="1"/>
          <p:nvPr/>
        </p:nvSpPr>
        <p:spPr>
          <a:xfrm>
            <a:off x="640118" y="7504705"/>
            <a:ext cx="2011679" cy="261610"/>
          </a:xfrm>
          <a:prstGeom prst="rect">
            <a:avLst/>
          </a:prstGeom>
          <a:noFill/>
          <a:ln>
            <a:solidFill>
              <a:schemeClr val="tx1"/>
            </a:solidFill>
          </a:ln>
        </p:spPr>
        <p:txBody>
          <a:bodyPr wrap="square" rtlCol="0">
            <a:spAutoFit/>
          </a:bodyPr>
          <a:lstStyle/>
          <a:p>
            <a:pPr algn="ctr"/>
            <a:r>
              <a:rPr lang="en-US" sz="1100" dirty="0"/>
              <a:t>Unknown (UNKCRACMM)</a:t>
            </a:r>
          </a:p>
        </p:txBody>
      </p:sp>
      <p:sp>
        <p:nvSpPr>
          <p:cNvPr id="43" name="TextBox 42">
            <a:extLst>
              <a:ext uri="{FF2B5EF4-FFF2-40B4-BE49-F238E27FC236}">
                <a16:creationId xmlns:a16="http://schemas.microsoft.com/office/drawing/2014/main" id="{549DF499-EE0A-443A-8F4D-654BDCFA1EA5}"/>
              </a:ext>
            </a:extLst>
          </p:cNvPr>
          <p:cNvSpPr txBox="1"/>
          <p:nvPr/>
        </p:nvSpPr>
        <p:spPr>
          <a:xfrm>
            <a:off x="92772" y="8001730"/>
            <a:ext cx="7616127" cy="2031325"/>
          </a:xfrm>
          <a:prstGeom prst="rect">
            <a:avLst/>
          </a:prstGeom>
          <a:noFill/>
        </p:spPr>
        <p:txBody>
          <a:bodyPr wrap="square" rtlCol="0">
            <a:spAutoFit/>
          </a:bodyPr>
          <a:lstStyle/>
          <a:p>
            <a:r>
              <a:rPr lang="en-US" sz="900" dirty="0"/>
              <a:t>The CRACMM3 emission mapper includes some other updates for robustness, specifically more use of canonical smiles. These updates are not expected to change any previous CRACMM2 mappings. Some species can exist in a gas (V) or aerosol (A) phase. The python mapper includes an optional argument to label a species as gas or particle if two phases are possible . The user must specify the phase as input to the mapper (it is not diagnosed). The phase can be calculated based on C* and organic aerosol concentration outside the mapper.</a:t>
            </a:r>
          </a:p>
          <a:p>
            <a:endParaRPr lang="en-US" sz="900" dirty="0"/>
          </a:p>
          <a:p>
            <a:r>
              <a:rPr lang="en-US" sz="900" dirty="0"/>
              <a:t>C* are always in µg m</a:t>
            </a:r>
            <a:r>
              <a:rPr lang="en-US" sz="900" baseline="30000" dirty="0"/>
              <a:t>-3</a:t>
            </a:r>
            <a:r>
              <a:rPr lang="en-US" sz="900" dirty="0"/>
              <a:t> in this diagram.</a:t>
            </a:r>
          </a:p>
          <a:p>
            <a:r>
              <a:rPr lang="en-US" sz="900" dirty="0"/>
              <a:t>Unknowns may be of 3 types:</a:t>
            </a:r>
          </a:p>
          <a:p>
            <a:pPr marL="171450" indent="-171450">
              <a:buFont typeface="Arial" panose="020B0604020202020204" pitchFamily="34" charset="0"/>
              <a:buChar char="•"/>
            </a:pPr>
            <a:r>
              <a:rPr lang="en-US" sz="900" dirty="0"/>
              <a:t>UNKKOH: unknown </a:t>
            </a:r>
            <a:r>
              <a:rPr lang="en-US" sz="900" dirty="0" err="1"/>
              <a:t>k</a:t>
            </a:r>
            <a:r>
              <a:rPr lang="en-US" sz="900" baseline="-25000" dirty="0" err="1"/>
              <a:t>OH</a:t>
            </a:r>
            <a:r>
              <a:rPr lang="en-US" sz="900" dirty="0"/>
              <a:t> (correct by specifying better surrogate).</a:t>
            </a:r>
          </a:p>
          <a:p>
            <a:pPr marL="171450" indent="-171450">
              <a:buFont typeface="Arial" panose="020B0604020202020204" pitchFamily="34" charset="0"/>
              <a:buChar char="•"/>
            </a:pPr>
            <a:r>
              <a:rPr lang="en-US" sz="900" dirty="0"/>
              <a:t>UNKSMILES: unknown SMILES (correct by specifying better surrogate).</a:t>
            </a:r>
          </a:p>
          <a:p>
            <a:pPr marL="171450" indent="-171450">
              <a:buFont typeface="Arial" panose="020B0604020202020204" pitchFamily="34" charset="0"/>
              <a:buChar char="•"/>
            </a:pPr>
            <a:r>
              <a:rPr lang="en-US" sz="900" dirty="0"/>
              <a:t>UNKCRACMM: unknown in mapping. All ROC species eventually get classified by </a:t>
            </a:r>
            <a:r>
              <a:rPr lang="en-US" sz="900" dirty="0" err="1"/>
              <a:t>k</a:t>
            </a:r>
            <a:r>
              <a:rPr lang="en-US" sz="900" baseline="-25000" dirty="0" err="1"/>
              <a:t>OH</a:t>
            </a:r>
            <a:r>
              <a:rPr lang="en-US" sz="900" dirty="0"/>
              <a:t>, but species that do not have any carbon atoms or are elemental carbon do not get mapped.</a:t>
            </a:r>
          </a:p>
          <a:p>
            <a:r>
              <a:rPr lang="en-US" sz="900" dirty="0"/>
              <a:t>CRACMM2 documentation: Skipper et al. (2024) </a:t>
            </a:r>
            <a:r>
              <a:rPr lang="en-US" sz="900" dirty="0">
                <a:solidFill>
                  <a:srgbClr val="464646"/>
                </a:solidFill>
                <a:hlinkClick r:id="rId2"/>
              </a:rPr>
              <a:t>https://doi.org/10.5194/acp-24-12903-2024</a:t>
            </a:r>
            <a:r>
              <a:rPr lang="en-US" sz="900" dirty="0">
                <a:solidFill>
                  <a:srgbClr val="464646"/>
                </a:solidFill>
              </a:rPr>
              <a:t>); </a:t>
            </a:r>
          </a:p>
          <a:p>
            <a:r>
              <a:rPr lang="en-US" sz="900" dirty="0"/>
              <a:t>CRACMM1 documentation: Pye et al. (2023) </a:t>
            </a:r>
            <a:r>
              <a:rPr lang="en-US" sz="900" dirty="0">
                <a:hlinkClick r:id="rId3"/>
              </a:rPr>
              <a:t>https://doi.org/10.5194/acp-23-5043-2023</a:t>
            </a:r>
            <a:r>
              <a:rPr lang="en-US" sz="900" dirty="0"/>
              <a:t> and Place et al. (2023) </a:t>
            </a:r>
            <a:r>
              <a:rPr lang="en-US" sz="900" dirty="0">
                <a:hlinkClick r:id="rId4"/>
              </a:rPr>
              <a:t>https://doi.org/10.5194/acp-23-9173-2023</a:t>
            </a:r>
            <a:endParaRPr lang="en-US" sz="900" dirty="0"/>
          </a:p>
          <a:p>
            <a:r>
              <a:rPr lang="en-US" sz="900" dirty="0"/>
              <a:t>RACM2 SI: Goliff et al. (2013) </a:t>
            </a:r>
            <a:r>
              <a:rPr lang="en-US" sz="900" dirty="0">
                <a:hlinkClick r:id="rId5"/>
              </a:rPr>
              <a:t>https://ars.els-cdn.com/content/image/1-s2.0-S1352231012011065-mmc1.pdf</a:t>
            </a:r>
            <a:endParaRPr lang="en-US" sz="900" dirty="0"/>
          </a:p>
        </p:txBody>
      </p:sp>
      <p:cxnSp>
        <p:nvCxnSpPr>
          <p:cNvPr id="49" name="Straight Arrow Connector 48">
            <a:extLst>
              <a:ext uri="{FF2B5EF4-FFF2-40B4-BE49-F238E27FC236}">
                <a16:creationId xmlns:a16="http://schemas.microsoft.com/office/drawing/2014/main" id="{3DBC288A-AFCD-4F8C-B5D2-4730A60F8A54}"/>
              </a:ext>
            </a:extLst>
          </p:cNvPr>
          <p:cNvCxnSpPr>
            <a:cxnSpLocks/>
            <a:endCxn id="50" idx="0"/>
          </p:cNvCxnSpPr>
          <p:nvPr/>
        </p:nvCxnSpPr>
        <p:spPr>
          <a:xfrm>
            <a:off x="1645958" y="5274891"/>
            <a:ext cx="0" cy="2058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77A0188-73DA-4E49-9F7E-6984291CA90B}"/>
              </a:ext>
            </a:extLst>
          </p:cNvPr>
          <p:cNvSpPr txBox="1"/>
          <p:nvPr/>
        </p:nvSpPr>
        <p:spPr>
          <a:xfrm>
            <a:off x="640118" y="5480782"/>
            <a:ext cx="2011680" cy="400110"/>
          </a:xfrm>
          <a:prstGeom prst="rect">
            <a:avLst/>
          </a:prstGeom>
          <a:noFill/>
          <a:ln>
            <a:solidFill>
              <a:schemeClr val="tx1"/>
            </a:solidFill>
          </a:ln>
        </p:spPr>
        <p:txBody>
          <a:bodyPr wrap="square" rtlCol="0">
            <a:spAutoFit/>
          </a:bodyPr>
          <a:lstStyle/>
          <a:p>
            <a:pPr algn="ctr"/>
            <a:r>
              <a:rPr lang="en-US" sz="1000" dirty="0"/>
              <a:t>Is species slow reacting </a:t>
            </a:r>
          </a:p>
          <a:p>
            <a:pPr algn="ctr"/>
            <a:r>
              <a:rPr lang="en-US" sz="1000" dirty="0"/>
              <a:t>(</a:t>
            </a:r>
            <a:r>
              <a:rPr lang="en-US" sz="1000" dirty="0" err="1"/>
              <a:t>k</a:t>
            </a:r>
            <a:r>
              <a:rPr lang="en-US" sz="1000" baseline="-25000" dirty="0" err="1"/>
              <a:t>OH</a:t>
            </a:r>
            <a:r>
              <a:rPr lang="en-US" sz="1000" dirty="0"/>
              <a:t> &lt; 3.4×10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a:t>
            </a:r>
          </a:p>
        </p:txBody>
      </p:sp>
      <p:sp>
        <p:nvSpPr>
          <p:cNvPr id="51" name="TextBox 50">
            <a:extLst>
              <a:ext uri="{FF2B5EF4-FFF2-40B4-BE49-F238E27FC236}">
                <a16:creationId xmlns:a16="http://schemas.microsoft.com/office/drawing/2014/main" id="{FE6B5761-AA92-470B-883D-78F0421D2B75}"/>
              </a:ext>
            </a:extLst>
          </p:cNvPr>
          <p:cNvSpPr txBox="1"/>
          <p:nvPr/>
        </p:nvSpPr>
        <p:spPr>
          <a:xfrm>
            <a:off x="3536206" y="5474944"/>
            <a:ext cx="3548879"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Slow reacting species (HC3)</a:t>
            </a:r>
            <a:endParaRPr lang="en-US" sz="1000" b="1" dirty="0"/>
          </a:p>
        </p:txBody>
      </p:sp>
      <p:cxnSp>
        <p:nvCxnSpPr>
          <p:cNvPr id="52" name="Straight Arrow Connector 51">
            <a:extLst>
              <a:ext uri="{FF2B5EF4-FFF2-40B4-BE49-F238E27FC236}">
                <a16:creationId xmlns:a16="http://schemas.microsoft.com/office/drawing/2014/main" id="{CCE2F885-BC77-470E-90BC-4BC27C17F67B}"/>
              </a:ext>
            </a:extLst>
          </p:cNvPr>
          <p:cNvCxnSpPr>
            <a:cxnSpLocks/>
            <a:stCxn id="50" idx="3"/>
            <a:endCxn id="51" idx="1"/>
          </p:cNvCxnSpPr>
          <p:nvPr/>
        </p:nvCxnSpPr>
        <p:spPr>
          <a:xfrm flipV="1">
            <a:off x="2651798" y="5674999"/>
            <a:ext cx="884408" cy="5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7E55C8F-5164-4A63-9102-D9425B6E4C2E}"/>
              </a:ext>
            </a:extLst>
          </p:cNvPr>
          <p:cNvCxnSpPr>
            <a:cxnSpLocks/>
            <a:stCxn id="50" idx="2"/>
            <a:endCxn id="54" idx="0"/>
          </p:cNvCxnSpPr>
          <p:nvPr/>
        </p:nvCxnSpPr>
        <p:spPr>
          <a:xfrm>
            <a:off x="1645958" y="5880892"/>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3C95C1A6-497C-49ED-81D9-3A3E1F2C6005}"/>
              </a:ext>
            </a:extLst>
          </p:cNvPr>
          <p:cNvSpPr txBox="1"/>
          <p:nvPr/>
        </p:nvSpPr>
        <p:spPr>
          <a:xfrm>
            <a:off x="640118" y="6071110"/>
            <a:ext cx="2011680" cy="553998"/>
          </a:xfrm>
          <a:prstGeom prst="rect">
            <a:avLst/>
          </a:prstGeom>
          <a:noFill/>
          <a:ln>
            <a:solidFill>
              <a:schemeClr val="tx1"/>
            </a:solidFill>
          </a:ln>
        </p:spPr>
        <p:txBody>
          <a:bodyPr wrap="square" rtlCol="0">
            <a:spAutoFit/>
          </a:bodyPr>
          <a:lstStyle/>
          <a:p>
            <a:pPr algn="ctr"/>
            <a:r>
              <a:rPr lang="en-US" sz="1000" dirty="0"/>
              <a:t>Is the species intermediate reacting (</a:t>
            </a:r>
            <a:r>
              <a:rPr lang="en-US" sz="1000" dirty="0" err="1"/>
              <a:t>k</a:t>
            </a:r>
            <a:r>
              <a:rPr lang="en-US" sz="1000" baseline="-25000" dirty="0" err="1"/>
              <a:t>OH</a:t>
            </a:r>
            <a:r>
              <a:rPr lang="en-US" sz="1000" dirty="0"/>
              <a:t> &gt;= 3.4×10</a:t>
            </a:r>
            <a:r>
              <a:rPr lang="en-US" sz="1000" baseline="30000" dirty="0"/>
              <a:t>-12</a:t>
            </a:r>
            <a:r>
              <a:rPr lang="en-US" sz="1000" dirty="0"/>
              <a:t> and </a:t>
            </a:r>
          </a:p>
          <a:p>
            <a:pPr algn="ctr"/>
            <a:r>
              <a:rPr lang="en-US" sz="1000" dirty="0" err="1"/>
              <a:t>k</a:t>
            </a:r>
            <a:r>
              <a:rPr lang="en-US" sz="1000" baseline="-25000" dirty="0" err="1"/>
              <a:t>OH</a:t>
            </a:r>
            <a:r>
              <a:rPr lang="en-US" sz="1000" dirty="0"/>
              <a:t> &lt;= 6.8×10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a:t>
            </a:r>
          </a:p>
        </p:txBody>
      </p:sp>
      <p:sp>
        <p:nvSpPr>
          <p:cNvPr id="55" name="TextBox 54">
            <a:extLst>
              <a:ext uri="{FF2B5EF4-FFF2-40B4-BE49-F238E27FC236}">
                <a16:creationId xmlns:a16="http://schemas.microsoft.com/office/drawing/2014/main" id="{7BAECCCC-BE67-4827-92FD-3C0DA229A346}"/>
              </a:ext>
            </a:extLst>
          </p:cNvPr>
          <p:cNvSpPr txBox="1"/>
          <p:nvPr/>
        </p:nvSpPr>
        <p:spPr>
          <a:xfrm>
            <a:off x="3525470" y="6152496"/>
            <a:ext cx="3548879"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Moderately reacting species (HC5)</a:t>
            </a:r>
          </a:p>
        </p:txBody>
      </p:sp>
      <p:cxnSp>
        <p:nvCxnSpPr>
          <p:cNvPr id="56" name="Straight Arrow Connector 55">
            <a:extLst>
              <a:ext uri="{FF2B5EF4-FFF2-40B4-BE49-F238E27FC236}">
                <a16:creationId xmlns:a16="http://schemas.microsoft.com/office/drawing/2014/main" id="{609E86F0-6FC6-44AE-8327-180E3D335889}"/>
              </a:ext>
            </a:extLst>
          </p:cNvPr>
          <p:cNvCxnSpPr>
            <a:cxnSpLocks/>
            <a:stCxn id="54" idx="3"/>
            <a:endCxn id="55" idx="1"/>
          </p:cNvCxnSpPr>
          <p:nvPr/>
        </p:nvCxnSpPr>
        <p:spPr>
          <a:xfrm>
            <a:off x="2651798" y="6348109"/>
            <a:ext cx="873672" cy="4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BC538A9-A6AA-41CE-88E7-BF483B9249CE}"/>
              </a:ext>
            </a:extLst>
          </p:cNvPr>
          <p:cNvSpPr txBox="1"/>
          <p:nvPr/>
        </p:nvSpPr>
        <p:spPr>
          <a:xfrm>
            <a:off x="640118" y="6837075"/>
            <a:ext cx="2011680" cy="400110"/>
          </a:xfrm>
          <a:prstGeom prst="rect">
            <a:avLst/>
          </a:prstGeom>
          <a:noFill/>
          <a:ln>
            <a:solidFill>
              <a:schemeClr val="tx1"/>
            </a:solidFill>
          </a:ln>
        </p:spPr>
        <p:txBody>
          <a:bodyPr wrap="square" rtlCol="0">
            <a:spAutoFit/>
          </a:bodyPr>
          <a:lstStyle/>
          <a:p>
            <a:pPr algn="ctr"/>
            <a:r>
              <a:rPr lang="en-US" sz="1000" dirty="0"/>
              <a:t>Is the compound fast reacting </a:t>
            </a:r>
          </a:p>
          <a:p>
            <a:pPr algn="ctr"/>
            <a:r>
              <a:rPr lang="en-US" sz="1000" dirty="0"/>
              <a:t>(</a:t>
            </a:r>
            <a:r>
              <a:rPr lang="en-US" sz="1000" dirty="0" err="1"/>
              <a:t>k</a:t>
            </a:r>
            <a:r>
              <a:rPr lang="en-US" sz="1000" baseline="-25000" dirty="0" err="1"/>
              <a:t>OH</a:t>
            </a:r>
            <a:r>
              <a:rPr lang="en-US" sz="1000" dirty="0"/>
              <a:t> &gt; 6.8×10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a:t>
            </a:r>
          </a:p>
        </p:txBody>
      </p:sp>
      <p:sp>
        <p:nvSpPr>
          <p:cNvPr id="58" name="TextBox 57">
            <a:extLst>
              <a:ext uri="{FF2B5EF4-FFF2-40B4-BE49-F238E27FC236}">
                <a16:creationId xmlns:a16="http://schemas.microsoft.com/office/drawing/2014/main" id="{16720CC4-1253-4A78-9E12-FB92F6F68BED}"/>
              </a:ext>
            </a:extLst>
          </p:cNvPr>
          <p:cNvSpPr txBox="1"/>
          <p:nvPr/>
        </p:nvSpPr>
        <p:spPr>
          <a:xfrm>
            <a:off x="3536205" y="6832073"/>
            <a:ext cx="3548879"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Fast reacting species (HC10)</a:t>
            </a:r>
          </a:p>
        </p:txBody>
      </p:sp>
      <p:cxnSp>
        <p:nvCxnSpPr>
          <p:cNvPr id="62" name="Straight Arrow Connector 61">
            <a:extLst>
              <a:ext uri="{FF2B5EF4-FFF2-40B4-BE49-F238E27FC236}">
                <a16:creationId xmlns:a16="http://schemas.microsoft.com/office/drawing/2014/main" id="{ECC3753C-9238-43C6-8996-174F8BE338EA}"/>
              </a:ext>
            </a:extLst>
          </p:cNvPr>
          <p:cNvCxnSpPr>
            <a:cxnSpLocks/>
            <a:stCxn id="57" idx="3"/>
            <a:endCxn id="58" idx="1"/>
          </p:cNvCxnSpPr>
          <p:nvPr/>
        </p:nvCxnSpPr>
        <p:spPr>
          <a:xfrm flipV="1">
            <a:off x="2651798" y="7032128"/>
            <a:ext cx="884407" cy="50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FA3A823-0370-47C1-BBDD-DD644A257DC5}"/>
              </a:ext>
            </a:extLst>
          </p:cNvPr>
          <p:cNvCxnSpPr>
            <a:cxnSpLocks/>
            <a:stCxn id="54" idx="2"/>
            <a:endCxn id="57" idx="0"/>
          </p:cNvCxnSpPr>
          <p:nvPr/>
        </p:nvCxnSpPr>
        <p:spPr>
          <a:xfrm>
            <a:off x="1645958" y="6625108"/>
            <a:ext cx="0" cy="2119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FC0E3D98-FBCB-4E1B-9AF9-7D82A6DC8F09}"/>
              </a:ext>
            </a:extLst>
          </p:cNvPr>
          <p:cNvSpPr txBox="1"/>
          <p:nvPr/>
        </p:nvSpPr>
        <p:spPr>
          <a:xfrm>
            <a:off x="2816178" y="5382183"/>
            <a:ext cx="441358" cy="246221"/>
          </a:xfrm>
          <a:prstGeom prst="rect">
            <a:avLst/>
          </a:prstGeom>
          <a:noFill/>
        </p:spPr>
        <p:txBody>
          <a:bodyPr wrap="square" rtlCol="0">
            <a:spAutoFit/>
          </a:bodyPr>
          <a:lstStyle/>
          <a:p>
            <a:pPr algn="ctr"/>
            <a:r>
              <a:rPr lang="en-US" sz="1000" dirty="0"/>
              <a:t>yes</a:t>
            </a:r>
          </a:p>
        </p:txBody>
      </p:sp>
      <p:sp>
        <p:nvSpPr>
          <p:cNvPr id="67" name="TextBox 66">
            <a:extLst>
              <a:ext uri="{FF2B5EF4-FFF2-40B4-BE49-F238E27FC236}">
                <a16:creationId xmlns:a16="http://schemas.microsoft.com/office/drawing/2014/main" id="{FFADE1DF-E6F8-4356-A96F-A91FE313F978}"/>
              </a:ext>
            </a:extLst>
          </p:cNvPr>
          <p:cNvSpPr txBox="1"/>
          <p:nvPr/>
        </p:nvSpPr>
        <p:spPr>
          <a:xfrm>
            <a:off x="2824803" y="6072199"/>
            <a:ext cx="441358" cy="246221"/>
          </a:xfrm>
          <a:prstGeom prst="rect">
            <a:avLst/>
          </a:prstGeom>
          <a:noFill/>
        </p:spPr>
        <p:txBody>
          <a:bodyPr wrap="square" rtlCol="0">
            <a:spAutoFit/>
          </a:bodyPr>
          <a:lstStyle/>
          <a:p>
            <a:pPr algn="ctr"/>
            <a:r>
              <a:rPr lang="en-US" sz="1000" dirty="0"/>
              <a:t>yes</a:t>
            </a:r>
          </a:p>
        </p:txBody>
      </p:sp>
      <p:sp>
        <p:nvSpPr>
          <p:cNvPr id="68" name="TextBox 67">
            <a:extLst>
              <a:ext uri="{FF2B5EF4-FFF2-40B4-BE49-F238E27FC236}">
                <a16:creationId xmlns:a16="http://schemas.microsoft.com/office/drawing/2014/main" id="{61D582B4-C2B3-4DFD-A8FC-B6EE94F68AC7}"/>
              </a:ext>
            </a:extLst>
          </p:cNvPr>
          <p:cNvSpPr txBox="1"/>
          <p:nvPr/>
        </p:nvSpPr>
        <p:spPr>
          <a:xfrm>
            <a:off x="2824803" y="6759571"/>
            <a:ext cx="441358" cy="246221"/>
          </a:xfrm>
          <a:prstGeom prst="rect">
            <a:avLst/>
          </a:prstGeom>
          <a:noFill/>
        </p:spPr>
        <p:txBody>
          <a:bodyPr wrap="square" rtlCol="0">
            <a:spAutoFit/>
          </a:bodyPr>
          <a:lstStyle/>
          <a:p>
            <a:pPr algn="ctr"/>
            <a:r>
              <a:rPr lang="en-US" sz="1000" dirty="0"/>
              <a:t>yes</a:t>
            </a:r>
          </a:p>
        </p:txBody>
      </p:sp>
      <p:sp>
        <p:nvSpPr>
          <p:cNvPr id="69" name="TextBox 68">
            <a:extLst>
              <a:ext uri="{FF2B5EF4-FFF2-40B4-BE49-F238E27FC236}">
                <a16:creationId xmlns:a16="http://schemas.microsoft.com/office/drawing/2014/main" id="{BBE16421-5825-4708-B966-7D595FFE7FD7}"/>
              </a:ext>
            </a:extLst>
          </p:cNvPr>
          <p:cNvSpPr txBox="1"/>
          <p:nvPr/>
        </p:nvSpPr>
        <p:spPr>
          <a:xfrm>
            <a:off x="1187202" y="6609894"/>
            <a:ext cx="372047" cy="246221"/>
          </a:xfrm>
          <a:prstGeom prst="rect">
            <a:avLst/>
          </a:prstGeom>
          <a:noFill/>
        </p:spPr>
        <p:txBody>
          <a:bodyPr wrap="square" rtlCol="0">
            <a:spAutoFit/>
          </a:bodyPr>
          <a:lstStyle/>
          <a:p>
            <a:pPr algn="r"/>
            <a:r>
              <a:rPr lang="en-US" sz="1000" dirty="0"/>
              <a:t>no</a:t>
            </a:r>
          </a:p>
        </p:txBody>
      </p:sp>
      <p:sp>
        <p:nvSpPr>
          <p:cNvPr id="70" name="TextBox 69">
            <a:extLst>
              <a:ext uri="{FF2B5EF4-FFF2-40B4-BE49-F238E27FC236}">
                <a16:creationId xmlns:a16="http://schemas.microsoft.com/office/drawing/2014/main" id="{B980BD48-1CCE-4136-988F-E5CCD5BD1C58}"/>
              </a:ext>
            </a:extLst>
          </p:cNvPr>
          <p:cNvSpPr txBox="1"/>
          <p:nvPr/>
        </p:nvSpPr>
        <p:spPr>
          <a:xfrm>
            <a:off x="1198242" y="5849853"/>
            <a:ext cx="372047" cy="246221"/>
          </a:xfrm>
          <a:prstGeom prst="rect">
            <a:avLst/>
          </a:prstGeom>
          <a:noFill/>
        </p:spPr>
        <p:txBody>
          <a:bodyPr wrap="square" rtlCol="0">
            <a:spAutoFit/>
          </a:bodyPr>
          <a:lstStyle/>
          <a:p>
            <a:pPr algn="r"/>
            <a:r>
              <a:rPr lang="en-US" sz="1000" dirty="0"/>
              <a:t>no</a:t>
            </a:r>
          </a:p>
        </p:txBody>
      </p:sp>
      <p:sp>
        <p:nvSpPr>
          <p:cNvPr id="71" name="TextBox 70">
            <a:extLst>
              <a:ext uri="{FF2B5EF4-FFF2-40B4-BE49-F238E27FC236}">
                <a16:creationId xmlns:a16="http://schemas.microsoft.com/office/drawing/2014/main" id="{B8EFD7CD-378D-421E-9244-BBD5404120C2}"/>
              </a:ext>
            </a:extLst>
          </p:cNvPr>
          <p:cNvSpPr txBox="1"/>
          <p:nvPr/>
        </p:nvSpPr>
        <p:spPr>
          <a:xfrm rot="16200000">
            <a:off x="-508857" y="6222759"/>
            <a:ext cx="1757239" cy="261610"/>
          </a:xfrm>
          <a:prstGeom prst="rect">
            <a:avLst/>
          </a:prstGeom>
          <a:solidFill>
            <a:schemeClr val="accent3">
              <a:lumMod val="20000"/>
              <a:lumOff val="80000"/>
            </a:schemeClr>
          </a:solidFill>
        </p:spPr>
        <p:txBody>
          <a:bodyPr wrap="square" rtlCol="0">
            <a:spAutoFit/>
          </a:bodyPr>
          <a:lstStyle/>
          <a:p>
            <a:pPr algn="ctr"/>
            <a:r>
              <a:rPr lang="en-US" sz="1100" dirty="0"/>
              <a:t>“Alkanes”</a:t>
            </a:r>
          </a:p>
        </p:txBody>
      </p:sp>
      <p:cxnSp>
        <p:nvCxnSpPr>
          <p:cNvPr id="72" name="Straight Arrow Connector 71">
            <a:extLst>
              <a:ext uri="{FF2B5EF4-FFF2-40B4-BE49-F238E27FC236}">
                <a16:creationId xmlns:a16="http://schemas.microsoft.com/office/drawing/2014/main" id="{FBA6CA08-8D71-4DC8-A8ED-FDA1F92B4106}"/>
              </a:ext>
            </a:extLst>
          </p:cNvPr>
          <p:cNvCxnSpPr>
            <a:cxnSpLocks/>
            <a:endCxn id="18" idx="0"/>
          </p:cNvCxnSpPr>
          <p:nvPr/>
        </p:nvCxnSpPr>
        <p:spPr>
          <a:xfrm>
            <a:off x="1637876" y="7232183"/>
            <a:ext cx="8082" cy="2725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99E9C890-BD1C-4CAC-944D-EE1AE30E6E9C}"/>
              </a:ext>
            </a:extLst>
          </p:cNvPr>
          <p:cNvSpPr txBox="1"/>
          <p:nvPr/>
        </p:nvSpPr>
        <p:spPr>
          <a:xfrm>
            <a:off x="1186178" y="7214440"/>
            <a:ext cx="372047" cy="246221"/>
          </a:xfrm>
          <a:prstGeom prst="rect">
            <a:avLst/>
          </a:prstGeom>
          <a:noFill/>
        </p:spPr>
        <p:txBody>
          <a:bodyPr wrap="square" rtlCol="0">
            <a:spAutoFit/>
          </a:bodyPr>
          <a:lstStyle/>
          <a:p>
            <a:pPr algn="r"/>
            <a:r>
              <a:rPr lang="en-US" sz="1000" dirty="0"/>
              <a:t>no</a:t>
            </a:r>
          </a:p>
        </p:txBody>
      </p:sp>
      <p:cxnSp>
        <p:nvCxnSpPr>
          <p:cNvPr id="26" name="Straight Connector 25">
            <a:extLst>
              <a:ext uri="{FF2B5EF4-FFF2-40B4-BE49-F238E27FC236}">
                <a16:creationId xmlns:a16="http://schemas.microsoft.com/office/drawing/2014/main" id="{27AA698E-449B-4EEE-87D0-27EACDB56265}"/>
              </a:ext>
            </a:extLst>
          </p:cNvPr>
          <p:cNvCxnSpPr/>
          <p:nvPr/>
        </p:nvCxnSpPr>
        <p:spPr>
          <a:xfrm>
            <a:off x="0" y="7938711"/>
            <a:ext cx="7772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39221A4-C93E-41F2-B58B-9344FBCA89DD}"/>
              </a:ext>
            </a:extLst>
          </p:cNvPr>
          <p:cNvSpPr txBox="1"/>
          <p:nvPr/>
        </p:nvSpPr>
        <p:spPr>
          <a:xfrm rot="16200000">
            <a:off x="-1903504" y="2867120"/>
            <a:ext cx="4546535" cy="261613"/>
          </a:xfrm>
          <a:prstGeom prst="rect">
            <a:avLst/>
          </a:prstGeom>
          <a:solidFill>
            <a:schemeClr val="accent3">
              <a:lumMod val="20000"/>
              <a:lumOff val="80000"/>
            </a:schemeClr>
          </a:solidFill>
        </p:spPr>
        <p:txBody>
          <a:bodyPr wrap="square" rtlCol="0">
            <a:spAutoFit/>
          </a:bodyPr>
          <a:lstStyle/>
          <a:p>
            <a:pPr algn="ctr"/>
            <a:r>
              <a:rPr lang="en-US" sz="1100" dirty="0"/>
              <a:t>Oxygenated Species</a:t>
            </a:r>
          </a:p>
        </p:txBody>
      </p:sp>
      <p:sp>
        <p:nvSpPr>
          <p:cNvPr id="30" name="TextBox 29">
            <a:extLst>
              <a:ext uri="{FF2B5EF4-FFF2-40B4-BE49-F238E27FC236}">
                <a16:creationId xmlns:a16="http://schemas.microsoft.com/office/drawing/2014/main" id="{73642266-6ABC-4BFE-B596-3153CD1399D7}"/>
              </a:ext>
            </a:extLst>
          </p:cNvPr>
          <p:cNvSpPr txBox="1"/>
          <p:nvPr/>
        </p:nvSpPr>
        <p:spPr>
          <a:xfrm>
            <a:off x="669136" y="709622"/>
            <a:ext cx="2011680" cy="400110"/>
          </a:xfrm>
          <a:prstGeom prst="rect">
            <a:avLst/>
          </a:prstGeom>
          <a:noFill/>
          <a:ln>
            <a:solidFill>
              <a:schemeClr val="tx1"/>
            </a:solidFill>
          </a:ln>
        </p:spPr>
        <p:txBody>
          <a:bodyPr wrap="square" rtlCol="0">
            <a:spAutoFit/>
          </a:bodyPr>
          <a:lstStyle/>
          <a:p>
            <a:pPr algn="ctr"/>
            <a:r>
              <a:rPr lang="en-US" sz="1000" dirty="0"/>
              <a:t>Does the compound have </a:t>
            </a:r>
            <a:r>
              <a:rPr lang="en-US" sz="1000" dirty="0" err="1"/>
              <a:t>n</a:t>
            </a:r>
            <a:r>
              <a:rPr lang="en-US" sz="1000" baseline="-25000" dirty="0" err="1"/>
              <a:t>aldehyde</a:t>
            </a:r>
            <a:r>
              <a:rPr lang="en-US" sz="1000" dirty="0"/>
              <a:t>&gt;=1 and </a:t>
            </a:r>
            <a:r>
              <a:rPr lang="en-US" sz="1000" dirty="0" err="1"/>
              <a:t>n</a:t>
            </a:r>
            <a:r>
              <a:rPr lang="en-US" sz="1000" baseline="-25000" dirty="0" err="1"/>
              <a:t>ketone</a:t>
            </a:r>
            <a:r>
              <a:rPr lang="en-US" sz="1000" dirty="0"/>
              <a:t>&gt;=1?</a:t>
            </a:r>
          </a:p>
        </p:txBody>
      </p:sp>
      <p:sp>
        <p:nvSpPr>
          <p:cNvPr id="31" name="TextBox 30">
            <a:extLst>
              <a:ext uri="{FF2B5EF4-FFF2-40B4-BE49-F238E27FC236}">
                <a16:creationId xmlns:a16="http://schemas.microsoft.com/office/drawing/2014/main" id="{76250F9C-903B-43D5-B157-7054456A5440}"/>
              </a:ext>
            </a:extLst>
          </p:cNvPr>
          <p:cNvSpPr txBox="1"/>
          <p:nvPr/>
        </p:nvSpPr>
        <p:spPr>
          <a:xfrm>
            <a:off x="3553676" y="706705"/>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methylglyoxal and similar, </a:t>
            </a:r>
            <a:r>
              <a:rPr lang="en-US" sz="1000" dirty="0" err="1"/>
              <a:t>k</a:t>
            </a:r>
            <a:r>
              <a:rPr lang="en-US" sz="1000" baseline="-25000" dirty="0" err="1"/>
              <a:t>OH</a:t>
            </a:r>
            <a:r>
              <a:rPr lang="en-US" sz="1000" baseline="-25000" dirty="0"/>
              <a:t> </a:t>
            </a:r>
            <a:r>
              <a:rPr lang="en-US" sz="1000" dirty="0"/>
              <a:t>=1.5×10</a:t>
            </a:r>
            <a:r>
              <a:rPr lang="en-US" sz="1000" baseline="30000" dirty="0"/>
              <a:t>-11</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(MGLY)</a:t>
            </a:r>
          </a:p>
        </p:txBody>
      </p:sp>
      <p:cxnSp>
        <p:nvCxnSpPr>
          <p:cNvPr id="32" name="Straight Arrow Connector 31">
            <a:extLst>
              <a:ext uri="{FF2B5EF4-FFF2-40B4-BE49-F238E27FC236}">
                <a16:creationId xmlns:a16="http://schemas.microsoft.com/office/drawing/2014/main" id="{8477DCF9-1E71-4E6A-89C9-A236747739CE}"/>
              </a:ext>
            </a:extLst>
          </p:cNvPr>
          <p:cNvCxnSpPr>
            <a:cxnSpLocks/>
            <a:stCxn id="30" idx="3"/>
            <a:endCxn id="31" idx="1"/>
          </p:cNvCxnSpPr>
          <p:nvPr/>
        </p:nvCxnSpPr>
        <p:spPr>
          <a:xfrm flipV="1">
            <a:off x="2680816" y="906760"/>
            <a:ext cx="872860" cy="29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A16FDAC-4A47-4271-B1E2-1903C2CD3325}"/>
              </a:ext>
            </a:extLst>
          </p:cNvPr>
          <p:cNvSpPr txBox="1"/>
          <p:nvPr/>
        </p:nvSpPr>
        <p:spPr>
          <a:xfrm>
            <a:off x="669136" y="1299950"/>
            <a:ext cx="2011680" cy="400110"/>
          </a:xfrm>
          <a:prstGeom prst="rect">
            <a:avLst/>
          </a:prstGeom>
          <a:noFill/>
          <a:ln>
            <a:solidFill>
              <a:schemeClr val="tx1"/>
            </a:solidFill>
          </a:ln>
        </p:spPr>
        <p:txBody>
          <a:bodyPr wrap="square" rtlCol="0">
            <a:spAutoFit/>
          </a:bodyPr>
          <a:lstStyle/>
          <a:p>
            <a:pPr algn="ctr"/>
            <a:r>
              <a:rPr lang="en-US" sz="1000" dirty="0"/>
              <a:t>Is the compound an aldehyde (</a:t>
            </a:r>
            <a:r>
              <a:rPr lang="en-US" sz="1000" dirty="0" err="1"/>
              <a:t>n</a:t>
            </a:r>
            <a:r>
              <a:rPr lang="en-US" sz="1000" baseline="-25000" dirty="0" err="1"/>
              <a:t>aldehyde</a:t>
            </a:r>
            <a:r>
              <a:rPr lang="en-US" sz="1000" dirty="0"/>
              <a:t>&gt;=1)?</a:t>
            </a:r>
          </a:p>
        </p:txBody>
      </p:sp>
      <p:cxnSp>
        <p:nvCxnSpPr>
          <p:cNvPr id="34" name="Straight Arrow Connector 33">
            <a:extLst>
              <a:ext uri="{FF2B5EF4-FFF2-40B4-BE49-F238E27FC236}">
                <a16:creationId xmlns:a16="http://schemas.microsoft.com/office/drawing/2014/main" id="{48B29EF0-6C1A-428C-AC58-FDD333F12370}"/>
              </a:ext>
            </a:extLst>
          </p:cNvPr>
          <p:cNvCxnSpPr>
            <a:cxnSpLocks/>
            <a:stCxn id="33" idx="3"/>
            <a:endCxn id="35" idx="1"/>
          </p:cNvCxnSpPr>
          <p:nvPr/>
        </p:nvCxnSpPr>
        <p:spPr>
          <a:xfrm flipV="1">
            <a:off x="2680816" y="1497505"/>
            <a:ext cx="872860" cy="2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28D6DA4-0D94-4711-8BD8-49B7C5F8F58B}"/>
              </a:ext>
            </a:extLst>
          </p:cNvPr>
          <p:cNvSpPr txBox="1"/>
          <p:nvPr/>
        </p:nvSpPr>
        <p:spPr>
          <a:xfrm>
            <a:off x="3553676" y="1297450"/>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higher aldehydes (C&gt;3), </a:t>
            </a:r>
            <a:r>
              <a:rPr lang="en-US" sz="1000" dirty="0" err="1"/>
              <a:t>k</a:t>
            </a:r>
            <a:r>
              <a:rPr lang="en-US" sz="1000" baseline="-25000" dirty="0" err="1"/>
              <a:t>OH</a:t>
            </a:r>
            <a:r>
              <a:rPr lang="en-US" sz="1000" baseline="-25000" dirty="0"/>
              <a:t> </a:t>
            </a:r>
            <a:r>
              <a:rPr lang="en-US" sz="1000" dirty="0"/>
              <a:t>=1.98×10</a:t>
            </a:r>
            <a:r>
              <a:rPr lang="en-US" sz="1000" baseline="30000" dirty="0"/>
              <a:t>-11</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(ALD)</a:t>
            </a:r>
          </a:p>
        </p:txBody>
      </p:sp>
      <p:sp>
        <p:nvSpPr>
          <p:cNvPr id="36" name="TextBox 35">
            <a:extLst>
              <a:ext uri="{FF2B5EF4-FFF2-40B4-BE49-F238E27FC236}">
                <a16:creationId xmlns:a16="http://schemas.microsoft.com/office/drawing/2014/main" id="{D56866E7-2717-4D33-8CA9-3E106C2448FA}"/>
              </a:ext>
            </a:extLst>
          </p:cNvPr>
          <p:cNvSpPr txBox="1"/>
          <p:nvPr/>
        </p:nvSpPr>
        <p:spPr>
          <a:xfrm>
            <a:off x="669136" y="2480606"/>
            <a:ext cx="2011680" cy="400110"/>
          </a:xfrm>
          <a:prstGeom prst="rect">
            <a:avLst/>
          </a:prstGeom>
          <a:noFill/>
          <a:ln>
            <a:solidFill>
              <a:schemeClr val="tx1"/>
            </a:solidFill>
          </a:ln>
        </p:spPr>
        <p:txBody>
          <a:bodyPr wrap="square" rtlCol="0">
            <a:spAutoFit/>
          </a:bodyPr>
          <a:lstStyle/>
          <a:p>
            <a:pPr algn="ctr"/>
            <a:r>
              <a:rPr lang="en-US" sz="1000" dirty="0"/>
              <a:t>Is the compound a hydroxy ketone (</a:t>
            </a:r>
            <a:r>
              <a:rPr lang="en-US" sz="1000" dirty="0" err="1"/>
              <a:t>n</a:t>
            </a:r>
            <a:r>
              <a:rPr lang="en-US" sz="1000" baseline="-25000" dirty="0" err="1"/>
              <a:t>alcohol</a:t>
            </a:r>
            <a:r>
              <a:rPr lang="en-US" sz="1000" dirty="0"/>
              <a:t>&gt;=1 and </a:t>
            </a:r>
            <a:r>
              <a:rPr lang="en-US" sz="1000" dirty="0" err="1"/>
              <a:t>n</a:t>
            </a:r>
            <a:r>
              <a:rPr lang="en-US" sz="1000" baseline="-25000" dirty="0" err="1"/>
              <a:t>ketone</a:t>
            </a:r>
            <a:r>
              <a:rPr lang="en-US" sz="1000" dirty="0"/>
              <a:t>&gt;=1)?</a:t>
            </a:r>
          </a:p>
        </p:txBody>
      </p:sp>
      <p:sp>
        <p:nvSpPr>
          <p:cNvPr id="37" name="TextBox 36">
            <a:extLst>
              <a:ext uri="{FF2B5EF4-FFF2-40B4-BE49-F238E27FC236}">
                <a16:creationId xmlns:a16="http://schemas.microsoft.com/office/drawing/2014/main" id="{88FF4352-2990-40BA-A67E-8FF8021FDBBD}"/>
              </a:ext>
            </a:extLst>
          </p:cNvPr>
          <p:cNvSpPr txBox="1"/>
          <p:nvPr/>
        </p:nvSpPr>
        <p:spPr>
          <a:xfrm>
            <a:off x="3553676" y="2478940"/>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hydroxy ketone, </a:t>
            </a:r>
            <a:r>
              <a:rPr lang="en-US" sz="1000" dirty="0" err="1"/>
              <a:t>k</a:t>
            </a:r>
            <a:r>
              <a:rPr lang="en-US" sz="1000" baseline="-25000" dirty="0" err="1"/>
              <a:t>OH</a:t>
            </a:r>
            <a:r>
              <a:rPr lang="en-US" sz="1000" baseline="-25000" dirty="0"/>
              <a:t> </a:t>
            </a:r>
            <a:r>
              <a:rPr lang="en-US" sz="1000" dirty="0"/>
              <a:t>=3.0×10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(HKET) </a:t>
            </a:r>
          </a:p>
        </p:txBody>
      </p:sp>
      <p:cxnSp>
        <p:nvCxnSpPr>
          <p:cNvPr id="38" name="Straight Arrow Connector 37">
            <a:extLst>
              <a:ext uri="{FF2B5EF4-FFF2-40B4-BE49-F238E27FC236}">
                <a16:creationId xmlns:a16="http://schemas.microsoft.com/office/drawing/2014/main" id="{53EA2CC4-38EA-4691-A127-A50DE5A7653E}"/>
              </a:ext>
            </a:extLst>
          </p:cNvPr>
          <p:cNvCxnSpPr>
            <a:cxnSpLocks/>
            <a:stCxn id="45" idx="2"/>
            <a:endCxn id="36" idx="0"/>
          </p:cNvCxnSpPr>
          <p:nvPr/>
        </p:nvCxnSpPr>
        <p:spPr>
          <a:xfrm>
            <a:off x="1674976" y="2290388"/>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8DF8EE4-EF77-4D2E-930E-25E615A9D7F7}"/>
              </a:ext>
            </a:extLst>
          </p:cNvPr>
          <p:cNvCxnSpPr>
            <a:cxnSpLocks/>
            <a:stCxn id="36" idx="3"/>
            <a:endCxn id="37" idx="1"/>
          </p:cNvCxnSpPr>
          <p:nvPr/>
        </p:nvCxnSpPr>
        <p:spPr>
          <a:xfrm flipV="1">
            <a:off x="2680816" y="2678995"/>
            <a:ext cx="872860" cy="16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9CE500A-ED01-4281-8210-AD05194CC514}"/>
              </a:ext>
            </a:extLst>
          </p:cNvPr>
          <p:cNvCxnSpPr>
            <a:cxnSpLocks/>
            <a:stCxn id="30" idx="2"/>
            <a:endCxn id="33" idx="0"/>
          </p:cNvCxnSpPr>
          <p:nvPr/>
        </p:nvCxnSpPr>
        <p:spPr>
          <a:xfrm>
            <a:off x="1674976" y="1109732"/>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0A90549-136C-48D6-AD9F-42BFB23CA0A3}"/>
              </a:ext>
            </a:extLst>
          </p:cNvPr>
          <p:cNvCxnSpPr>
            <a:cxnSpLocks/>
            <a:stCxn id="36" idx="2"/>
            <a:endCxn id="47" idx="0"/>
          </p:cNvCxnSpPr>
          <p:nvPr/>
        </p:nvCxnSpPr>
        <p:spPr>
          <a:xfrm>
            <a:off x="1674976" y="2880716"/>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00891F9-DE9F-494F-A1B2-8FB73A11385B}"/>
              </a:ext>
            </a:extLst>
          </p:cNvPr>
          <p:cNvCxnSpPr>
            <a:cxnSpLocks/>
            <a:stCxn id="45" idx="3"/>
            <a:endCxn id="44" idx="1"/>
          </p:cNvCxnSpPr>
          <p:nvPr/>
        </p:nvCxnSpPr>
        <p:spPr>
          <a:xfrm flipV="1">
            <a:off x="2680816" y="2088250"/>
            <a:ext cx="872860" cy="20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7D6C6EE-3109-484C-B8E5-E27ECDF8BB4C}"/>
              </a:ext>
            </a:extLst>
          </p:cNvPr>
          <p:cNvSpPr txBox="1"/>
          <p:nvPr/>
        </p:nvSpPr>
        <p:spPr>
          <a:xfrm>
            <a:off x="3553676" y="1888195"/>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higher organic peroxides, </a:t>
            </a:r>
            <a:r>
              <a:rPr lang="en-US" sz="1000" dirty="0" err="1"/>
              <a:t>k</a:t>
            </a:r>
            <a:r>
              <a:rPr lang="en-US" sz="1000" baseline="-25000" dirty="0" err="1"/>
              <a:t>OH</a:t>
            </a:r>
            <a:r>
              <a:rPr lang="en-US" sz="1000" baseline="-25000" dirty="0"/>
              <a:t> </a:t>
            </a:r>
            <a:r>
              <a:rPr lang="en-US" sz="1000" dirty="0"/>
              <a:t>=6.4×10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(OP2)</a:t>
            </a:r>
          </a:p>
        </p:txBody>
      </p:sp>
      <p:sp>
        <p:nvSpPr>
          <p:cNvPr id="45" name="TextBox 44">
            <a:extLst>
              <a:ext uri="{FF2B5EF4-FFF2-40B4-BE49-F238E27FC236}">
                <a16:creationId xmlns:a16="http://schemas.microsoft.com/office/drawing/2014/main" id="{61F3048A-FB7E-4AC7-8A2C-B1AC82A95E07}"/>
              </a:ext>
            </a:extLst>
          </p:cNvPr>
          <p:cNvSpPr txBox="1"/>
          <p:nvPr/>
        </p:nvSpPr>
        <p:spPr>
          <a:xfrm>
            <a:off x="669136" y="1890278"/>
            <a:ext cx="2011680" cy="400110"/>
          </a:xfrm>
          <a:prstGeom prst="rect">
            <a:avLst/>
          </a:prstGeom>
          <a:noFill/>
          <a:ln>
            <a:solidFill>
              <a:schemeClr val="tx1"/>
            </a:solidFill>
          </a:ln>
        </p:spPr>
        <p:txBody>
          <a:bodyPr wrap="square" rtlCol="0">
            <a:spAutoFit/>
          </a:bodyPr>
          <a:lstStyle/>
          <a:p>
            <a:pPr algn="ctr"/>
            <a:r>
              <a:rPr lang="en-US" sz="1000" dirty="0"/>
              <a:t>Is the compound a peroxide (</a:t>
            </a:r>
            <a:r>
              <a:rPr lang="en-US" sz="1000" dirty="0" err="1"/>
              <a:t>n</a:t>
            </a:r>
            <a:r>
              <a:rPr lang="en-US" sz="1000" baseline="-25000" dirty="0" err="1"/>
              <a:t>peroxide</a:t>
            </a:r>
            <a:r>
              <a:rPr lang="en-US" sz="1000" dirty="0"/>
              <a:t>&gt;=1)?</a:t>
            </a:r>
          </a:p>
        </p:txBody>
      </p:sp>
      <p:cxnSp>
        <p:nvCxnSpPr>
          <p:cNvPr id="46" name="Straight Arrow Connector 45">
            <a:extLst>
              <a:ext uri="{FF2B5EF4-FFF2-40B4-BE49-F238E27FC236}">
                <a16:creationId xmlns:a16="http://schemas.microsoft.com/office/drawing/2014/main" id="{38689750-B2F9-4C4F-9321-DD22CAB7C907}"/>
              </a:ext>
            </a:extLst>
          </p:cNvPr>
          <p:cNvCxnSpPr>
            <a:cxnSpLocks/>
            <a:stCxn id="33" idx="2"/>
            <a:endCxn id="45" idx="0"/>
          </p:cNvCxnSpPr>
          <p:nvPr/>
        </p:nvCxnSpPr>
        <p:spPr>
          <a:xfrm>
            <a:off x="1674976" y="1700060"/>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8008F41C-65EF-4F2A-8068-C5349B83909F}"/>
              </a:ext>
            </a:extLst>
          </p:cNvPr>
          <p:cNvSpPr txBox="1"/>
          <p:nvPr/>
        </p:nvSpPr>
        <p:spPr>
          <a:xfrm>
            <a:off x="669136" y="3070934"/>
            <a:ext cx="2011680" cy="400110"/>
          </a:xfrm>
          <a:prstGeom prst="rect">
            <a:avLst/>
          </a:prstGeom>
          <a:noFill/>
          <a:ln>
            <a:solidFill>
              <a:schemeClr val="tx1"/>
            </a:solidFill>
          </a:ln>
        </p:spPr>
        <p:txBody>
          <a:bodyPr wrap="square" rtlCol="0">
            <a:spAutoFit/>
          </a:bodyPr>
          <a:lstStyle/>
          <a:p>
            <a:pPr algn="ctr"/>
            <a:r>
              <a:rPr lang="en-US" sz="1000" dirty="0"/>
              <a:t>Is the compound a ketone (</a:t>
            </a:r>
            <a:r>
              <a:rPr lang="en-US" sz="1000" dirty="0" err="1"/>
              <a:t>n</a:t>
            </a:r>
            <a:r>
              <a:rPr lang="en-US" sz="1000" baseline="-25000" dirty="0" err="1"/>
              <a:t>ketone</a:t>
            </a:r>
            <a:r>
              <a:rPr lang="en-US" sz="1000" dirty="0"/>
              <a:t>&gt;=1)?</a:t>
            </a:r>
          </a:p>
        </p:txBody>
      </p:sp>
      <p:sp>
        <p:nvSpPr>
          <p:cNvPr id="59" name="TextBox 58">
            <a:extLst>
              <a:ext uri="{FF2B5EF4-FFF2-40B4-BE49-F238E27FC236}">
                <a16:creationId xmlns:a16="http://schemas.microsoft.com/office/drawing/2014/main" id="{9886C8F5-94CD-42F6-845B-F1C5DA221488}"/>
              </a:ext>
            </a:extLst>
          </p:cNvPr>
          <p:cNvSpPr txBox="1"/>
          <p:nvPr/>
        </p:nvSpPr>
        <p:spPr>
          <a:xfrm>
            <a:off x="3553676" y="3069685"/>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all other ketones, </a:t>
            </a:r>
            <a:r>
              <a:rPr lang="en-US" sz="1000" dirty="0" err="1"/>
              <a:t>k</a:t>
            </a:r>
            <a:r>
              <a:rPr lang="en-US" sz="1000" baseline="-25000" dirty="0" err="1"/>
              <a:t>OH</a:t>
            </a:r>
            <a:r>
              <a:rPr lang="en-US" sz="1000" baseline="-25000" dirty="0"/>
              <a:t> </a:t>
            </a:r>
            <a:r>
              <a:rPr lang="en-US" sz="1000" dirty="0"/>
              <a:t>=2.9×10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(KET)</a:t>
            </a:r>
          </a:p>
        </p:txBody>
      </p:sp>
      <p:sp>
        <p:nvSpPr>
          <p:cNvPr id="60" name="TextBox 59">
            <a:extLst>
              <a:ext uri="{FF2B5EF4-FFF2-40B4-BE49-F238E27FC236}">
                <a16:creationId xmlns:a16="http://schemas.microsoft.com/office/drawing/2014/main" id="{72380C99-0EE3-444A-9033-DB939F4BDFFE}"/>
              </a:ext>
            </a:extLst>
          </p:cNvPr>
          <p:cNvSpPr txBox="1"/>
          <p:nvPr/>
        </p:nvSpPr>
        <p:spPr>
          <a:xfrm>
            <a:off x="669136" y="4251590"/>
            <a:ext cx="2011680" cy="400110"/>
          </a:xfrm>
          <a:prstGeom prst="rect">
            <a:avLst/>
          </a:prstGeom>
          <a:noFill/>
          <a:ln>
            <a:solidFill>
              <a:schemeClr val="tx1"/>
            </a:solidFill>
          </a:ln>
        </p:spPr>
        <p:txBody>
          <a:bodyPr wrap="square" rtlCol="0">
            <a:spAutoFit/>
          </a:bodyPr>
          <a:lstStyle/>
          <a:p>
            <a:pPr algn="ctr"/>
            <a:r>
              <a:rPr lang="en-US" sz="1000" dirty="0"/>
              <a:t>Is the compound an alcohol (</a:t>
            </a:r>
            <a:r>
              <a:rPr lang="en-US" sz="1000" dirty="0" err="1"/>
              <a:t>n</a:t>
            </a:r>
            <a:r>
              <a:rPr lang="en-US" sz="1000" baseline="-25000" dirty="0" err="1"/>
              <a:t>alcohol</a:t>
            </a:r>
            <a:r>
              <a:rPr lang="en-US" sz="1000" dirty="0"/>
              <a:t>&gt;=1)?</a:t>
            </a:r>
          </a:p>
        </p:txBody>
      </p:sp>
      <p:sp>
        <p:nvSpPr>
          <p:cNvPr id="61" name="TextBox 60">
            <a:extLst>
              <a:ext uri="{FF2B5EF4-FFF2-40B4-BE49-F238E27FC236}">
                <a16:creationId xmlns:a16="http://schemas.microsoft.com/office/drawing/2014/main" id="{30375182-304B-45B4-B7BD-6B5BBE782828}"/>
              </a:ext>
            </a:extLst>
          </p:cNvPr>
          <p:cNvSpPr txBox="1"/>
          <p:nvPr/>
        </p:nvSpPr>
        <p:spPr>
          <a:xfrm>
            <a:off x="3553676" y="4251175"/>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C3 and higher alcohols, </a:t>
            </a:r>
            <a:r>
              <a:rPr lang="en-US" sz="1000" dirty="0" err="1"/>
              <a:t>k</a:t>
            </a:r>
            <a:r>
              <a:rPr lang="en-US" sz="1000" baseline="-25000" dirty="0" err="1"/>
              <a:t>OH</a:t>
            </a:r>
            <a:r>
              <a:rPr lang="en-US" sz="1000" baseline="-25000" dirty="0"/>
              <a:t> </a:t>
            </a:r>
            <a:r>
              <a:rPr lang="en-US" sz="1000" dirty="0"/>
              <a:t>=1.3e-12 (ROH)</a:t>
            </a:r>
          </a:p>
        </p:txBody>
      </p:sp>
      <p:sp>
        <p:nvSpPr>
          <p:cNvPr id="63" name="TextBox 62">
            <a:extLst>
              <a:ext uri="{FF2B5EF4-FFF2-40B4-BE49-F238E27FC236}">
                <a16:creationId xmlns:a16="http://schemas.microsoft.com/office/drawing/2014/main" id="{4B824E08-15BA-49D5-AA5E-B7C5EA7C0520}"/>
              </a:ext>
            </a:extLst>
          </p:cNvPr>
          <p:cNvSpPr txBox="1"/>
          <p:nvPr/>
        </p:nvSpPr>
        <p:spPr>
          <a:xfrm>
            <a:off x="3553676" y="3660430"/>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p>
          <a:p>
            <a:r>
              <a:rPr lang="en-US" sz="1000" dirty="0"/>
              <a:t>organic nitrates, </a:t>
            </a:r>
            <a:r>
              <a:rPr lang="en-US" sz="1000" dirty="0" err="1"/>
              <a:t>k</a:t>
            </a:r>
            <a:r>
              <a:rPr lang="en-US" sz="1000" baseline="-25000" dirty="0" err="1"/>
              <a:t>OH</a:t>
            </a:r>
            <a:r>
              <a:rPr lang="en-US" sz="1000" baseline="-25000" dirty="0"/>
              <a:t> </a:t>
            </a:r>
            <a:r>
              <a:rPr lang="en-US" sz="1000" dirty="0"/>
              <a:t>=2.2×10</a:t>
            </a:r>
            <a:r>
              <a:rPr lang="en-US" sz="1000" baseline="30000" dirty="0"/>
              <a:t>-12</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(ONIT)</a:t>
            </a:r>
          </a:p>
        </p:txBody>
      </p:sp>
      <p:sp>
        <p:nvSpPr>
          <p:cNvPr id="65" name="TextBox 64">
            <a:extLst>
              <a:ext uri="{FF2B5EF4-FFF2-40B4-BE49-F238E27FC236}">
                <a16:creationId xmlns:a16="http://schemas.microsoft.com/office/drawing/2014/main" id="{DF7FC275-9DA4-48DC-9556-A53D5E4F9EA0}"/>
              </a:ext>
            </a:extLst>
          </p:cNvPr>
          <p:cNvSpPr txBox="1"/>
          <p:nvPr/>
        </p:nvSpPr>
        <p:spPr>
          <a:xfrm>
            <a:off x="669136" y="3661262"/>
            <a:ext cx="2011680" cy="400110"/>
          </a:xfrm>
          <a:prstGeom prst="rect">
            <a:avLst/>
          </a:prstGeom>
          <a:noFill/>
          <a:ln>
            <a:solidFill>
              <a:schemeClr val="tx1"/>
            </a:solidFill>
          </a:ln>
        </p:spPr>
        <p:txBody>
          <a:bodyPr wrap="square" rtlCol="0">
            <a:spAutoFit/>
          </a:bodyPr>
          <a:lstStyle/>
          <a:p>
            <a:pPr algn="ctr"/>
            <a:r>
              <a:rPr lang="en-US" sz="1000" dirty="0"/>
              <a:t>Is the compound a nitrate (</a:t>
            </a:r>
            <a:r>
              <a:rPr lang="en-US" sz="1000" dirty="0" err="1"/>
              <a:t>n</a:t>
            </a:r>
            <a:r>
              <a:rPr lang="en-US" sz="1000" baseline="-25000" dirty="0" err="1"/>
              <a:t>nitrate</a:t>
            </a:r>
            <a:r>
              <a:rPr lang="en-US" sz="1000" dirty="0"/>
              <a:t>&gt;=1)?</a:t>
            </a:r>
          </a:p>
        </p:txBody>
      </p:sp>
      <p:cxnSp>
        <p:nvCxnSpPr>
          <p:cNvPr id="75" name="Straight Arrow Connector 74">
            <a:extLst>
              <a:ext uri="{FF2B5EF4-FFF2-40B4-BE49-F238E27FC236}">
                <a16:creationId xmlns:a16="http://schemas.microsoft.com/office/drawing/2014/main" id="{F0B8DEA7-C22C-4328-859F-AA9738989C3B}"/>
              </a:ext>
            </a:extLst>
          </p:cNvPr>
          <p:cNvCxnSpPr>
            <a:cxnSpLocks/>
            <a:stCxn id="47" idx="3"/>
            <a:endCxn id="59" idx="1"/>
          </p:cNvCxnSpPr>
          <p:nvPr/>
        </p:nvCxnSpPr>
        <p:spPr>
          <a:xfrm flipV="1">
            <a:off x="2680816" y="3269740"/>
            <a:ext cx="872860" cy="12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ED26E8B-19CF-42D9-9DC3-D05AAB17DB2A}"/>
              </a:ext>
            </a:extLst>
          </p:cNvPr>
          <p:cNvCxnSpPr>
            <a:cxnSpLocks/>
            <a:stCxn id="47" idx="2"/>
            <a:endCxn id="65" idx="0"/>
          </p:cNvCxnSpPr>
          <p:nvPr/>
        </p:nvCxnSpPr>
        <p:spPr>
          <a:xfrm>
            <a:off x="1674976" y="3471044"/>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6224778-EDCD-473D-9040-90FEE106A3CE}"/>
              </a:ext>
            </a:extLst>
          </p:cNvPr>
          <p:cNvCxnSpPr>
            <a:cxnSpLocks/>
            <a:stCxn id="65" idx="2"/>
            <a:endCxn id="60" idx="0"/>
          </p:cNvCxnSpPr>
          <p:nvPr/>
        </p:nvCxnSpPr>
        <p:spPr>
          <a:xfrm>
            <a:off x="1674976" y="4061372"/>
            <a:ext cx="0" cy="19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01B8E7B-A07F-4DBD-B547-1B9B602D2A4F}"/>
              </a:ext>
            </a:extLst>
          </p:cNvPr>
          <p:cNvCxnSpPr>
            <a:cxnSpLocks/>
            <a:stCxn id="65" idx="3"/>
            <a:endCxn id="63" idx="1"/>
          </p:cNvCxnSpPr>
          <p:nvPr/>
        </p:nvCxnSpPr>
        <p:spPr>
          <a:xfrm flipV="1">
            <a:off x="2680816" y="3860485"/>
            <a:ext cx="872860" cy="8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0445F1E-3620-4524-80BF-DF7BF05E4657}"/>
              </a:ext>
            </a:extLst>
          </p:cNvPr>
          <p:cNvCxnSpPr>
            <a:cxnSpLocks/>
            <a:stCxn id="60" idx="3"/>
            <a:endCxn id="61" idx="1"/>
          </p:cNvCxnSpPr>
          <p:nvPr/>
        </p:nvCxnSpPr>
        <p:spPr>
          <a:xfrm flipV="1">
            <a:off x="2680816" y="4451230"/>
            <a:ext cx="872860" cy="4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CCDEC01-3EBB-47E1-9463-2A45216B4D79}"/>
              </a:ext>
            </a:extLst>
          </p:cNvPr>
          <p:cNvSpPr txBox="1"/>
          <p:nvPr/>
        </p:nvSpPr>
        <p:spPr>
          <a:xfrm>
            <a:off x="669136" y="4841920"/>
            <a:ext cx="2011680" cy="400110"/>
          </a:xfrm>
          <a:prstGeom prst="rect">
            <a:avLst/>
          </a:prstGeom>
          <a:noFill/>
          <a:ln>
            <a:solidFill>
              <a:schemeClr val="tx1"/>
            </a:solidFill>
          </a:ln>
        </p:spPr>
        <p:txBody>
          <a:bodyPr wrap="square" rtlCol="0">
            <a:spAutoFit/>
          </a:bodyPr>
          <a:lstStyle/>
          <a:p>
            <a:pPr algn="ctr"/>
            <a:r>
              <a:rPr lang="en-US" sz="1000" dirty="0"/>
              <a:t>Is the compound an acid </a:t>
            </a:r>
          </a:p>
          <a:p>
            <a:pPr algn="ctr"/>
            <a:r>
              <a:rPr lang="en-US" sz="1000" dirty="0"/>
              <a:t>(</a:t>
            </a:r>
            <a:r>
              <a:rPr lang="en-US" sz="1000" dirty="0" err="1"/>
              <a:t>n</a:t>
            </a:r>
            <a:r>
              <a:rPr lang="en-US" sz="1000" baseline="-25000" dirty="0" err="1"/>
              <a:t>acid</a:t>
            </a:r>
            <a:r>
              <a:rPr lang="en-US" sz="1000" dirty="0"/>
              <a:t>&gt;=1 )?</a:t>
            </a:r>
          </a:p>
        </p:txBody>
      </p:sp>
      <p:sp>
        <p:nvSpPr>
          <p:cNvPr id="81" name="TextBox 80">
            <a:extLst>
              <a:ext uri="{FF2B5EF4-FFF2-40B4-BE49-F238E27FC236}">
                <a16:creationId xmlns:a16="http://schemas.microsoft.com/office/drawing/2014/main" id="{427CE38B-A9FB-4F18-9601-4EC4F559B66A}"/>
              </a:ext>
            </a:extLst>
          </p:cNvPr>
          <p:cNvSpPr txBox="1"/>
          <p:nvPr/>
        </p:nvSpPr>
        <p:spPr>
          <a:xfrm>
            <a:off x="3553676" y="4841920"/>
            <a:ext cx="3549588" cy="400110"/>
          </a:xfrm>
          <a:prstGeom prst="rect">
            <a:avLst/>
          </a:prstGeom>
          <a:noFill/>
          <a:ln>
            <a:solidFill>
              <a:schemeClr val="tx1"/>
            </a:solidFill>
            <a:prstDash val="dashDot"/>
          </a:ln>
        </p:spPr>
        <p:txBody>
          <a:bodyPr wrap="square" numCol="1" rtlCol="0">
            <a:spAutoFit/>
          </a:bodyPr>
          <a:lstStyle/>
          <a:p>
            <a:r>
              <a:rPr lang="en-US" sz="1000" u="sng" dirty="0"/>
              <a:t>Lumped Species</a:t>
            </a:r>
            <a:r>
              <a:rPr lang="en-US" sz="1000" dirty="0"/>
              <a:t>                 </a:t>
            </a:r>
          </a:p>
          <a:p>
            <a:r>
              <a:rPr lang="en-US" sz="1000" dirty="0"/>
              <a:t>acetic and higher acids, </a:t>
            </a:r>
            <a:r>
              <a:rPr lang="en-US" sz="1000" dirty="0" err="1"/>
              <a:t>k</a:t>
            </a:r>
            <a:r>
              <a:rPr lang="en-US" sz="1000" baseline="-25000" dirty="0" err="1"/>
              <a:t>OH</a:t>
            </a:r>
            <a:r>
              <a:rPr lang="en-US" sz="1000" baseline="-25000" dirty="0"/>
              <a:t> </a:t>
            </a:r>
            <a:r>
              <a:rPr lang="en-US" sz="1000" dirty="0"/>
              <a:t>=6.5×10</a:t>
            </a:r>
            <a:r>
              <a:rPr lang="en-US" sz="1000" baseline="30000" dirty="0"/>
              <a:t>-13</a:t>
            </a:r>
            <a:r>
              <a:rPr lang="en-US" sz="1000" dirty="0"/>
              <a:t> cm</a:t>
            </a:r>
            <a:r>
              <a:rPr lang="en-US" sz="1000" baseline="30000" dirty="0"/>
              <a:t>3</a:t>
            </a:r>
            <a:r>
              <a:rPr lang="en-US" sz="1000" dirty="0"/>
              <a:t> molec</a:t>
            </a:r>
            <a:r>
              <a:rPr lang="en-US" sz="1000" baseline="30000" dirty="0"/>
              <a:t>-1</a:t>
            </a:r>
            <a:r>
              <a:rPr lang="en-US" sz="1000" dirty="0"/>
              <a:t> s</a:t>
            </a:r>
            <a:r>
              <a:rPr lang="en-US" sz="1000" baseline="30000" dirty="0"/>
              <a:t>-1</a:t>
            </a:r>
            <a:r>
              <a:rPr lang="en-US" sz="1000" dirty="0"/>
              <a:t> (ORA2)</a:t>
            </a:r>
          </a:p>
        </p:txBody>
      </p:sp>
      <p:cxnSp>
        <p:nvCxnSpPr>
          <p:cNvPr id="82" name="Straight Arrow Connector 81">
            <a:extLst>
              <a:ext uri="{FF2B5EF4-FFF2-40B4-BE49-F238E27FC236}">
                <a16:creationId xmlns:a16="http://schemas.microsoft.com/office/drawing/2014/main" id="{1DAF32CD-172B-463F-AA12-7F0D8A512E80}"/>
              </a:ext>
            </a:extLst>
          </p:cNvPr>
          <p:cNvCxnSpPr>
            <a:cxnSpLocks/>
            <a:stCxn id="80" idx="3"/>
            <a:endCxn id="81" idx="1"/>
          </p:cNvCxnSpPr>
          <p:nvPr/>
        </p:nvCxnSpPr>
        <p:spPr>
          <a:xfrm>
            <a:off x="2680816" y="5041975"/>
            <a:ext cx="8728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37A6131-2B1D-45FE-898B-ECC0D6A4A292}"/>
              </a:ext>
            </a:extLst>
          </p:cNvPr>
          <p:cNvCxnSpPr>
            <a:cxnSpLocks/>
            <a:stCxn id="60" idx="2"/>
            <a:endCxn id="80" idx="0"/>
          </p:cNvCxnSpPr>
          <p:nvPr/>
        </p:nvCxnSpPr>
        <p:spPr>
          <a:xfrm>
            <a:off x="1674976" y="4651700"/>
            <a:ext cx="0" cy="190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62E65319-D694-4D71-BF2B-D6D72ED860BF}"/>
              </a:ext>
            </a:extLst>
          </p:cNvPr>
          <p:cNvSpPr txBox="1"/>
          <p:nvPr/>
        </p:nvSpPr>
        <p:spPr>
          <a:xfrm>
            <a:off x="1227260" y="1087409"/>
            <a:ext cx="372047" cy="246221"/>
          </a:xfrm>
          <a:prstGeom prst="rect">
            <a:avLst/>
          </a:prstGeom>
          <a:noFill/>
        </p:spPr>
        <p:txBody>
          <a:bodyPr wrap="square" rtlCol="0">
            <a:spAutoFit/>
          </a:bodyPr>
          <a:lstStyle/>
          <a:p>
            <a:pPr algn="r"/>
            <a:r>
              <a:rPr lang="en-US" sz="1000" dirty="0"/>
              <a:t>no</a:t>
            </a:r>
          </a:p>
        </p:txBody>
      </p:sp>
      <p:sp>
        <p:nvSpPr>
          <p:cNvPr id="85" name="TextBox 84">
            <a:extLst>
              <a:ext uri="{FF2B5EF4-FFF2-40B4-BE49-F238E27FC236}">
                <a16:creationId xmlns:a16="http://schemas.microsoft.com/office/drawing/2014/main" id="{2A79D6E0-30DD-4497-820D-CB3CEDD24DA1}"/>
              </a:ext>
            </a:extLst>
          </p:cNvPr>
          <p:cNvSpPr txBox="1"/>
          <p:nvPr/>
        </p:nvSpPr>
        <p:spPr>
          <a:xfrm>
            <a:off x="1227260" y="1684656"/>
            <a:ext cx="372047" cy="246221"/>
          </a:xfrm>
          <a:prstGeom prst="rect">
            <a:avLst/>
          </a:prstGeom>
          <a:noFill/>
        </p:spPr>
        <p:txBody>
          <a:bodyPr wrap="square" rtlCol="0">
            <a:spAutoFit/>
          </a:bodyPr>
          <a:lstStyle/>
          <a:p>
            <a:pPr algn="r"/>
            <a:r>
              <a:rPr lang="en-US" sz="1000" dirty="0"/>
              <a:t>no</a:t>
            </a:r>
          </a:p>
        </p:txBody>
      </p:sp>
      <p:sp>
        <p:nvSpPr>
          <p:cNvPr id="86" name="TextBox 85">
            <a:extLst>
              <a:ext uri="{FF2B5EF4-FFF2-40B4-BE49-F238E27FC236}">
                <a16:creationId xmlns:a16="http://schemas.microsoft.com/office/drawing/2014/main" id="{36C079C8-2EE1-45E9-94AE-4DB6E060D988}"/>
              </a:ext>
            </a:extLst>
          </p:cNvPr>
          <p:cNvSpPr txBox="1"/>
          <p:nvPr/>
        </p:nvSpPr>
        <p:spPr>
          <a:xfrm>
            <a:off x="1227260" y="2259226"/>
            <a:ext cx="372047" cy="246221"/>
          </a:xfrm>
          <a:prstGeom prst="rect">
            <a:avLst/>
          </a:prstGeom>
          <a:noFill/>
        </p:spPr>
        <p:txBody>
          <a:bodyPr wrap="square" rtlCol="0">
            <a:spAutoFit/>
          </a:bodyPr>
          <a:lstStyle/>
          <a:p>
            <a:pPr algn="r"/>
            <a:r>
              <a:rPr lang="en-US" sz="1000" dirty="0"/>
              <a:t>no</a:t>
            </a:r>
          </a:p>
        </p:txBody>
      </p:sp>
      <p:sp>
        <p:nvSpPr>
          <p:cNvPr id="87" name="TextBox 86">
            <a:extLst>
              <a:ext uri="{FF2B5EF4-FFF2-40B4-BE49-F238E27FC236}">
                <a16:creationId xmlns:a16="http://schemas.microsoft.com/office/drawing/2014/main" id="{2FA63769-40AD-4253-BF99-DFD50398AF47}"/>
              </a:ext>
            </a:extLst>
          </p:cNvPr>
          <p:cNvSpPr txBox="1"/>
          <p:nvPr/>
        </p:nvSpPr>
        <p:spPr>
          <a:xfrm>
            <a:off x="1227260" y="2873391"/>
            <a:ext cx="372047" cy="246221"/>
          </a:xfrm>
          <a:prstGeom prst="rect">
            <a:avLst/>
          </a:prstGeom>
          <a:noFill/>
        </p:spPr>
        <p:txBody>
          <a:bodyPr wrap="square" rtlCol="0">
            <a:spAutoFit/>
          </a:bodyPr>
          <a:lstStyle/>
          <a:p>
            <a:pPr algn="r"/>
            <a:r>
              <a:rPr lang="en-US" sz="1000" dirty="0"/>
              <a:t>no</a:t>
            </a:r>
          </a:p>
        </p:txBody>
      </p:sp>
      <p:sp>
        <p:nvSpPr>
          <p:cNvPr id="88" name="TextBox 87">
            <a:extLst>
              <a:ext uri="{FF2B5EF4-FFF2-40B4-BE49-F238E27FC236}">
                <a16:creationId xmlns:a16="http://schemas.microsoft.com/office/drawing/2014/main" id="{CFCC21F4-653C-4B92-A652-FFB76A522060}"/>
              </a:ext>
            </a:extLst>
          </p:cNvPr>
          <p:cNvSpPr txBox="1"/>
          <p:nvPr/>
        </p:nvSpPr>
        <p:spPr>
          <a:xfrm>
            <a:off x="1227260" y="3442574"/>
            <a:ext cx="372047" cy="246221"/>
          </a:xfrm>
          <a:prstGeom prst="rect">
            <a:avLst/>
          </a:prstGeom>
          <a:noFill/>
        </p:spPr>
        <p:txBody>
          <a:bodyPr wrap="square" rtlCol="0">
            <a:spAutoFit/>
          </a:bodyPr>
          <a:lstStyle/>
          <a:p>
            <a:pPr algn="r"/>
            <a:r>
              <a:rPr lang="en-US" sz="1000" dirty="0"/>
              <a:t>no</a:t>
            </a:r>
          </a:p>
        </p:txBody>
      </p:sp>
      <p:sp>
        <p:nvSpPr>
          <p:cNvPr id="89" name="TextBox 88">
            <a:extLst>
              <a:ext uri="{FF2B5EF4-FFF2-40B4-BE49-F238E27FC236}">
                <a16:creationId xmlns:a16="http://schemas.microsoft.com/office/drawing/2014/main" id="{40CC098D-6892-47EA-87AB-51B30D9A2846}"/>
              </a:ext>
            </a:extLst>
          </p:cNvPr>
          <p:cNvSpPr txBox="1"/>
          <p:nvPr/>
        </p:nvSpPr>
        <p:spPr>
          <a:xfrm>
            <a:off x="1227260" y="4047359"/>
            <a:ext cx="372047" cy="246221"/>
          </a:xfrm>
          <a:prstGeom prst="rect">
            <a:avLst/>
          </a:prstGeom>
          <a:noFill/>
        </p:spPr>
        <p:txBody>
          <a:bodyPr wrap="square" rtlCol="0">
            <a:spAutoFit/>
          </a:bodyPr>
          <a:lstStyle/>
          <a:p>
            <a:pPr algn="r"/>
            <a:r>
              <a:rPr lang="en-US" sz="1000" dirty="0"/>
              <a:t>no</a:t>
            </a:r>
          </a:p>
        </p:txBody>
      </p:sp>
      <p:sp>
        <p:nvSpPr>
          <p:cNvPr id="90" name="TextBox 89">
            <a:extLst>
              <a:ext uri="{FF2B5EF4-FFF2-40B4-BE49-F238E27FC236}">
                <a16:creationId xmlns:a16="http://schemas.microsoft.com/office/drawing/2014/main" id="{59196FF3-2AD9-4808-A941-99953185E84A}"/>
              </a:ext>
            </a:extLst>
          </p:cNvPr>
          <p:cNvSpPr txBox="1"/>
          <p:nvPr/>
        </p:nvSpPr>
        <p:spPr>
          <a:xfrm>
            <a:off x="1227260" y="4639707"/>
            <a:ext cx="372047" cy="246221"/>
          </a:xfrm>
          <a:prstGeom prst="rect">
            <a:avLst/>
          </a:prstGeom>
          <a:noFill/>
        </p:spPr>
        <p:txBody>
          <a:bodyPr wrap="square" rtlCol="0">
            <a:spAutoFit/>
          </a:bodyPr>
          <a:lstStyle/>
          <a:p>
            <a:pPr algn="r"/>
            <a:r>
              <a:rPr lang="en-US" sz="1000" dirty="0"/>
              <a:t>no</a:t>
            </a:r>
          </a:p>
        </p:txBody>
      </p:sp>
      <p:sp>
        <p:nvSpPr>
          <p:cNvPr id="91" name="TextBox 90">
            <a:extLst>
              <a:ext uri="{FF2B5EF4-FFF2-40B4-BE49-F238E27FC236}">
                <a16:creationId xmlns:a16="http://schemas.microsoft.com/office/drawing/2014/main" id="{A657E524-1E4A-41AD-A544-A7F4DFAC177F}"/>
              </a:ext>
            </a:extLst>
          </p:cNvPr>
          <p:cNvSpPr txBox="1"/>
          <p:nvPr/>
        </p:nvSpPr>
        <p:spPr>
          <a:xfrm>
            <a:off x="2840399" y="655055"/>
            <a:ext cx="441358" cy="246221"/>
          </a:xfrm>
          <a:prstGeom prst="rect">
            <a:avLst/>
          </a:prstGeom>
          <a:noFill/>
        </p:spPr>
        <p:txBody>
          <a:bodyPr wrap="square" rtlCol="0">
            <a:spAutoFit/>
          </a:bodyPr>
          <a:lstStyle/>
          <a:p>
            <a:pPr algn="ctr"/>
            <a:r>
              <a:rPr lang="en-US" sz="1000" dirty="0"/>
              <a:t>yes</a:t>
            </a:r>
          </a:p>
        </p:txBody>
      </p:sp>
      <p:sp>
        <p:nvSpPr>
          <p:cNvPr id="92" name="TextBox 91">
            <a:extLst>
              <a:ext uri="{FF2B5EF4-FFF2-40B4-BE49-F238E27FC236}">
                <a16:creationId xmlns:a16="http://schemas.microsoft.com/office/drawing/2014/main" id="{500B4F1B-E19A-46B9-A3F9-075F321A3994}"/>
              </a:ext>
            </a:extLst>
          </p:cNvPr>
          <p:cNvSpPr txBox="1"/>
          <p:nvPr/>
        </p:nvSpPr>
        <p:spPr>
          <a:xfrm>
            <a:off x="2840399" y="1250182"/>
            <a:ext cx="441358" cy="246221"/>
          </a:xfrm>
          <a:prstGeom prst="rect">
            <a:avLst/>
          </a:prstGeom>
          <a:noFill/>
        </p:spPr>
        <p:txBody>
          <a:bodyPr wrap="square" rtlCol="0">
            <a:spAutoFit/>
          </a:bodyPr>
          <a:lstStyle/>
          <a:p>
            <a:pPr algn="ctr"/>
            <a:r>
              <a:rPr lang="en-US" sz="1000" dirty="0"/>
              <a:t>yes</a:t>
            </a:r>
          </a:p>
        </p:txBody>
      </p:sp>
      <p:sp>
        <p:nvSpPr>
          <p:cNvPr id="93" name="TextBox 92">
            <a:extLst>
              <a:ext uri="{FF2B5EF4-FFF2-40B4-BE49-F238E27FC236}">
                <a16:creationId xmlns:a16="http://schemas.microsoft.com/office/drawing/2014/main" id="{8430F6D4-CE6F-493E-B35D-F0DA54D82F95}"/>
              </a:ext>
            </a:extLst>
          </p:cNvPr>
          <p:cNvSpPr txBox="1"/>
          <p:nvPr/>
        </p:nvSpPr>
        <p:spPr>
          <a:xfrm>
            <a:off x="2840399" y="1845309"/>
            <a:ext cx="441358" cy="246221"/>
          </a:xfrm>
          <a:prstGeom prst="rect">
            <a:avLst/>
          </a:prstGeom>
          <a:noFill/>
        </p:spPr>
        <p:txBody>
          <a:bodyPr wrap="square" rtlCol="0">
            <a:spAutoFit/>
          </a:bodyPr>
          <a:lstStyle/>
          <a:p>
            <a:pPr algn="ctr"/>
            <a:r>
              <a:rPr lang="en-US" sz="1000" dirty="0"/>
              <a:t>yes</a:t>
            </a:r>
          </a:p>
        </p:txBody>
      </p:sp>
      <p:sp>
        <p:nvSpPr>
          <p:cNvPr id="94" name="TextBox 93">
            <a:extLst>
              <a:ext uri="{FF2B5EF4-FFF2-40B4-BE49-F238E27FC236}">
                <a16:creationId xmlns:a16="http://schemas.microsoft.com/office/drawing/2014/main" id="{D71A200A-AA8D-4342-8004-CEC13231F98E}"/>
              </a:ext>
            </a:extLst>
          </p:cNvPr>
          <p:cNvSpPr txBox="1"/>
          <p:nvPr/>
        </p:nvSpPr>
        <p:spPr>
          <a:xfrm>
            <a:off x="2840399" y="2440436"/>
            <a:ext cx="441358" cy="246221"/>
          </a:xfrm>
          <a:prstGeom prst="rect">
            <a:avLst/>
          </a:prstGeom>
          <a:noFill/>
        </p:spPr>
        <p:txBody>
          <a:bodyPr wrap="square" rtlCol="0">
            <a:spAutoFit/>
          </a:bodyPr>
          <a:lstStyle/>
          <a:p>
            <a:pPr algn="ctr"/>
            <a:r>
              <a:rPr lang="en-US" sz="1000" dirty="0"/>
              <a:t>yes</a:t>
            </a:r>
          </a:p>
        </p:txBody>
      </p:sp>
      <p:sp>
        <p:nvSpPr>
          <p:cNvPr id="95" name="TextBox 94">
            <a:extLst>
              <a:ext uri="{FF2B5EF4-FFF2-40B4-BE49-F238E27FC236}">
                <a16:creationId xmlns:a16="http://schemas.microsoft.com/office/drawing/2014/main" id="{73CC6C68-E47A-42AE-82A1-BF33C77100E5}"/>
              </a:ext>
            </a:extLst>
          </p:cNvPr>
          <p:cNvSpPr txBox="1"/>
          <p:nvPr/>
        </p:nvSpPr>
        <p:spPr>
          <a:xfrm>
            <a:off x="2840399" y="3035563"/>
            <a:ext cx="441358" cy="246221"/>
          </a:xfrm>
          <a:prstGeom prst="rect">
            <a:avLst/>
          </a:prstGeom>
          <a:noFill/>
        </p:spPr>
        <p:txBody>
          <a:bodyPr wrap="square" rtlCol="0">
            <a:spAutoFit/>
          </a:bodyPr>
          <a:lstStyle/>
          <a:p>
            <a:pPr algn="ctr"/>
            <a:r>
              <a:rPr lang="en-US" sz="1000" dirty="0"/>
              <a:t>yes</a:t>
            </a:r>
          </a:p>
        </p:txBody>
      </p:sp>
      <p:sp>
        <p:nvSpPr>
          <p:cNvPr id="96" name="TextBox 95">
            <a:extLst>
              <a:ext uri="{FF2B5EF4-FFF2-40B4-BE49-F238E27FC236}">
                <a16:creationId xmlns:a16="http://schemas.microsoft.com/office/drawing/2014/main" id="{5633971C-F815-4391-A331-D3B69D53BEE9}"/>
              </a:ext>
            </a:extLst>
          </p:cNvPr>
          <p:cNvSpPr txBox="1"/>
          <p:nvPr/>
        </p:nvSpPr>
        <p:spPr>
          <a:xfrm>
            <a:off x="2840399" y="3630690"/>
            <a:ext cx="441358" cy="246221"/>
          </a:xfrm>
          <a:prstGeom prst="rect">
            <a:avLst/>
          </a:prstGeom>
          <a:noFill/>
        </p:spPr>
        <p:txBody>
          <a:bodyPr wrap="square" rtlCol="0">
            <a:spAutoFit/>
          </a:bodyPr>
          <a:lstStyle/>
          <a:p>
            <a:pPr algn="ctr"/>
            <a:r>
              <a:rPr lang="en-US" sz="1000" dirty="0"/>
              <a:t>yes</a:t>
            </a:r>
          </a:p>
        </p:txBody>
      </p:sp>
      <p:sp>
        <p:nvSpPr>
          <p:cNvPr id="97" name="TextBox 96">
            <a:extLst>
              <a:ext uri="{FF2B5EF4-FFF2-40B4-BE49-F238E27FC236}">
                <a16:creationId xmlns:a16="http://schemas.microsoft.com/office/drawing/2014/main" id="{621A831A-4DB0-455A-A18E-76A0C44CDC12}"/>
              </a:ext>
            </a:extLst>
          </p:cNvPr>
          <p:cNvSpPr txBox="1"/>
          <p:nvPr/>
        </p:nvSpPr>
        <p:spPr>
          <a:xfrm>
            <a:off x="2840399" y="4225817"/>
            <a:ext cx="441358" cy="246221"/>
          </a:xfrm>
          <a:prstGeom prst="rect">
            <a:avLst/>
          </a:prstGeom>
          <a:noFill/>
        </p:spPr>
        <p:txBody>
          <a:bodyPr wrap="square" rtlCol="0">
            <a:spAutoFit/>
          </a:bodyPr>
          <a:lstStyle/>
          <a:p>
            <a:pPr algn="ctr"/>
            <a:r>
              <a:rPr lang="en-US" sz="1000" dirty="0"/>
              <a:t>yes</a:t>
            </a:r>
          </a:p>
        </p:txBody>
      </p:sp>
      <p:sp>
        <p:nvSpPr>
          <p:cNvPr id="98" name="TextBox 97">
            <a:extLst>
              <a:ext uri="{FF2B5EF4-FFF2-40B4-BE49-F238E27FC236}">
                <a16:creationId xmlns:a16="http://schemas.microsoft.com/office/drawing/2014/main" id="{4FE9B109-C6F2-4192-992B-FEDB335606B2}"/>
              </a:ext>
            </a:extLst>
          </p:cNvPr>
          <p:cNvSpPr txBox="1"/>
          <p:nvPr/>
        </p:nvSpPr>
        <p:spPr>
          <a:xfrm>
            <a:off x="2840399" y="4820948"/>
            <a:ext cx="441358" cy="246221"/>
          </a:xfrm>
          <a:prstGeom prst="rect">
            <a:avLst/>
          </a:prstGeom>
          <a:noFill/>
        </p:spPr>
        <p:txBody>
          <a:bodyPr wrap="square" rtlCol="0">
            <a:spAutoFit/>
          </a:bodyPr>
          <a:lstStyle/>
          <a:p>
            <a:pPr algn="ctr"/>
            <a:r>
              <a:rPr lang="en-US" sz="1000" dirty="0"/>
              <a:t>yes</a:t>
            </a:r>
          </a:p>
        </p:txBody>
      </p:sp>
      <p:sp>
        <p:nvSpPr>
          <p:cNvPr id="99" name="TextBox 98">
            <a:extLst>
              <a:ext uri="{FF2B5EF4-FFF2-40B4-BE49-F238E27FC236}">
                <a16:creationId xmlns:a16="http://schemas.microsoft.com/office/drawing/2014/main" id="{E2DCD6F2-29D7-4B22-BB86-C3515C112B5E}"/>
              </a:ext>
            </a:extLst>
          </p:cNvPr>
          <p:cNvSpPr txBox="1"/>
          <p:nvPr/>
        </p:nvSpPr>
        <p:spPr>
          <a:xfrm>
            <a:off x="1227260" y="5276346"/>
            <a:ext cx="372047" cy="246221"/>
          </a:xfrm>
          <a:prstGeom prst="rect">
            <a:avLst/>
          </a:prstGeom>
          <a:noFill/>
        </p:spPr>
        <p:txBody>
          <a:bodyPr wrap="square" rtlCol="0">
            <a:spAutoFit/>
          </a:bodyPr>
          <a:lstStyle/>
          <a:p>
            <a:pPr algn="r"/>
            <a:r>
              <a:rPr lang="en-US" sz="1000" dirty="0"/>
              <a:t>no</a:t>
            </a:r>
          </a:p>
        </p:txBody>
      </p:sp>
      <p:cxnSp>
        <p:nvCxnSpPr>
          <p:cNvPr id="74" name="Straight Arrow Connector 73">
            <a:extLst>
              <a:ext uri="{FF2B5EF4-FFF2-40B4-BE49-F238E27FC236}">
                <a16:creationId xmlns:a16="http://schemas.microsoft.com/office/drawing/2014/main" id="{461CF3F1-A5DE-4B73-813C-88B7D0B07212}"/>
              </a:ext>
            </a:extLst>
          </p:cNvPr>
          <p:cNvCxnSpPr>
            <a:cxnSpLocks/>
            <a:endCxn id="30" idx="0"/>
          </p:cNvCxnSpPr>
          <p:nvPr/>
        </p:nvCxnSpPr>
        <p:spPr>
          <a:xfrm>
            <a:off x="1674976" y="511399"/>
            <a:ext cx="0" cy="1982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F823FEF1-26DC-49B6-BD60-A4A99DFE50E8}"/>
              </a:ext>
            </a:extLst>
          </p:cNvPr>
          <p:cNvSpPr>
            <a:spLocks noGrp="1"/>
          </p:cNvSpPr>
          <p:nvPr>
            <p:ph type="sldNum" sz="quarter" idx="12"/>
          </p:nvPr>
        </p:nvSpPr>
        <p:spPr/>
        <p:txBody>
          <a:bodyPr/>
          <a:lstStyle/>
          <a:p>
            <a:fld id="{F63DDF90-292E-431C-AB59-D6C96D26AA84}" type="slidenum">
              <a:rPr lang="en-US" smtClean="0"/>
              <a:t>5</a:t>
            </a:fld>
            <a:endParaRPr lang="en-US" dirty="0"/>
          </a:p>
        </p:txBody>
      </p:sp>
      <p:sp>
        <p:nvSpPr>
          <p:cNvPr id="3" name="TextBox 2">
            <a:extLst>
              <a:ext uri="{FF2B5EF4-FFF2-40B4-BE49-F238E27FC236}">
                <a16:creationId xmlns:a16="http://schemas.microsoft.com/office/drawing/2014/main" id="{7EA8AB3E-022E-FC7C-6BC9-CAC4EC469F4D}"/>
              </a:ext>
            </a:extLst>
          </p:cNvPr>
          <p:cNvSpPr txBox="1"/>
          <p:nvPr/>
        </p:nvSpPr>
        <p:spPr>
          <a:xfrm>
            <a:off x="2360771" y="294157"/>
            <a:ext cx="3050858" cy="369332"/>
          </a:xfrm>
          <a:prstGeom prst="rect">
            <a:avLst/>
          </a:prstGeom>
          <a:noFill/>
        </p:spPr>
        <p:txBody>
          <a:bodyPr wrap="square" rtlCol="0">
            <a:spAutoFit/>
          </a:bodyPr>
          <a:lstStyle/>
          <a:p>
            <a:pPr algn="ctr"/>
            <a:r>
              <a:rPr lang="en-US" dirty="0"/>
              <a:t>Schematic D</a:t>
            </a:r>
          </a:p>
        </p:txBody>
      </p:sp>
      <p:sp>
        <p:nvSpPr>
          <p:cNvPr id="4" name="TextBox 3">
            <a:extLst>
              <a:ext uri="{FF2B5EF4-FFF2-40B4-BE49-F238E27FC236}">
                <a16:creationId xmlns:a16="http://schemas.microsoft.com/office/drawing/2014/main" id="{A2AFAF96-D961-1AE7-CEDC-E6471DD7BBEF}"/>
              </a:ext>
            </a:extLst>
          </p:cNvPr>
          <p:cNvSpPr txBox="1"/>
          <p:nvPr/>
        </p:nvSpPr>
        <p:spPr>
          <a:xfrm>
            <a:off x="1209312" y="57345"/>
            <a:ext cx="5379227" cy="369332"/>
          </a:xfrm>
          <a:prstGeom prst="rect">
            <a:avLst/>
          </a:prstGeom>
          <a:noFill/>
        </p:spPr>
        <p:txBody>
          <a:bodyPr wrap="square" rtlCol="0">
            <a:spAutoFit/>
          </a:bodyPr>
          <a:lstStyle/>
          <a:p>
            <a:pPr algn="ctr"/>
            <a:r>
              <a:rPr lang="en-US" dirty="0"/>
              <a:t>CRACMMv3.0 Emissions Mapping, Updated 6/8/2026</a:t>
            </a:r>
          </a:p>
        </p:txBody>
      </p:sp>
    </p:spTree>
    <p:extLst>
      <p:ext uri="{BB962C8B-B14F-4D97-AF65-F5344CB8AC3E}">
        <p14:creationId xmlns:p14="http://schemas.microsoft.com/office/powerpoint/2010/main" val="39296391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2194</TotalTime>
  <Words>1977</Words>
  <Application>Microsoft Office PowerPoint</Application>
  <PresentationFormat>Custom</PresentationFormat>
  <Paragraphs>310</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Pye, Havala</dc:creator>
  <cp:lastModifiedBy>Pye, Havala</cp:lastModifiedBy>
  <cp:revision>78</cp:revision>
  <dcterms:created xsi:type="dcterms:W3CDTF">2021-06-01T15:32:03Z</dcterms:created>
  <dcterms:modified xsi:type="dcterms:W3CDTF">2026-06-08T19:22:46Z</dcterms:modified>
</cp:coreProperties>
</file>